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65" r:id="rId2"/>
    <p:sldId id="262" r:id="rId3"/>
    <p:sldId id="263" r:id="rId4"/>
    <p:sldId id="264" r:id="rId5"/>
    <p:sldId id="260" r:id="rId6"/>
    <p:sldId id="261" r:id="rId7"/>
  </p:sldIdLst>
  <p:sldSz cx="12192000" cy="6858000"/>
  <p:notesSz cx="6858000" cy="9144000"/>
  <p:embeddedFontLst>
    <p:embeddedFont>
      <p:font typeface="Ubuntu Bold" panose="020B0604020202020204" charset="0"/>
      <p:regular r:id="rId9"/>
      <p:bold r:id="rId10"/>
    </p:embeddedFont>
    <p:embeddedFont>
      <p:font typeface="Canva Sans" panose="020B0604020202020204" charset="0"/>
      <p:regular r:id="rId11"/>
    </p:embeddedFont>
    <p:embeddedFont>
      <p:font typeface="Canva Sans Bold Italics" panose="020B0604020202020204" charset="0"/>
      <p:regular r:id="rId12"/>
    </p:embeddedFont>
    <p:embeddedFont>
      <p:font typeface="Ruda Heavy" panose="020B0604020202020204" charset="0"/>
      <p:regular r:id="rId13"/>
    </p:embeddedFont>
    <p:embeddedFont>
      <p:font typeface="Calibri" panose="020F0502020204030204" pitchFamily="34" charset="0"/>
      <p:regular r:id="rId14"/>
      <p:bold r:id="rId15"/>
      <p:italic r:id="rId16"/>
      <p:boldItalic r:id="rId17"/>
    </p:embeddedFont>
    <p:embeddedFont>
      <p:font typeface="Ruda Bold" panose="020B0604020202020204" charset="0"/>
      <p:regular r:id="rId18"/>
    </p:embeddedFont>
    <p:embeddedFont>
      <p:font typeface="Garamond Bold" panose="02020804030307010803" pitchFamily="18" charset="0"/>
      <p:bold r:id="rId19"/>
    </p:embeddedFont>
    <p:embeddedFont>
      <p:font typeface="Ruda" panose="020B0604020202020204" charset="0"/>
      <p:regular r:id="rId20"/>
    </p:embeddedFont>
    <p:embeddedFont>
      <p:font typeface="Francois One" panose="020B0604020202020204" charset="0"/>
      <p:regular r:id="rId21"/>
    </p:embeddedFont>
    <p:embeddedFont>
      <p:font typeface="Canva Sans Bold" panose="020B0604020202020204" charset="0"/>
      <p:regular r:id="rId22"/>
    </p:embeddedFont>
    <p:embeddedFont>
      <p:font typeface="Arial Bold" panose="020B0704020202020204" pitchFamily="34" charset="0"/>
      <p:bold r:id="rId23"/>
    </p:embeddedFont>
    <p:embeddedFont>
      <p:font typeface="Times New Roman Bold" panose="02020803070505020304" pitchFamily="18" charset="0"/>
      <p:bold r:id="rId24"/>
    </p:embeddedFont>
    <p:embeddedFont>
      <p:font typeface="Segoe UI" panose="020B0502040204020203" pitchFamily="34" charset="0"/>
      <p:regular r:id="rId25"/>
      <p:bold r:id="rId26"/>
      <p:italic r:id="rId27"/>
      <p:boldItalic r:id="rId28"/>
    </p:embeddedFont>
    <p:embeddedFont>
      <p:font typeface="Calibri (MS) Bold" panose="020B0604020202020204" charset="0"/>
      <p:regular r:id="rId29"/>
    </p:embeddedFont>
    <p:embeddedFont>
      <p:font typeface="Arimo"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1E"/>
    <a:srgbClr val="A8D1A5"/>
    <a:srgbClr val="C22121"/>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80" dt="2026-10-03T17:37:47.184"/>
    <p1510:client id="{3A72BAD9-4A96-4DB8-9A00-17B780B06556}" v="2978" dt="2026-10-03T17:38:43.353"/>
    <p1510:client id="{5E43A0D7-E513-43D6-9D45-7A4C8820268B}" v="74" dt="2026-10-04T00:06:42.881"/>
    <p1510:client id="{99F95431-EA73-47EB-A38E-581935BDDF2A}" v="53" dt="2026-10-04T09:23:16.576"/>
    <p1510:client id="{B779D280-6C7B-4507-B239-D4816E60D1AD}" v="2376" dt="2026-10-03T23:41:50.403"/>
    <p1510:client id="{BF31279E-C94D-4FFC-AB68-21FE4C6CBB82}" v="90" dt="2026-10-03T12:09:35.3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27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2.xml"/><Relationship Id="rId21" Type="http://schemas.openxmlformats.org/officeDocument/2006/relationships/font" Target="fonts/font1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font" Target="fonts/font20.fntdata"/><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font" Target="fonts/font19.fntdata"/><Relationship Id="rId30" Type="http://schemas.openxmlformats.org/officeDocument/2006/relationships/font" Target="fonts/font22.fntdata"/><Relationship Id="rId3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1B13D-48FE-45B8-9536-E3D645B69119}"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429DE-E128-4DD0-804D-8A2AC449EA16}" type="slidenum">
              <a:rPr lang="en-US" smtClean="0"/>
              <a:t>‹#›</a:t>
            </a:fld>
            <a:endParaRPr lang="en-US"/>
          </a:p>
        </p:txBody>
      </p:sp>
    </p:spTree>
    <p:extLst>
      <p:ext uri="{BB962C8B-B14F-4D97-AF65-F5344CB8AC3E}">
        <p14:creationId xmlns:p14="http://schemas.microsoft.com/office/powerpoint/2010/main" val="339699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F9429DE-E128-4DD0-804D-8A2AC449EA16}" type="slidenum">
              <a:rPr lang="en-US" smtClean="0"/>
              <a:t>5</a:t>
            </a:fld>
            <a:endParaRPr lang="en-US"/>
          </a:p>
        </p:txBody>
      </p:sp>
    </p:spTree>
    <p:extLst>
      <p:ext uri="{BB962C8B-B14F-4D97-AF65-F5344CB8AC3E}">
        <p14:creationId xmlns:p14="http://schemas.microsoft.com/office/powerpoint/2010/main" val="1623368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4.jpeg"/><Relationship Id="rId18" Type="http://schemas.openxmlformats.org/officeDocument/2006/relationships/image" Target="../media/image27.png"/><Relationship Id="rId3" Type="http://schemas.openxmlformats.org/officeDocument/2006/relationships/image" Target="../media/image14.png"/><Relationship Id="rId7" Type="http://schemas.openxmlformats.org/officeDocument/2006/relationships/image" Target="../media/image18.jpeg"/><Relationship Id="rId12" Type="http://schemas.openxmlformats.org/officeDocument/2006/relationships/image" Target="../media/image23.jpeg"/><Relationship Id="rId17" Type="http://schemas.openxmlformats.org/officeDocument/2006/relationships/image" Target="../media/image12.png"/><Relationship Id="rId2" Type="http://schemas.openxmlformats.org/officeDocument/2006/relationships/image" Target="../media/image13.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jpeg"/><Relationship Id="rId11" Type="http://schemas.openxmlformats.org/officeDocument/2006/relationships/image" Target="../media/image22.jpeg"/><Relationship Id="rId5" Type="http://schemas.openxmlformats.org/officeDocument/2006/relationships/image" Target="../media/image16.jpeg"/><Relationship Id="rId15" Type="http://schemas.openxmlformats.org/officeDocument/2006/relationships/image" Target="../media/image26.pn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4.jpeg"/><Relationship Id="rId26" Type="http://schemas.openxmlformats.org/officeDocument/2006/relationships/image" Target="../media/image50.png"/><Relationship Id="rId3" Type="http://schemas.openxmlformats.org/officeDocument/2006/relationships/image" Target="../media/image29.png"/><Relationship Id="rId21" Type="http://schemas.openxmlformats.org/officeDocument/2006/relationships/image" Target="../media/image3.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43.jpeg"/><Relationship Id="rId25" Type="http://schemas.openxmlformats.org/officeDocument/2006/relationships/image" Target="../media/image49.png"/><Relationship Id="rId2" Type="http://schemas.openxmlformats.org/officeDocument/2006/relationships/image" Target="../media/image28.png"/><Relationship Id="rId16" Type="http://schemas.openxmlformats.org/officeDocument/2006/relationships/image" Target="../media/image42.png"/><Relationship Id="rId20" Type="http://schemas.openxmlformats.org/officeDocument/2006/relationships/image" Target="../media/image12.png"/><Relationship Id="rId29"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24" Type="http://schemas.openxmlformats.org/officeDocument/2006/relationships/image" Target="../media/image48.png"/><Relationship Id="rId5" Type="http://schemas.openxmlformats.org/officeDocument/2006/relationships/image" Target="../media/image31.png"/><Relationship Id="rId15" Type="http://schemas.openxmlformats.org/officeDocument/2006/relationships/image" Target="../media/image41.png"/><Relationship Id="rId23" Type="http://schemas.openxmlformats.org/officeDocument/2006/relationships/image" Target="../media/image47.png"/><Relationship Id="rId28" Type="http://schemas.openxmlformats.org/officeDocument/2006/relationships/image" Target="../media/image52.png"/><Relationship Id="rId10" Type="http://schemas.openxmlformats.org/officeDocument/2006/relationships/image" Target="../media/image36.png"/><Relationship Id="rId19" Type="http://schemas.openxmlformats.org/officeDocument/2006/relationships/image" Target="../media/image45.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5.png"/><Relationship Id="rId21" Type="http://schemas.openxmlformats.org/officeDocument/2006/relationships/image" Target="../media/image12.png"/><Relationship Id="rId7" Type="http://schemas.openxmlformats.org/officeDocument/2006/relationships/image" Target="../media/image59.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1.xml"/><Relationship Id="rId16" Type="http://schemas.openxmlformats.org/officeDocument/2006/relationships/image" Target="../media/image66.png"/><Relationship Id="rId20"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8.png"/><Relationship Id="rId11" Type="http://schemas.microsoft.com/office/2007/relationships/hdphoto" Target="../media/hdphoto2.wdp"/><Relationship Id="rId5" Type="http://schemas.openxmlformats.org/officeDocument/2006/relationships/image" Target="../media/image57.png"/><Relationship Id="rId15" Type="http://schemas.openxmlformats.org/officeDocument/2006/relationships/image" Target="../media/image65.png"/><Relationship Id="rId10" Type="http://schemas.openxmlformats.org/officeDocument/2006/relationships/image" Target="../media/image61.png"/><Relationship Id="rId19" Type="http://schemas.openxmlformats.org/officeDocument/2006/relationships/image" Target="../media/image11.png"/><Relationship Id="rId4" Type="http://schemas.openxmlformats.org/officeDocument/2006/relationships/image" Target="../media/image56.png"/><Relationship Id="rId9" Type="http://schemas.microsoft.com/office/2007/relationships/hdphoto" Target="../media/hdphoto1.wdp"/><Relationship Id="rId14"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hyperlink" Target="https://link.springer.com/content/pdf/10.1186/s40537-024-01057-7.pdf" TargetMode="External"/><Relationship Id="rId3" Type="http://schemas.openxmlformats.org/officeDocument/2006/relationships/image" Target="../media/image70.png"/><Relationship Id="rId7" Type="http://schemas.openxmlformats.org/officeDocument/2006/relationships/hyperlink" Target="https://ijircce.com/admin/main/storage/app/pdf/70_Smart%20Livestock%20Health%20Monitoring%20and%20Tracking%20System%20Using%20IoT%20and%20Real-Time%20Analytics.pdf" TargetMode="External"/><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hyperlink" Target="https://www.woah.org/app/uploads/2026/05/sowah26-english-digital-v4-single-pages-opt-vf.pdf" TargetMode="External"/><Relationship Id="rId11" Type="http://schemas.openxmlformats.org/officeDocument/2006/relationships/image" Target="../media/image72.png"/><Relationship Id="rId5" Type="http://schemas.openxmlformats.org/officeDocument/2006/relationships/hyperlink" Target="https://openknowledge.fao.org/server/api/core/bitstreams/9acc7045-780e-4819-8a1e-f999ca4f7107/content" TargetMode="External"/><Relationship Id="rId10" Type="http://schemas.openxmlformats.org/officeDocument/2006/relationships/image" Target="../media/image3.png"/><Relationship Id="rId4" Type="http://schemas.openxmlformats.org/officeDocument/2006/relationships/image" Target="../media/image71.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54862" y="-63498"/>
            <a:ext cx="9270997" cy="6984997"/>
          </a:xfrm>
          <a:custGeom>
            <a:avLst/>
            <a:gdLst/>
            <a:ahLst/>
            <a:cxnLst/>
            <a:rect l="l" t="t" r="r" b="b"/>
            <a:pathLst>
              <a:path w="9270997" h="6984997">
                <a:moveTo>
                  <a:pt x="0" y="0"/>
                </a:moveTo>
                <a:lnTo>
                  <a:pt x="9270997" y="0"/>
                </a:lnTo>
                <a:lnTo>
                  <a:pt x="9270997" y="6984996"/>
                </a:lnTo>
                <a:lnTo>
                  <a:pt x="0" y="698499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7852365" y="1714505"/>
            <a:ext cx="3200400" cy="3429000"/>
            <a:chOff x="0" y="0"/>
            <a:chExt cx="4267200" cy="4572000"/>
          </a:xfrm>
        </p:grpSpPr>
        <p:sp>
          <p:nvSpPr>
            <p:cNvPr id="4" name="Freeform 4"/>
            <p:cNvSpPr/>
            <p:nvPr/>
          </p:nvSpPr>
          <p:spPr>
            <a:xfrm>
              <a:off x="0" y="0"/>
              <a:ext cx="4267200" cy="4572000"/>
            </a:xfrm>
            <a:custGeom>
              <a:avLst/>
              <a:gdLst/>
              <a:ahLst/>
              <a:cxnLst/>
              <a:rect l="l" t="t" r="r" b="b"/>
              <a:pathLst>
                <a:path w="4267200" h="4572000">
                  <a:moveTo>
                    <a:pt x="0" y="0"/>
                  </a:moveTo>
                  <a:lnTo>
                    <a:pt x="4267200" y="0"/>
                  </a:lnTo>
                  <a:lnTo>
                    <a:pt x="4267200" y="4572000"/>
                  </a:lnTo>
                  <a:lnTo>
                    <a:pt x="0" y="4572000"/>
                  </a:lnTo>
                  <a:lnTo>
                    <a:pt x="0" y="0"/>
                  </a:lnTo>
                  <a:close/>
                </a:path>
              </a:pathLst>
            </a:custGeom>
            <a:blipFill>
              <a:blip r:embed="rId4"/>
              <a:stretch>
                <a:fillRect/>
              </a:stretch>
            </a:blipFill>
          </p:spPr>
        </p:sp>
      </p:grpSp>
      <p:grpSp>
        <p:nvGrpSpPr>
          <p:cNvPr id="5" name="Group 5"/>
          <p:cNvGrpSpPr/>
          <p:nvPr/>
        </p:nvGrpSpPr>
        <p:grpSpPr>
          <a:xfrm>
            <a:off x="9753600" y="92075"/>
            <a:ext cx="2247900" cy="1066800"/>
            <a:chOff x="0" y="0"/>
            <a:chExt cx="2997200" cy="1422400"/>
          </a:xfrm>
        </p:grpSpPr>
        <p:sp>
          <p:nvSpPr>
            <p:cNvPr id="6" name="Freeform 6"/>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5"/>
              <a:stretch>
                <a:fillRect/>
              </a:stretch>
            </a:blipFill>
          </p:spPr>
        </p:sp>
      </p:grpSp>
      <p:sp>
        <p:nvSpPr>
          <p:cNvPr id="7" name="TextBox 7"/>
          <p:cNvSpPr txBox="1"/>
          <p:nvPr/>
        </p:nvSpPr>
        <p:spPr>
          <a:xfrm>
            <a:off x="4343400" y="718145"/>
            <a:ext cx="2667000" cy="658835"/>
          </a:xfrm>
          <a:prstGeom prst="rect">
            <a:avLst/>
          </a:prstGeom>
        </p:spPr>
        <p:txBody>
          <a:bodyPr wrap="square" lIns="0" tIns="0" rIns="0" bIns="0" rtlCol="0" anchor="t">
            <a:spAutoFit/>
          </a:bodyPr>
          <a:lstStyle/>
          <a:p>
            <a:pPr algn="l">
              <a:lnSpc>
                <a:spcPts val="5599"/>
              </a:lnSpc>
            </a:pPr>
            <a:r>
              <a:rPr lang="en-US" sz="3999" b="1" dirty="0">
                <a:solidFill>
                  <a:srgbClr val="1F497D"/>
                </a:solidFill>
                <a:latin typeface="Times New Roman Bold"/>
                <a:ea typeface="Times New Roman Bold"/>
                <a:cs typeface="Times New Roman Bold"/>
                <a:sym typeface="Times New Roman Bold"/>
              </a:rPr>
              <a:t>VETNEXA</a:t>
            </a:r>
          </a:p>
        </p:txBody>
      </p:sp>
      <p:sp>
        <p:nvSpPr>
          <p:cNvPr id="8" name="TextBox 8"/>
          <p:cNvSpPr txBox="1"/>
          <p:nvPr/>
        </p:nvSpPr>
        <p:spPr>
          <a:xfrm>
            <a:off x="1447800" y="0"/>
            <a:ext cx="8305552" cy="658835"/>
          </a:xfrm>
          <a:prstGeom prst="rect">
            <a:avLst/>
          </a:prstGeom>
        </p:spPr>
        <p:txBody>
          <a:bodyPr wrap="square" lIns="0" tIns="0" rIns="0" bIns="0" rtlCol="0" anchor="t">
            <a:spAutoFit/>
          </a:bodyPr>
          <a:lstStyle/>
          <a:p>
            <a:pPr algn="ctr">
              <a:lnSpc>
                <a:spcPts val="5599"/>
              </a:lnSpc>
            </a:pPr>
            <a:r>
              <a:rPr lang="en-US" sz="3999" b="1" spc="7" dirty="0">
                <a:latin typeface="Times New Roman" panose="02020603050405020304" pitchFamily="18" charset="0"/>
                <a:ea typeface="Garamond Bold"/>
                <a:cs typeface="Times New Roman" panose="02020603050405020304" pitchFamily="18" charset="0"/>
                <a:sym typeface="Garamond Bold"/>
              </a:rPr>
              <a:t>SMART INDIA HACKATHON 2026</a:t>
            </a:r>
          </a:p>
        </p:txBody>
      </p:sp>
      <p:sp>
        <p:nvSpPr>
          <p:cNvPr id="9" name="TextBox 9"/>
          <p:cNvSpPr txBox="1"/>
          <p:nvPr/>
        </p:nvSpPr>
        <p:spPr>
          <a:xfrm>
            <a:off x="685800" y="1447165"/>
            <a:ext cx="5958725" cy="4924425"/>
          </a:xfrm>
          <a:prstGeom prst="rect">
            <a:avLst/>
          </a:prstGeom>
        </p:spPr>
        <p:txBody>
          <a:bodyPr lIns="0" tIns="0" rIns="0" bIns="0" rtlCol="0" anchor="t">
            <a:spAutoFit/>
          </a:bodyPr>
          <a:lstStyle/>
          <a:p>
            <a:pPr marL="432341" lvl="1" indent="-216171" algn="l">
              <a:lnSpc>
                <a:spcPts val="4798"/>
              </a:lnSpc>
              <a:buFont typeface="Arial"/>
              <a:buChar char="•"/>
            </a:pPr>
            <a:r>
              <a:rPr lang="en-US" sz="2002" b="1" dirty="0">
                <a:solidFill>
                  <a:srgbClr val="000000"/>
                </a:solidFill>
                <a:latin typeface="Arial Bold"/>
                <a:ea typeface="Arial Bold"/>
                <a:cs typeface="Arial Bold"/>
                <a:sym typeface="Arial Bold"/>
              </a:rPr>
              <a:t>Problem Statement ID – </a:t>
            </a:r>
            <a:r>
              <a:rPr lang="en-US" sz="2002" dirty="0">
                <a:solidFill>
                  <a:srgbClr val="000000"/>
                </a:solidFill>
                <a:latin typeface="Arial"/>
                <a:ea typeface="Arial"/>
                <a:cs typeface="Arial"/>
                <a:sym typeface="Arial"/>
              </a:rPr>
              <a:t>SIH26128</a:t>
            </a:r>
          </a:p>
          <a:p>
            <a:pPr marL="432341" lvl="1" indent="-216171" algn="l">
              <a:lnSpc>
                <a:spcPts val="4798"/>
              </a:lnSpc>
              <a:buFont typeface="Arial"/>
              <a:buChar char="•"/>
            </a:pPr>
            <a:r>
              <a:rPr lang="en-US" sz="2002" b="1" dirty="0">
                <a:solidFill>
                  <a:srgbClr val="000000"/>
                </a:solidFill>
                <a:latin typeface="Arial Bold"/>
                <a:ea typeface="Arial Bold"/>
                <a:cs typeface="Arial Bold"/>
                <a:sym typeface="Arial Bold"/>
              </a:rPr>
              <a:t>Problem Statement Title -</a:t>
            </a:r>
            <a:r>
              <a:rPr lang="en-US" sz="2002" dirty="0">
                <a:solidFill>
                  <a:srgbClr val="000000"/>
                </a:solidFill>
                <a:latin typeface="Arial"/>
                <a:ea typeface="Arial"/>
                <a:cs typeface="Arial"/>
                <a:sym typeface="Arial"/>
              </a:rPr>
              <a:t> Efficient system for early detection, prevention and management of livestock diseases and animal health issues.</a:t>
            </a:r>
          </a:p>
          <a:p>
            <a:pPr marL="432341" lvl="1" indent="-216171" algn="l">
              <a:lnSpc>
                <a:spcPts val="4798"/>
              </a:lnSpc>
              <a:buFont typeface="Arial"/>
              <a:buChar char="•"/>
            </a:pPr>
            <a:r>
              <a:rPr lang="en-US" sz="2002" b="1" dirty="0">
                <a:solidFill>
                  <a:srgbClr val="000000"/>
                </a:solidFill>
                <a:latin typeface="Arial Bold"/>
                <a:ea typeface="Arial Bold"/>
                <a:cs typeface="Arial Bold"/>
                <a:sym typeface="Arial Bold"/>
              </a:rPr>
              <a:t>Theme - </a:t>
            </a:r>
            <a:r>
              <a:rPr lang="en-US" sz="2002" dirty="0" err="1">
                <a:solidFill>
                  <a:srgbClr val="000000"/>
                </a:solidFill>
                <a:latin typeface="Arial"/>
                <a:ea typeface="Arial"/>
                <a:cs typeface="Arial"/>
                <a:sym typeface="Arial"/>
              </a:rPr>
              <a:t>MedTech</a:t>
            </a:r>
            <a:r>
              <a:rPr lang="en-US" sz="2002" dirty="0">
                <a:solidFill>
                  <a:srgbClr val="000000"/>
                </a:solidFill>
                <a:latin typeface="Arial"/>
                <a:ea typeface="Arial"/>
                <a:cs typeface="Arial"/>
                <a:sym typeface="Arial"/>
              </a:rPr>
              <a:t> / </a:t>
            </a:r>
            <a:r>
              <a:rPr lang="en-US" sz="2002" dirty="0" err="1">
                <a:solidFill>
                  <a:srgbClr val="000000"/>
                </a:solidFill>
                <a:latin typeface="Arial"/>
                <a:ea typeface="Arial"/>
                <a:cs typeface="Arial"/>
                <a:sym typeface="Arial"/>
              </a:rPr>
              <a:t>BioTech</a:t>
            </a:r>
            <a:r>
              <a:rPr lang="en-US" sz="2002" dirty="0">
                <a:solidFill>
                  <a:srgbClr val="000000"/>
                </a:solidFill>
                <a:latin typeface="Arial"/>
                <a:ea typeface="Arial"/>
                <a:cs typeface="Arial"/>
                <a:sym typeface="Arial"/>
              </a:rPr>
              <a:t> /</a:t>
            </a:r>
            <a:r>
              <a:rPr lang="en-US" sz="2002" b="1" dirty="0">
                <a:solidFill>
                  <a:srgbClr val="000000"/>
                </a:solidFill>
                <a:latin typeface="Arial Bold"/>
                <a:ea typeface="Arial Bold"/>
                <a:cs typeface="Arial Bold"/>
                <a:sym typeface="Arial Bold"/>
              </a:rPr>
              <a:t> </a:t>
            </a:r>
            <a:r>
              <a:rPr lang="en-US" sz="2002" dirty="0" err="1">
                <a:solidFill>
                  <a:srgbClr val="000000"/>
                </a:solidFill>
                <a:latin typeface="Arial"/>
                <a:ea typeface="Arial"/>
                <a:cs typeface="Arial"/>
                <a:sym typeface="Arial"/>
              </a:rPr>
              <a:t>HealthTech</a:t>
            </a:r>
            <a:endParaRPr lang="en-US" sz="2002" dirty="0">
              <a:solidFill>
                <a:srgbClr val="000000"/>
              </a:solidFill>
              <a:latin typeface="Arial"/>
              <a:ea typeface="Arial"/>
              <a:cs typeface="Arial"/>
              <a:sym typeface="Arial"/>
            </a:endParaRPr>
          </a:p>
          <a:p>
            <a:pPr marL="432341" lvl="1" indent="-216171" algn="l">
              <a:lnSpc>
                <a:spcPts val="4798"/>
              </a:lnSpc>
              <a:buFont typeface="Arial"/>
              <a:buChar char="•"/>
            </a:pPr>
            <a:r>
              <a:rPr lang="en-US" sz="2002" b="1" dirty="0">
                <a:solidFill>
                  <a:srgbClr val="000000"/>
                </a:solidFill>
                <a:latin typeface="Arial Bold"/>
                <a:ea typeface="Arial Bold"/>
                <a:cs typeface="Arial Bold"/>
                <a:sym typeface="Arial Bold"/>
              </a:rPr>
              <a:t>PS Category - </a:t>
            </a:r>
            <a:r>
              <a:rPr lang="en-US" sz="2002" dirty="0">
                <a:solidFill>
                  <a:srgbClr val="000000"/>
                </a:solidFill>
                <a:latin typeface="Arial"/>
                <a:ea typeface="Arial"/>
                <a:cs typeface="Arial"/>
                <a:sym typeface="Arial"/>
              </a:rPr>
              <a:t>Software</a:t>
            </a:r>
            <a:r>
              <a:rPr lang="en-US" sz="2002" b="1" dirty="0">
                <a:solidFill>
                  <a:srgbClr val="000000"/>
                </a:solidFill>
                <a:latin typeface="Arial Bold"/>
                <a:ea typeface="Arial Bold"/>
                <a:cs typeface="Arial Bold"/>
                <a:sym typeface="Arial Bold"/>
              </a:rPr>
              <a:t> </a:t>
            </a:r>
          </a:p>
          <a:p>
            <a:pPr marL="432341" lvl="1" indent="-216171">
              <a:lnSpc>
                <a:spcPts val="4798"/>
              </a:lnSpc>
              <a:buFont typeface="Arial"/>
              <a:buChar char="•"/>
            </a:pPr>
            <a:r>
              <a:rPr lang="en-US" sz="2002" b="1" dirty="0">
                <a:solidFill>
                  <a:srgbClr val="000000"/>
                </a:solidFill>
                <a:latin typeface="Arial Bold"/>
                <a:ea typeface="Arial Bold"/>
                <a:cs typeface="Arial Bold"/>
                <a:sym typeface="Arial Bold"/>
              </a:rPr>
              <a:t>Team </a:t>
            </a:r>
            <a:r>
              <a:rPr lang="en-US" sz="2002" b="1" dirty="0" smtClean="0">
                <a:solidFill>
                  <a:srgbClr val="000000"/>
                </a:solidFill>
                <a:latin typeface="Arial Bold"/>
                <a:ea typeface="Arial Bold"/>
                <a:cs typeface="Arial Bold"/>
                <a:sym typeface="Arial Bold"/>
              </a:rPr>
              <a:t>ID- </a:t>
            </a:r>
            <a:r>
              <a:rPr lang="en-US" sz="2002" dirty="0" smtClean="0">
                <a:solidFill>
                  <a:srgbClr val="000000"/>
                </a:solidFill>
                <a:latin typeface="Arial"/>
                <a:ea typeface="Arial"/>
                <a:cs typeface="Arial"/>
                <a:sym typeface="Arial"/>
              </a:rPr>
              <a:t>192212</a:t>
            </a:r>
            <a:endParaRPr lang="en-US" sz="2002" b="1" dirty="0">
              <a:solidFill>
                <a:srgbClr val="000000"/>
              </a:solidFill>
              <a:latin typeface="Arial Bold"/>
              <a:ea typeface="Arial Bold"/>
              <a:cs typeface="Arial Bold"/>
              <a:sym typeface="Arial Bold"/>
            </a:endParaRPr>
          </a:p>
          <a:p>
            <a:pPr marL="432341" lvl="1" indent="-216171" algn="l">
              <a:lnSpc>
                <a:spcPts val="4798"/>
              </a:lnSpc>
              <a:buFont typeface="Arial"/>
              <a:buChar char="•"/>
            </a:pPr>
            <a:r>
              <a:rPr lang="en-US" sz="2002" b="1" dirty="0">
                <a:solidFill>
                  <a:srgbClr val="000000"/>
                </a:solidFill>
                <a:latin typeface="Arial Bold"/>
                <a:ea typeface="Arial Bold"/>
                <a:cs typeface="Arial Bold"/>
                <a:sym typeface="Arial Bold"/>
              </a:rPr>
              <a:t>Team Name - </a:t>
            </a:r>
            <a:r>
              <a:rPr lang="en-US" sz="2002" b="1" dirty="0">
                <a:solidFill>
                  <a:srgbClr val="002659"/>
                </a:solidFill>
                <a:latin typeface="Arial Bold"/>
                <a:ea typeface="Arial Bold"/>
                <a:cs typeface="Arial Bold"/>
                <a:sym typeface="Arial Bold"/>
              </a:rPr>
              <a:t>VETNEXA</a:t>
            </a:r>
          </a:p>
        </p:txBody>
      </p:sp>
    </p:spTree>
    <p:extLst>
      <p:ext uri="{BB962C8B-B14F-4D97-AF65-F5344CB8AC3E}">
        <p14:creationId xmlns:p14="http://schemas.microsoft.com/office/powerpoint/2010/main" val="9688935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xmlns="" id="{78A17E50-BBBC-283C-5127-8343AC984F0C}"/>
              </a:ext>
            </a:extLst>
          </p:cNvPr>
          <p:cNvSpPr/>
          <p:nvPr/>
        </p:nvSpPr>
        <p:spPr>
          <a:xfrm>
            <a:off x="104235" y="4823326"/>
            <a:ext cx="7221857" cy="1845554"/>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xmlns="" id="{69759728-D64D-62D9-F8C5-8E275BAA9F2B}"/>
              </a:ext>
            </a:extLst>
          </p:cNvPr>
          <p:cNvSpPr/>
          <p:nvPr/>
        </p:nvSpPr>
        <p:spPr>
          <a:xfrm>
            <a:off x="109211" y="2718149"/>
            <a:ext cx="7232363" cy="20261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xmlns="" id="{E7AA8444-19DC-266C-DACF-C6DFF23E5129}"/>
              </a:ext>
            </a:extLst>
          </p:cNvPr>
          <p:cNvSpPr/>
          <p:nvPr/>
        </p:nvSpPr>
        <p:spPr>
          <a:xfrm>
            <a:off x="109212" y="1309169"/>
            <a:ext cx="7232362" cy="1335989"/>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xmlns="" id="{E7342C01-B6AB-5D9A-104E-CE331FE60DFF}"/>
              </a:ext>
            </a:extLst>
          </p:cNvPr>
          <p:cNvSpPr/>
          <p:nvPr/>
        </p:nvSpPr>
        <p:spPr>
          <a:xfrm>
            <a:off x="7662854" y="5803752"/>
            <a:ext cx="4234961" cy="630115"/>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8">
            <a:extLst>
              <a:ext uri="{FF2B5EF4-FFF2-40B4-BE49-F238E27FC236}">
                <a16:creationId xmlns:a16="http://schemas.microsoft.com/office/drawing/2014/main" xmlns="" id="{8BB9C94E-7589-EE50-57D0-C13AB65E811A}"/>
              </a:ext>
            </a:extLst>
          </p:cNvPr>
          <p:cNvGrpSpPr/>
          <p:nvPr/>
        </p:nvGrpSpPr>
        <p:grpSpPr>
          <a:xfrm>
            <a:off x="9881455" y="64861"/>
            <a:ext cx="2247900" cy="1066800"/>
            <a:chOff x="0" y="0"/>
            <a:chExt cx="2997200" cy="1422400"/>
          </a:xfrm>
        </p:grpSpPr>
        <p:sp>
          <p:nvSpPr>
            <p:cNvPr id="3" name="Freeform 39">
              <a:extLst>
                <a:ext uri="{FF2B5EF4-FFF2-40B4-BE49-F238E27FC236}">
                  <a16:creationId xmlns:a16="http://schemas.microsoft.com/office/drawing/2014/main" xmlns="" id="{5194A56B-FBFF-0260-8D3E-1EC7B7EFDE44}"/>
                </a:ext>
              </a:extLst>
            </p:cNvPr>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2"/>
              <a:stretch>
                <a:fillRect/>
              </a:stretch>
            </a:blipFill>
          </p:spPr>
        </p:sp>
      </p:grpSp>
      <p:sp>
        <p:nvSpPr>
          <p:cNvPr id="13" name="TextBox 12">
            <a:extLst>
              <a:ext uri="{FF2B5EF4-FFF2-40B4-BE49-F238E27FC236}">
                <a16:creationId xmlns:a16="http://schemas.microsoft.com/office/drawing/2014/main" xmlns="" id="{7EB3BB38-0CDD-D297-0C0C-B93D2FC4AD8F}"/>
              </a:ext>
            </a:extLst>
          </p:cNvPr>
          <p:cNvSpPr txBox="1"/>
          <p:nvPr/>
        </p:nvSpPr>
        <p:spPr>
          <a:xfrm>
            <a:off x="2258134" y="520962"/>
            <a:ext cx="768718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00501E"/>
                </a:solidFill>
                <a:ea typeface="Calibri"/>
                <a:cs typeface="Calibri"/>
              </a:rPr>
              <a:t>AI Powered Livestock Health Intelligence System</a:t>
            </a:r>
          </a:p>
        </p:txBody>
      </p:sp>
      <p:sp>
        <p:nvSpPr>
          <p:cNvPr id="14" name="TextBox 13">
            <a:extLst>
              <a:ext uri="{FF2B5EF4-FFF2-40B4-BE49-F238E27FC236}">
                <a16:creationId xmlns:a16="http://schemas.microsoft.com/office/drawing/2014/main" xmlns="" id="{64F5E73D-9E69-6931-C252-FE32618BC82E}"/>
              </a:ext>
            </a:extLst>
          </p:cNvPr>
          <p:cNvSpPr txBox="1"/>
          <p:nvPr/>
        </p:nvSpPr>
        <p:spPr>
          <a:xfrm>
            <a:off x="5004210" y="4147"/>
            <a:ext cx="21950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00501E"/>
                </a:solidFill>
                <a:ea typeface="Calibri"/>
                <a:cs typeface="Calibri"/>
              </a:rPr>
              <a:t>VETNEXA</a:t>
            </a:r>
          </a:p>
        </p:txBody>
      </p:sp>
      <p:cxnSp>
        <p:nvCxnSpPr>
          <p:cNvPr id="15" name="Straight Arrow Connector 14">
            <a:extLst>
              <a:ext uri="{FF2B5EF4-FFF2-40B4-BE49-F238E27FC236}">
                <a16:creationId xmlns:a16="http://schemas.microsoft.com/office/drawing/2014/main" xmlns="" id="{F7E10D0E-7CE2-4644-1646-645524DDE562}"/>
              </a:ext>
            </a:extLst>
          </p:cNvPr>
          <p:cNvCxnSpPr/>
          <p:nvPr/>
        </p:nvCxnSpPr>
        <p:spPr>
          <a:xfrm flipH="1">
            <a:off x="2195984" y="1066746"/>
            <a:ext cx="7794737" cy="276"/>
          </a:xfrm>
          <a:prstGeom prst="straightConnector1">
            <a:avLst/>
          </a:prstGeom>
          <a:ln w="28575">
            <a:solidFill>
              <a:srgbClr val="00501E"/>
            </a:solidFill>
          </a:ln>
        </p:spPr>
        <p:style>
          <a:lnRef idx="1">
            <a:schemeClr val="accent1"/>
          </a:lnRef>
          <a:fillRef idx="0">
            <a:schemeClr val="accent1"/>
          </a:fillRef>
          <a:effectRef idx="0">
            <a:schemeClr val="accent1"/>
          </a:effectRef>
          <a:fontRef idx="minor">
            <a:schemeClr val="tx1"/>
          </a:fontRef>
        </p:style>
      </p:cxnSp>
      <p:sp>
        <p:nvSpPr>
          <p:cNvPr id="20" name="Freeform 22">
            <a:extLst>
              <a:ext uri="{FF2B5EF4-FFF2-40B4-BE49-F238E27FC236}">
                <a16:creationId xmlns:a16="http://schemas.microsoft.com/office/drawing/2014/main" xmlns="" id="{32942405-3990-19C1-002A-DA2E930911AA}"/>
              </a:ext>
            </a:extLst>
          </p:cNvPr>
          <p:cNvSpPr/>
          <p:nvPr/>
        </p:nvSpPr>
        <p:spPr>
          <a:xfrm>
            <a:off x="7702678" y="5895307"/>
            <a:ext cx="365694" cy="416358"/>
          </a:xfrm>
          <a:custGeom>
            <a:avLst/>
            <a:gdLst/>
            <a:ahLst/>
            <a:cxnLst/>
            <a:rect l="l" t="t" r="r" b="b"/>
            <a:pathLst>
              <a:path w="293807" h="301340">
                <a:moveTo>
                  <a:pt x="0" y="0"/>
                </a:moveTo>
                <a:lnTo>
                  <a:pt x="293807" y="0"/>
                </a:lnTo>
                <a:lnTo>
                  <a:pt x="293807" y="301340"/>
                </a:lnTo>
                <a:lnTo>
                  <a:pt x="0" y="301340"/>
                </a:lnTo>
                <a:lnTo>
                  <a:pt x="0" y="0"/>
                </a:lnTo>
                <a:close/>
              </a:path>
            </a:pathLst>
          </a:custGeom>
          <a:blipFill>
            <a:blip r:embed="rId3"/>
            <a:stretch>
              <a:fillRect/>
            </a:stretch>
          </a:blipFill>
        </p:spPr>
      </p:sp>
      <p:sp>
        <p:nvSpPr>
          <p:cNvPr id="24" name="TextBox 24">
            <a:extLst>
              <a:ext uri="{FF2B5EF4-FFF2-40B4-BE49-F238E27FC236}">
                <a16:creationId xmlns:a16="http://schemas.microsoft.com/office/drawing/2014/main" xmlns="" id="{C821667E-F9AD-BA97-65E2-4B2007829987}"/>
              </a:ext>
            </a:extLst>
          </p:cNvPr>
          <p:cNvSpPr txBox="1"/>
          <p:nvPr/>
        </p:nvSpPr>
        <p:spPr>
          <a:xfrm>
            <a:off x="8079085" y="5847401"/>
            <a:ext cx="3917806" cy="564291"/>
          </a:xfrm>
          <a:prstGeom prst="rect">
            <a:avLst/>
          </a:prstGeom>
        </p:spPr>
        <p:txBody>
          <a:bodyPr lIns="0" tIns="0" rIns="0" bIns="0" rtlCol="0" anchor="t">
            <a:spAutoFit/>
          </a:bodyPr>
          <a:lstStyle/>
          <a:p>
            <a:pPr algn="l">
              <a:lnSpc>
                <a:spcPts val="2193"/>
              </a:lnSpc>
            </a:pPr>
            <a:r>
              <a:rPr lang="en-US" sz="1687" b="1">
                <a:solidFill>
                  <a:srgbClr val="005D2E"/>
                </a:solidFill>
                <a:latin typeface="Ubuntu Bold"/>
                <a:ea typeface="Ubuntu Bold"/>
                <a:cs typeface="Ubuntu Bold"/>
                <a:sym typeface="Ubuntu Bold"/>
              </a:rPr>
              <a:t>Healthier Animals, Stronger Farmers, Sustainable Future</a:t>
            </a:r>
          </a:p>
        </p:txBody>
      </p:sp>
      <p:sp>
        <p:nvSpPr>
          <p:cNvPr id="26" name="Freeform 25">
            <a:extLst>
              <a:ext uri="{FF2B5EF4-FFF2-40B4-BE49-F238E27FC236}">
                <a16:creationId xmlns:a16="http://schemas.microsoft.com/office/drawing/2014/main" xmlns="" id="{DE97619C-8E0D-57BC-89EB-9D9A7DBE6673}"/>
              </a:ext>
            </a:extLst>
          </p:cNvPr>
          <p:cNvSpPr/>
          <p:nvPr/>
        </p:nvSpPr>
        <p:spPr>
          <a:xfrm>
            <a:off x="8225935" y="2196152"/>
            <a:ext cx="2907881" cy="2918811"/>
          </a:xfrm>
          <a:custGeom>
            <a:avLst/>
            <a:gdLst/>
            <a:ahLst/>
            <a:cxnLst/>
            <a:rect l="l" t="t" r="r" b="b"/>
            <a:pathLst>
              <a:path w="2749731" h="2674396">
                <a:moveTo>
                  <a:pt x="0" y="0"/>
                </a:moveTo>
                <a:lnTo>
                  <a:pt x="2749731" y="0"/>
                </a:lnTo>
                <a:lnTo>
                  <a:pt x="2749731" y="2674396"/>
                </a:lnTo>
                <a:lnTo>
                  <a:pt x="0" y="2674396"/>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sp>
      <p:sp>
        <p:nvSpPr>
          <p:cNvPr id="28" name="Freeform 26">
            <a:extLst>
              <a:ext uri="{FF2B5EF4-FFF2-40B4-BE49-F238E27FC236}">
                <a16:creationId xmlns:a16="http://schemas.microsoft.com/office/drawing/2014/main" xmlns="" id="{8FD95920-2759-0988-8DFB-D7C8A53298D6}"/>
              </a:ext>
            </a:extLst>
          </p:cNvPr>
          <p:cNvSpPr/>
          <p:nvPr/>
        </p:nvSpPr>
        <p:spPr>
          <a:xfrm>
            <a:off x="7740309" y="2062762"/>
            <a:ext cx="730750" cy="602681"/>
          </a:xfrm>
          <a:custGeom>
            <a:avLst/>
            <a:gdLst/>
            <a:ahLst/>
            <a:cxnLst/>
            <a:rect l="l" t="t" r="r" b="b"/>
            <a:pathLst>
              <a:path w="730750" h="602681">
                <a:moveTo>
                  <a:pt x="0" y="0"/>
                </a:moveTo>
                <a:lnTo>
                  <a:pt x="730750" y="0"/>
                </a:lnTo>
                <a:lnTo>
                  <a:pt x="730750" y="602681"/>
                </a:lnTo>
                <a:lnTo>
                  <a:pt x="0" y="602681"/>
                </a:lnTo>
                <a:lnTo>
                  <a:pt x="0" y="0"/>
                </a:lnTo>
                <a:close/>
              </a:path>
            </a:pathLst>
          </a:custGeom>
          <a:blipFill>
            <a:blip r:embed="rId5"/>
            <a:stretch>
              <a:fillRect/>
            </a:stretch>
          </a:blipFill>
        </p:spPr>
      </p:sp>
      <p:sp>
        <p:nvSpPr>
          <p:cNvPr id="30" name="Freeform 27">
            <a:extLst>
              <a:ext uri="{FF2B5EF4-FFF2-40B4-BE49-F238E27FC236}">
                <a16:creationId xmlns:a16="http://schemas.microsoft.com/office/drawing/2014/main" xmlns="" id="{DE3A0863-6D6C-16C8-A8FB-D3441C21E416}"/>
              </a:ext>
            </a:extLst>
          </p:cNvPr>
          <p:cNvSpPr/>
          <p:nvPr/>
        </p:nvSpPr>
        <p:spPr>
          <a:xfrm>
            <a:off x="7513535" y="3237380"/>
            <a:ext cx="730750" cy="745817"/>
          </a:xfrm>
          <a:custGeom>
            <a:avLst/>
            <a:gdLst/>
            <a:ahLst/>
            <a:cxnLst/>
            <a:rect l="l" t="t" r="r" b="b"/>
            <a:pathLst>
              <a:path w="730750" h="745817">
                <a:moveTo>
                  <a:pt x="0" y="0"/>
                </a:moveTo>
                <a:lnTo>
                  <a:pt x="730751" y="0"/>
                </a:lnTo>
                <a:lnTo>
                  <a:pt x="730751" y="745817"/>
                </a:lnTo>
                <a:lnTo>
                  <a:pt x="0" y="745817"/>
                </a:lnTo>
                <a:lnTo>
                  <a:pt x="0" y="0"/>
                </a:lnTo>
                <a:close/>
              </a:path>
            </a:pathLst>
          </a:custGeom>
          <a:blipFill>
            <a:blip r:embed="rId6"/>
            <a:stretch>
              <a:fillRect/>
            </a:stretch>
          </a:blipFill>
        </p:spPr>
      </p:sp>
      <p:sp>
        <p:nvSpPr>
          <p:cNvPr id="32" name="Freeform 28">
            <a:extLst>
              <a:ext uri="{FF2B5EF4-FFF2-40B4-BE49-F238E27FC236}">
                <a16:creationId xmlns:a16="http://schemas.microsoft.com/office/drawing/2014/main" xmlns="" id="{2E91E3A0-18A5-B852-2BAC-2A1B13D8FFAB}"/>
              </a:ext>
            </a:extLst>
          </p:cNvPr>
          <p:cNvSpPr/>
          <p:nvPr/>
        </p:nvSpPr>
        <p:spPr>
          <a:xfrm>
            <a:off x="8177824" y="4503667"/>
            <a:ext cx="730750" cy="753351"/>
          </a:xfrm>
          <a:custGeom>
            <a:avLst/>
            <a:gdLst/>
            <a:ahLst/>
            <a:cxnLst/>
            <a:rect l="l" t="t" r="r" b="b"/>
            <a:pathLst>
              <a:path w="730750" h="753351">
                <a:moveTo>
                  <a:pt x="0" y="0"/>
                </a:moveTo>
                <a:lnTo>
                  <a:pt x="730751" y="0"/>
                </a:lnTo>
                <a:lnTo>
                  <a:pt x="730751" y="753351"/>
                </a:lnTo>
                <a:lnTo>
                  <a:pt x="0" y="753351"/>
                </a:lnTo>
                <a:lnTo>
                  <a:pt x="0" y="0"/>
                </a:lnTo>
                <a:close/>
              </a:path>
            </a:pathLst>
          </a:custGeom>
          <a:blipFill>
            <a:blip r:embed="rId7"/>
            <a:stretch>
              <a:fillRect/>
            </a:stretch>
          </a:blipFill>
        </p:spPr>
      </p:sp>
      <p:sp>
        <p:nvSpPr>
          <p:cNvPr id="34" name="Freeform 29">
            <a:extLst>
              <a:ext uri="{FF2B5EF4-FFF2-40B4-BE49-F238E27FC236}">
                <a16:creationId xmlns:a16="http://schemas.microsoft.com/office/drawing/2014/main" xmlns="" id="{F1817431-7327-FB77-32C4-F726B23D65BA}"/>
              </a:ext>
            </a:extLst>
          </p:cNvPr>
          <p:cNvSpPr/>
          <p:nvPr/>
        </p:nvSpPr>
        <p:spPr>
          <a:xfrm>
            <a:off x="10539503" y="4626162"/>
            <a:ext cx="587614" cy="595147"/>
          </a:xfrm>
          <a:custGeom>
            <a:avLst/>
            <a:gdLst/>
            <a:ahLst/>
            <a:cxnLst/>
            <a:rect l="l" t="t" r="r" b="b"/>
            <a:pathLst>
              <a:path w="587614" h="595147">
                <a:moveTo>
                  <a:pt x="0" y="0"/>
                </a:moveTo>
                <a:lnTo>
                  <a:pt x="587614" y="0"/>
                </a:lnTo>
                <a:lnTo>
                  <a:pt x="587614" y="595147"/>
                </a:lnTo>
                <a:lnTo>
                  <a:pt x="0" y="595147"/>
                </a:lnTo>
                <a:lnTo>
                  <a:pt x="0" y="0"/>
                </a:lnTo>
                <a:close/>
              </a:path>
            </a:pathLst>
          </a:custGeom>
          <a:blipFill>
            <a:blip r:embed="rId8"/>
            <a:stretch>
              <a:fillRect/>
            </a:stretch>
          </a:blipFill>
        </p:spPr>
      </p:sp>
      <p:sp>
        <p:nvSpPr>
          <p:cNvPr id="36" name="Freeform 30">
            <a:extLst>
              <a:ext uri="{FF2B5EF4-FFF2-40B4-BE49-F238E27FC236}">
                <a16:creationId xmlns:a16="http://schemas.microsoft.com/office/drawing/2014/main" xmlns="" id="{9EE001CF-3E16-8973-5D4A-9D4508577935}"/>
              </a:ext>
            </a:extLst>
          </p:cNvPr>
          <p:cNvSpPr/>
          <p:nvPr/>
        </p:nvSpPr>
        <p:spPr>
          <a:xfrm>
            <a:off x="10901545" y="1936185"/>
            <a:ext cx="587614" cy="745817"/>
          </a:xfrm>
          <a:custGeom>
            <a:avLst/>
            <a:gdLst/>
            <a:ahLst/>
            <a:cxnLst/>
            <a:rect l="l" t="t" r="r" b="b"/>
            <a:pathLst>
              <a:path w="587614" h="745817">
                <a:moveTo>
                  <a:pt x="0" y="0"/>
                </a:moveTo>
                <a:lnTo>
                  <a:pt x="587613" y="0"/>
                </a:lnTo>
                <a:lnTo>
                  <a:pt x="587613" y="745817"/>
                </a:lnTo>
                <a:lnTo>
                  <a:pt x="0" y="745817"/>
                </a:lnTo>
                <a:lnTo>
                  <a:pt x="0" y="0"/>
                </a:lnTo>
                <a:close/>
              </a:path>
            </a:pathLst>
          </a:custGeom>
          <a:blipFill>
            <a:blip r:embed="rId9"/>
            <a:stretch>
              <a:fillRect/>
            </a:stretch>
          </a:blipFill>
        </p:spPr>
      </p:sp>
      <p:sp>
        <p:nvSpPr>
          <p:cNvPr id="38" name="Freeform 31">
            <a:extLst>
              <a:ext uri="{FF2B5EF4-FFF2-40B4-BE49-F238E27FC236}">
                <a16:creationId xmlns:a16="http://schemas.microsoft.com/office/drawing/2014/main" xmlns="" id="{887A357A-C633-A35B-CFE0-551D1060024E}"/>
              </a:ext>
            </a:extLst>
          </p:cNvPr>
          <p:cNvSpPr/>
          <p:nvPr/>
        </p:nvSpPr>
        <p:spPr>
          <a:xfrm>
            <a:off x="11162355" y="3223003"/>
            <a:ext cx="730750" cy="753351"/>
          </a:xfrm>
          <a:custGeom>
            <a:avLst/>
            <a:gdLst/>
            <a:ahLst/>
            <a:cxnLst/>
            <a:rect l="l" t="t" r="r" b="b"/>
            <a:pathLst>
              <a:path w="730750" h="753351">
                <a:moveTo>
                  <a:pt x="0" y="0"/>
                </a:moveTo>
                <a:lnTo>
                  <a:pt x="730751" y="0"/>
                </a:lnTo>
                <a:lnTo>
                  <a:pt x="730751" y="753351"/>
                </a:lnTo>
                <a:lnTo>
                  <a:pt x="0" y="753351"/>
                </a:lnTo>
                <a:lnTo>
                  <a:pt x="0" y="0"/>
                </a:lnTo>
                <a:close/>
              </a:path>
            </a:pathLst>
          </a:custGeom>
          <a:blipFill>
            <a:blip r:embed="rId10"/>
            <a:stretch>
              <a:fillRect/>
            </a:stretch>
          </a:blipFill>
        </p:spPr>
      </p:sp>
      <p:sp>
        <p:nvSpPr>
          <p:cNvPr id="40" name="TextBox 32">
            <a:extLst>
              <a:ext uri="{FF2B5EF4-FFF2-40B4-BE49-F238E27FC236}">
                <a16:creationId xmlns:a16="http://schemas.microsoft.com/office/drawing/2014/main" xmlns="" id="{2D7B712F-86F9-9EAC-91FE-03472BF9B1A3}"/>
              </a:ext>
            </a:extLst>
          </p:cNvPr>
          <p:cNvSpPr txBox="1"/>
          <p:nvPr/>
        </p:nvSpPr>
        <p:spPr>
          <a:xfrm>
            <a:off x="7740309" y="2674433"/>
            <a:ext cx="871377" cy="369051"/>
          </a:xfrm>
          <a:prstGeom prst="rect">
            <a:avLst/>
          </a:prstGeom>
        </p:spPr>
        <p:txBody>
          <a:bodyPr lIns="0" tIns="0" rIns="0" bIns="0" rtlCol="0" anchor="t">
            <a:spAutoFit/>
          </a:bodyPr>
          <a:lstStyle/>
          <a:p>
            <a:pPr algn="ctr">
              <a:lnSpc>
                <a:spcPts val="1462"/>
              </a:lnSpc>
            </a:pPr>
            <a:r>
              <a:rPr lang="en-US" sz="1124" b="1">
                <a:solidFill>
                  <a:srgbClr val="00234C"/>
                </a:solidFill>
                <a:latin typeface="Ubuntu Bold"/>
                <a:ea typeface="Ubuntu Bold"/>
                <a:cs typeface="Ubuntu Bold"/>
                <a:sym typeface="Ubuntu Bold"/>
              </a:rPr>
              <a:t>AI Symptom Analysis</a:t>
            </a:r>
          </a:p>
        </p:txBody>
      </p:sp>
      <p:sp>
        <p:nvSpPr>
          <p:cNvPr id="42" name="TextBox 33">
            <a:extLst>
              <a:ext uri="{FF2B5EF4-FFF2-40B4-BE49-F238E27FC236}">
                <a16:creationId xmlns:a16="http://schemas.microsoft.com/office/drawing/2014/main" xmlns="" id="{2B23161A-5DED-DD20-6DEB-9A08ACC1DA21}"/>
              </a:ext>
            </a:extLst>
          </p:cNvPr>
          <p:cNvSpPr txBox="1"/>
          <p:nvPr/>
        </p:nvSpPr>
        <p:spPr>
          <a:xfrm>
            <a:off x="7449128" y="3985567"/>
            <a:ext cx="906091" cy="523813"/>
          </a:xfrm>
          <a:prstGeom prst="rect">
            <a:avLst/>
          </a:prstGeom>
        </p:spPr>
        <p:txBody>
          <a:bodyPr lIns="0" tIns="0" rIns="0" bIns="0" rtlCol="0" anchor="t">
            <a:spAutoFit/>
          </a:bodyPr>
          <a:lstStyle/>
          <a:p>
            <a:pPr algn="ctr">
              <a:lnSpc>
                <a:spcPts val="1349"/>
              </a:lnSpc>
            </a:pPr>
            <a:r>
              <a:rPr lang="en-US" sz="1124" b="1">
                <a:solidFill>
                  <a:srgbClr val="00234C"/>
                </a:solidFill>
                <a:latin typeface="Ubuntu Bold"/>
                <a:ea typeface="Ubuntu Bold"/>
                <a:cs typeface="Ubuntu Bold"/>
                <a:sym typeface="Ubuntu Bold"/>
              </a:rPr>
              <a:t>Image-Based Disease Detection</a:t>
            </a:r>
          </a:p>
        </p:txBody>
      </p:sp>
      <p:sp>
        <p:nvSpPr>
          <p:cNvPr id="44" name="TextBox 34">
            <a:extLst>
              <a:ext uri="{FF2B5EF4-FFF2-40B4-BE49-F238E27FC236}">
                <a16:creationId xmlns:a16="http://schemas.microsoft.com/office/drawing/2014/main" xmlns="" id="{519F3D54-4EA7-9F27-80B0-08C9AEBCBF29}"/>
              </a:ext>
            </a:extLst>
          </p:cNvPr>
          <p:cNvSpPr txBox="1"/>
          <p:nvPr/>
        </p:nvSpPr>
        <p:spPr>
          <a:xfrm>
            <a:off x="7999297" y="5251380"/>
            <a:ext cx="1115381" cy="352383"/>
          </a:xfrm>
          <a:prstGeom prst="rect">
            <a:avLst/>
          </a:prstGeom>
        </p:spPr>
        <p:txBody>
          <a:bodyPr lIns="0" tIns="0" rIns="0" bIns="0" rtlCol="0" anchor="t">
            <a:spAutoFit/>
          </a:bodyPr>
          <a:lstStyle/>
          <a:p>
            <a:pPr algn="ctr">
              <a:lnSpc>
                <a:spcPts val="1349"/>
              </a:lnSpc>
            </a:pPr>
            <a:r>
              <a:rPr lang="en-US" sz="1124" b="1">
                <a:solidFill>
                  <a:srgbClr val="00234C"/>
                </a:solidFill>
                <a:latin typeface="Ubuntu Bold"/>
                <a:ea typeface="Ubuntu Bold"/>
                <a:cs typeface="Ubuntu Bold"/>
                <a:sym typeface="Ubuntu Bold"/>
              </a:rPr>
              <a:t>Preventive Care &amp; Vaccination</a:t>
            </a:r>
          </a:p>
        </p:txBody>
      </p:sp>
      <p:sp>
        <p:nvSpPr>
          <p:cNvPr id="46" name="TextBox 35">
            <a:extLst>
              <a:ext uri="{FF2B5EF4-FFF2-40B4-BE49-F238E27FC236}">
                <a16:creationId xmlns:a16="http://schemas.microsoft.com/office/drawing/2014/main" xmlns="" id="{2F673E68-4BB0-4733-A05F-7F4861E41A40}"/>
              </a:ext>
            </a:extLst>
          </p:cNvPr>
          <p:cNvSpPr txBox="1"/>
          <p:nvPr/>
        </p:nvSpPr>
        <p:spPr>
          <a:xfrm>
            <a:off x="10210373" y="5277676"/>
            <a:ext cx="1317358" cy="369051"/>
          </a:xfrm>
          <a:prstGeom prst="rect">
            <a:avLst/>
          </a:prstGeom>
        </p:spPr>
        <p:txBody>
          <a:bodyPr lIns="0" tIns="0" rIns="0" bIns="0" rtlCol="0" anchor="t">
            <a:spAutoFit/>
          </a:bodyPr>
          <a:lstStyle/>
          <a:p>
            <a:pPr algn="ctr">
              <a:lnSpc>
                <a:spcPts val="1462"/>
              </a:lnSpc>
            </a:pPr>
            <a:r>
              <a:rPr lang="en-US" sz="1100" b="1" dirty="0">
                <a:solidFill>
                  <a:srgbClr val="00234C"/>
                </a:solidFill>
                <a:latin typeface="Ubuntu Bold"/>
                <a:ea typeface="Ubuntu Bold"/>
                <a:cs typeface="Ubuntu Bold"/>
                <a:sym typeface="Ubuntu Bold"/>
              </a:rPr>
              <a:t>Health Monitoring &amp; Analytics</a:t>
            </a:r>
          </a:p>
        </p:txBody>
      </p:sp>
      <p:sp>
        <p:nvSpPr>
          <p:cNvPr id="48" name="TextBox 36">
            <a:extLst>
              <a:ext uri="{FF2B5EF4-FFF2-40B4-BE49-F238E27FC236}">
                <a16:creationId xmlns:a16="http://schemas.microsoft.com/office/drawing/2014/main" xmlns="" id="{3B0103F3-5F14-F48C-6256-01DC43371177}"/>
              </a:ext>
            </a:extLst>
          </p:cNvPr>
          <p:cNvSpPr txBox="1"/>
          <p:nvPr/>
        </p:nvSpPr>
        <p:spPr>
          <a:xfrm>
            <a:off x="10842262" y="2674433"/>
            <a:ext cx="763717" cy="369051"/>
          </a:xfrm>
          <a:prstGeom prst="rect">
            <a:avLst/>
          </a:prstGeom>
        </p:spPr>
        <p:txBody>
          <a:bodyPr lIns="0" tIns="0" rIns="0" bIns="0" rtlCol="0" anchor="t">
            <a:spAutoFit/>
          </a:bodyPr>
          <a:lstStyle/>
          <a:p>
            <a:pPr algn="ctr">
              <a:lnSpc>
                <a:spcPts val="1462"/>
              </a:lnSpc>
            </a:pPr>
            <a:r>
              <a:rPr lang="en-US" sz="1124" b="1">
                <a:solidFill>
                  <a:srgbClr val="00234C"/>
                </a:solidFill>
                <a:latin typeface="Ubuntu Bold"/>
                <a:ea typeface="Ubuntu Bold"/>
                <a:cs typeface="Ubuntu Bold"/>
                <a:sym typeface="Ubuntu Bold"/>
              </a:rPr>
              <a:t>Alerts &amp; Reminders</a:t>
            </a:r>
          </a:p>
        </p:txBody>
      </p:sp>
      <p:sp>
        <p:nvSpPr>
          <p:cNvPr id="50" name="TextBox 37">
            <a:extLst>
              <a:ext uri="{FF2B5EF4-FFF2-40B4-BE49-F238E27FC236}">
                <a16:creationId xmlns:a16="http://schemas.microsoft.com/office/drawing/2014/main" xmlns="" id="{B6D23781-A313-C236-F759-020EEA12BA23}"/>
              </a:ext>
            </a:extLst>
          </p:cNvPr>
          <p:cNvSpPr txBox="1"/>
          <p:nvPr/>
        </p:nvSpPr>
        <p:spPr>
          <a:xfrm>
            <a:off x="11014939" y="3961665"/>
            <a:ext cx="972004" cy="369051"/>
          </a:xfrm>
          <a:prstGeom prst="rect">
            <a:avLst/>
          </a:prstGeom>
        </p:spPr>
        <p:txBody>
          <a:bodyPr lIns="0" tIns="0" rIns="0" bIns="0" rtlCol="0" anchor="t">
            <a:spAutoFit/>
          </a:bodyPr>
          <a:lstStyle/>
          <a:p>
            <a:pPr algn="ctr">
              <a:lnSpc>
                <a:spcPts val="1462"/>
              </a:lnSpc>
            </a:pPr>
            <a:r>
              <a:rPr lang="en-US" sz="1124" b="1">
                <a:solidFill>
                  <a:srgbClr val="00234C"/>
                </a:solidFill>
                <a:latin typeface="Ubuntu Bold"/>
                <a:ea typeface="Ubuntu Bold"/>
                <a:cs typeface="Ubuntu Bold"/>
                <a:sym typeface="Ubuntu Bold"/>
              </a:rPr>
              <a:t>Veterinarian Consultation</a:t>
            </a:r>
          </a:p>
        </p:txBody>
      </p:sp>
      <p:sp>
        <p:nvSpPr>
          <p:cNvPr id="51" name="TextBox 50">
            <a:extLst>
              <a:ext uri="{FF2B5EF4-FFF2-40B4-BE49-F238E27FC236}">
                <a16:creationId xmlns:a16="http://schemas.microsoft.com/office/drawing/2014/main" xmlns="" id="{C39C0F0D-704F-27F6-06EA-50F6207B8112}"/>
              </a:ext>
            </a:extLst>
          </p:cNvPr>
          <p:cNvSpPr txBox="1"/>
          <p:nvPr/>
        </p:nvSpPr>
        <p:spPr>
          <a:xfrm>
            <a:off x="8038602" y="1528147"/>
            <a:ext cx="331646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501E"/>
                </a:solidFill>
                <a:ea typeface="Calibri"/>
                <a:cs typeface="Calibri"/>
              </a:rPr>
              <a:t>OUR SOLUTION AT A GLANCE</a:t>
            </a:r>
            <a:endParaRPr lang="en-US" sz="2000" b="1">
              <a:ea typeface="Calibri"/>
              <a:cs typeface="Calibri"/>
            </a:endParaRPr>
          </a:p>
        </p:txBody>
      </p:sp>
      <p:sp>
        <p:nvSpPr>
          <p:cNvPr id="53" name="TextBox 52">
            <a:extLst>
              <a:ext uri="{FF2B5EF4-FFF2-40B4-BE49-F238E27FC236}">
                <a16:creationId xmlns:a16="http://schemas.microsoft.com/office/drawing/2014/main" xmlns="" id="{42889A59-F3CE-F548-EA87-7CAAB30010DE}"/>
              </a:ext>
            </a:extLst>
          </p:cNvPr>
          <p:cNvSpPr txBox="1"/>
          <p:nvPr/>
        </p:nvSpPr>
        <p:spPr>
          <a:xfrm>
            <a:off x="404224" y="1384373"/>
            <a:ext cx="251133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tx2"/>
                </a:solidFill>
                <a:ea typeface="Calibri"/>
                <a:cs typeface="Calibri"/>
              </a:rPr>
              <a:t>PROPOSED SOLUTION</a:t>
            </a:r>
          </a:p>
        </p:txBody>
      </p:sp>
      <p:sp>
        <p:nvSpPr>
          <p:cNvPr id="54" name="TextBox 53">
            <a:extLst>
              <a:ext uri="{FF2B5EF4-FFF2-40B4-BE49-F238E27FC236}">
                <a16:creationId xmlns:a16="http://schemas.microsoft.com/office/drawing/2014/main" xmlns="" id="{7B8D4D01-E3F9-527A-8CD1-2CFD88771E2A}"/>
              </a:ext>
            </a:extLst>
          </p:cNvPr>
          <p:cNvSpPr txBox="1"/>
          <p:nvPr/>
        </p:nvSpPr>
        <p:spPr>
          <a:xfrm>
            <a:off x="404224" y="2807732"/>
            <a:ext cx="38771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501E"/>
                </a:solidFill>
                <a:ea typeface="Calibri"/>
                <a:cs typeface="Calibri"/>
              </a:rPr>
              <a:t>HOW IT ADDRESSES THE PROBLEM</a:t>
            </a:r>
            <a:endParaRPr lang="en-US"/>
          </a:p>
        </p:txBody>
      </p:sp>
      <p:sp>
        <p:nvSpPr>
          <p:cNvPr id="55" name="TextBox 54">
            <a:extLst>
              <a:ext uri="{FF2B5EF4-FFF2-40B4-BE49-F238E27FC236}">
                <a16:creationId xmlns:a16="http://schemas.microsoft.com/office/drawing/2014/main" xmlns="" id="{E66A5FD5-FDCD-EB91-DE09-9B56904B9C57}"/>
              </a:ext>
            </a:extLst>
          </p:cNvPr>
          <p:cNvSpPr txBox="1"/>
          <p:nvPr/>
        </p:nvSpPr>
        <p:spPr>
          <a:xfrm>
            <a:off x="404224" y="1743806"/>
            <a:ext cx="6781411"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solidFill>
                  <a:schemeClr val="tx1">
                    <a:lumMod val="95000"/>
                    <a:lumOff val="5000"/>
                  </a:schemeClr>
                </a:solidFill>
                <a:ea typeface="Calibri"/>
                <a:cs typeface="Calibri"/>
              </a:rPr>
              <a:t>VETNEXA is an AI-powered platform for early detection, prevention and management of livestock diseases and animal health issues. It combines symptoms, animals images, health history and data-driven insights to support farmers and veterinarians.</a:t>
            </a:r>
          </a:p>
        </p:txBody>
      </p:sp>
      <p:sp>
        <p:nvSpPr>
          <p:cNvPr id="64" name="TextBox 63">
            <a:extLst>
              <a:ext uri="{FF2B5EF4-FFF2-40B4-BE49-F238E27FC236}">
                <a16:creationId xmlns:a16="http://schemas.microsoft.com/office/drawing/2014/main" xmlns="" id="{E95B7BBA-C8E6-EC4D-4299-9CDB96FCB0B9}"/>
              </a:ext>
            </a:extLst>
          </p:cNvPr>
          <p:cNvSpPr txBox="1"/>
          <p:nvPr/>
        </p:nvSpPr>
        <p:spPr>
          <a:xfrm>
            <a:off x="399523" y="3206702"/>
            <a:ext cx="614077" cy="562630"/>
          </a:xfrm>
          <a:prstGeom prst="ellipse">
            <a:avLst/>
          </a:prstGeom>
          <a:solidFill>
            <a:srgbClr val="00501E"/>
          </a:solidFill>
          <a:ln>
            <a:solidFill>
              <a:srgbClr val="00501E"/>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 1</a:t>
            </a:r>
          </a:p>
        </p:txBody>
      </p:sp>
      <p:sp>
        <p:nvSpPr>
          <p:cNvPr id="66" name="TextBox 65">
            <a:extLst>
              <a:ext uri="{FF2B5EF4-FFF2-40B4-BE49-F238E27FC236}">
                <a16:creationId xmlns:a16="http://schemas.microsoft.com/office/drawing/2014/main" xmlns="" id="{455D6E46-E4DC-B01A-2456-75BA9D0E667D}"/>
              </a:ext>
            </a:extLst>
          </p:cNvPr>
          <p:cNvSpPr txBox="1"/>
          <p:nvPr/>
        </p:nvSpPr>
        <p:spPr>
          <a:xfrm>
            <a:off x="6308616" y="3206701"/>
            <a:ext cx="614077" cy="562630"/>
          </a:xfrm>
          <a:prstGeom prst="ellipse">
            <a:avLst/>
          </a:prstGeom>
          <a:solidFill>
            <a:srgbClr val="00501E"/>
          </a:solidFill>
          <a:ln>
            <a:solidFill>
              <a:srgbClr val="00501E"/>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 5</a:t>
            </a:r>
          </a:p>
        </p:txBody>
      </p:sp>
      <p:sp>
        <p:nvSpPr>
          <p:cNvPr id="67" name="TextBox 66">
            <a:extLst>
              <a:ext uri="{FF2B5EF4-FFF2-40B4-BE49-F238E27FC236}">
                <a16:creationId xmlns:a16="http://schemas.microsoft.com/office/drawing/2014/main" xmlns="" id="{6A578F8D-D644-EB9A-DAAD-9F9D0ACE129E}"/>
              </a:ext>
            </a:extLst>
          </p:cNvPr>
          <p:cNvSpPr txBox="1"/>
          <p:nvPr/>
        </p:nvSpPr>
        <p:spPr>
          <a:xfrm>
            <a:off x="1866013" y="3206702"/>
            <a:ext cx="614077" cy="562630"/>
          </a:xfrm>
          <a:prstGeom prst="ellipse">
            <a:avLst/>
          </a:prstGeom>
          <a:solidFill>
            <a:srgbClr val="00501E"/>
          </a:solidFill>
          <a:ln>
            <a:solidFill>
              <a:srgbClr val="00501E"/>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 2</a:t>
            </a:r>
          </a:p>
        </p:txBody>
      </p:sp>
      <p:sp>
        <p:nvSpPr>
          <p:cNvPr id="68" name="TextBox 67">
            <a:extLst>
              <a:ext uri="{FF2B5EF4-FFF2-40B4-BE49-F238E27FC236}">
                <a16:creationId xmlns:a16="http://schemas.microsoft.com/office/drawing/2014/main" xmlns="" id="{F3018F5F-A1E9-6259-4A7A-6CB5E92ED74E}"/>
              </a:ext>
            </a:extLst>
          </p:cNvPr>
          <p:cNvSpPr txBox="1"/>
          <p:nvPr/>
        </p:nvSpPr>
        <p:spPr>
          <a:xfrm>
            <a:off x="3346881" y="3206701"/>
            <a:ext cx="614077" cy="562630"/>
          </a:xfrm>
          <a:prstGeom prst="ellipse">
            <a:avLst/>
          </a:prstGeom>
          <a:solidFill>
            <a:srgbClr val="00501E"/>
          </a:solidFill>
          <a:ln>
            <a:solidFill>
              <a:srgbClr val="00501E"/>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 3</a:t>
            </a:r>
          </a:p>
        </p:txBody>
      </p:sp>
      <p:sp>
        <p:nvSpPr>
          <p:cNvPr id="69" name="TextBox 68">
            <a:extLst>
              <a:ext uri="{FF2B5EF4-FFF2-40B4-BE49-F238E27FC236}">
                <a16:creationId xmlns:a16="http://schemas.microsoft.com/office/drawing/2014/main" xmlns="" id="{9A0A092D-BF2D-B639-03C3-04F078197EBF}"/>
              </a:ext>
            </a:extLst>
          </p:cNvPr>
          <p:cNvSpPr txBox="1"/>
          <p:nvPr/>
        </p:nvSpPr>
        <p:spPr>
          <a:xfrm>
            <a:off x="4827749" y="3206702"/>
            <a:ext cx="614077" cy="562630"/>
          </a:xfrm>
          <a:prstGeom prst="ellipse">
            <a:avLst/>
          </a:prstGeom>
          <a:solidFill>
            <a:srgbClr val="00501E"/>
          </a:solidFill>
          <a:ln>
            <a:solidFill>
              <a:srgbClr val="00501E"/>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 4</a:t>
            </a:r>
          </a:p>
        </p:txBody>
      </p:sp>
      <p:sp>
        <p:nvSpPr>
          <p:cNvPr id="75" name="TextBox 74">
            <a:extLst>
              <a:ext uri="{FF2B5EF4-FFF2-40B4-BE49-F238E27FC236}">
                <a16:creationId xmlns:a16="http://schemas.microsoft.com/office/drawing/2014/main" xmlns="" id="{20AE5990-4A2F-EB36-B074-78DF6A1C9756}"/>
              </a:ext>
            </a:extLst>
          </p:cNvPr>
          <p:cNvSpPr txBox="1"/>
          <p:nvPr/>
        </p:nvSpPr>
        <p:spPr>
          <a:xfrm>
            <a:off x="231694" y="3771013"/>
            <a:ext cx="11598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solidFill>
                  <a:schemeClr val="accent1">
                    <a:lumMod val="49000"/>
                  </a:schemeClr>
                </a:solidFill>
                <a:ea typeface="Calibri"/>
                <a:cs typeface="Calibri"/>
              </a:rPr>
              <a:t>Animal Data</a:t>
            </a:r>
          </a:p>
        </p:txBody>
      </p:sp>
      <p:sp>
        <p:nvSpPr>
          <p:cNvPr id="76" name="TextBox 75">
            <a:extLst>
              <a:ext uri="{FF2B5EF4-FFF2-40B4-BE49-F238E27FC236}">
                <a16:creationId xmlns:a16="http://schemas.microsoft.com/office/drawing/2014/main" xmlns="" id="{9A1325FE-9875-1D45-4665-EC6A8D4772E3}"/>
              </a:ext>
            </a:extLst>
          </p:cNvPr>
          <p:cNvSpPr txBox="1"/>
          <p:nvPr/>
        </p:nvSpPr>
        <p:spPr>
          <a:xfrm>
            <a:off x="1726940" y="3771012"/>
            <a:ext cx="11598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tx2">
                    <a:lumMod val="76000"/>
                  </a:schemeClr>
                </a:solidFill>
                <a:ea typeface="Calibri"/>
                <a:cs typeface="Calibri"/>
              </a:rPr>
              <a:t>AI Analysis</a:t>
            </a:r>
          </a:p>
        </p:txBody>
      </p:sp>
      <p:sp>
        <p:nvSpPr>
          <p:cNvPr id="77" name="TextBox 76">
            <a:extLst>
              <a:ext uri="{FF2B5EF4-FFF2-40B4-BE49-F238E27FC236}">
                <a16:creationId xmlns:a16="http://schemas.microsoft.com/office/drawing/2014/main" xmlns="" id="{5A7630A1-504A-6504-5161-E621941F971E}"/>
              </a:ext>
            </a:extLst>
          </p:cNvPr>
          <p:cNvSpPr txBox="1"/>
          <p:nvPr/>
        </p:nvSpPr>
        <p:spPr>
          <a:xfrm>
            <a:off x="3193431" y="3771012"/>
            <a:ext cx="1159864"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tx2">
                    <a:lumMod val="76000"/>
                  </a:schemeClr>
                </a:solidFill>
                <a:ea typeface="Calibri"/>
                <a:cs typeface="Calibri"/>
              </a:rPr>
              <a:t>Risk Result</a:t>
            </a:r>
          </a:p>
        </p:txBody>
      </p:sp>
      <p:sp>
        <p:nvSpPr>
          <p:cNvPr id="83" name="TextBox 82">
            <a:extLst>
              <a:ext uri="{FF2B5EF4-FFF2-40B4-BE49-F238E27FC236}">
                <a16:creationId xmlns:a16="http://schemas.microsoft.com/office/drawing/2014/main" xmlns="" id="{FB389B6A-D318-E3BC-AF6B-4675112AEB04}"/>
              </a:ext>
            </a:extLst>
          </p:cNvPr>
          <p:cNvSpPr txBox="1"/>
          <p:nvPr/>
        </p:nvSpPr>
        <p:spPr>
          <a:xfrm>
            <a:off x="4774940" y="3771011"/>
            <a:ext cx="77167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tx2">
                    <a:lumMod val="76000"/>
                  </a:schemeClr>
                </a:solidFill>
                <a:ea typeface="Calibri"/>
                <a:cs typeface="Calibri"/>
              </a:rPr>
              <a:t>Action</a:t>
            </a:r>
          </a:p>
        </p:txBody>
      </p:sp>
      <p:sp>
        <p:nvSpPr>
          <p:cNvPr id="84" name="TextBox 77">
            <a:extLst>
              <a:ext uri="{FF2B5EF4-FFF2-40B4-BE49-F238E27FC236}">
                <a16:creationId xmlns:a16="http://schemas.microsoft.com/office/drawing/2014/main" xmlns="" id="{0540C20E-6B28-1908-12C6-E59684D69578}"/>
              </a:ext>
            </a:extLst>
          </p:cNvPr>
          <p:cNvSpPr txBox="1"/>
          <p:nvPr/>
        </p:nvSpPr>
        <p:spPr>
          <a:xfrm>
            <a:off x="6270185" y="3771012"/>
            <a:ext cx="872316" cy="55399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a:solidFill>
                  <a:schemeClr val="tx2">
                    <a:lumMod val="76000"/>
                  </a:schemeClr>
                </a:solidFill>
                <a:ea typeface="Calibri"/>
                <a:cs typeface="Calibri"/>
              </a:rPr>
              <a:t>Expert </a:t>
            </a:r>
          </a:p>
          <a:p>
            <a:r>
              <a:rPr lang="en-US" sz="1500" b="1">
                <a:solidFill>
                  <a:schemeClr val="tx2">
                    <a:lumMod val="76000"/>
                  </a:schemeClr>
                </a:solidFill>
                <a:ea typeface="Calibri"/>
                <a:cs typeface="Calibri"/>
              </a:rPr>
              <a:t>Support</a:t>
            </a:r>
          </a:p>
        </p:txBody>
      </p:sp>
      <p:sp>
        <p:nvSpPr>
          <p:cNvPr id="87" name="TextBox 86">
            <a:extLst>
              <a:ext uri="{FF2B5EF4-FFF2-40B4-BE49-F238E27FC236}">
                <a16:creationId xmlns:a16="http://schemas.microsoft.com/office/drawing/2014/main" xmlns="" id="{4494CFA3-40DA-40DA-DE38-D95EE4B26397}"/>
              </a:ext>
            </a:extLst>
          </p:cNvPr>
          <p:cNvSpPr txBox="1"/>
          <p:nvPr/>
        </p:nvSpPr>
        <p:spPr>
          <a:xfrm>
            <a:off x="173912" y="4050267"/>
            <a:ext cx="13445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ea typeface="Calibri"/>
                <a:cs typeface="Calibri"/>
              </a:rPr>
              <a:t>Symptoms + Image + History</a:t>
            </a:r>
            <a:endParaRPr lang="en-US">
              <a:ea typeface="Calibri"/>
              <a:cs typeface="Calibri"/>
            </a:endParaRPr>
          </a:p>
        </p:txBody>
      </p:sp>
      <p:sp>
        <p:nvSpPr>
          <p:cNvPr id="88" name="TextBox 87">
            <a:extLst>
              <a:ext uri="{FF2B5EF4-FFF2-40B4-BE49-F238E27FC236}">
                <a16:creationId xmlns:a16="http://schemas.microsoft.com/office/drawing/2014/main" xmlns="" id="{FB86C4FE-6C23-0B2E-DCC2-3AF83A480D9C}"/>
              </a:ext>
            </a:extLst>
          </p:cNvPr>
          <p:cNvSpPr txBox="1"/>
          <p:nvPr/>
        </p:nvSpPr>
        <p:spPr>
          <a:xfrm>
            <a:off x="1554138" y="4050266"/>
            <a:ext cx="13445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ea typeface="Calibri"/>
                <a:cs typeface="Calibri"/>
              </a:rPr>
              <a:t>Multi-Model Assessment</a:t>
            </a:r>
          </a:p>
        </p:txBody>
      </p:sp>
      <p:sp>
        <p:nvSpPr>
          <p:cNvPr id="89" name="TextBox 88">
            <a:extLst>
              <a:ext uri="{FF2B5EF4-FFF2-40B4-BE49-F238E27FC236}">
                <a16:creationId xmlns:a16="http://schemas.microsoft.com/office/drawing/2014/main" xmlns="" id="{660EA0DD-B788-F14F-6DB3-43A77202230A}"/>
              </a:ext>
            </a:extLst>
          </p:cNvPr>
          <p:cNvSpPr txBox="1"/>
          <p:nvPr/>
        </p:nvSpPr>
        <p:spPr>
          <a:xfrm>
            <a:off x="3035006" y="4050267"/>
            <a:ext cx="134455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ea typeface="Calibri"/>
                <a:cs typeface="Calibri"/>
              </a:rPr>
              <a:t>Disease / Risk Level</a:t>
            </a:r>
          </a:p>
        </p:txBody>
      </p:sp>
      <p:sp>
        <p:nvSpPr>
          <p:cNvPr id="90" name="TextBox 89">
            <a:extLst>
              <a:ext uri="{FF2B5EF4-FFF2-40B4-BE49-F238E27FC236}">
                <a16:creationId xmlns:a16="http://schemas.microsoft.com/office/drawing/2014/main" xmlns="" id="{301DF583-031A-3BE2-95CE-F7927E26C7C4}"/>
              </a:ext>
            </a:extLst>
          </p:cNvPr>
          <p:cNvSpPr txBox="1"/>
          <p:nvPr/>
        </p:nvSpPr>
        <p:spPr>
          <a:xfrm>
            <a:off x="4472741" y="4007133"/>
            <a:ext cx="13445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ea typeface="Calibri"/>
                <a:cs typeface="Calibri"/>
              </a:rPr>
              <a:t>Advice + Alert + Reminder</a:t>
            </a:r>
          </a:p>
        </p:txBody>
      </p:sp>
      <p:sp>
        <p:nvSpPr>
          <p:cNvPr id="91" name="TextBox 90">
            <a:extLst>
              <a:ext uri="{FF2B5EF4-FFF2-40B4-BE49-F238E27FC236}">
                <a16:creationId xmlns:a16="http://schemas.microsoft.com/office/drawing/2014/main" xmlns="" id="{3D2A7547-724C-E648-3E49-A4C7CC4433CE}"/>
              </a:ext>
            </a:extLst>
          </p:cNvPr>
          <p:cNvSpPr txBox="1"/>
          <p:nvPr/>
        </p:nvSpPr>
        <p:spPr>
          <a:xfrm>
            <a:off x="5982364" y="4280305"/>
            <a:ext cx="13445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ea typeface="Calibri"/>
                <a:cs typeface="Calibri"/>
              </a:rPr>
              <a:t>Veterinarians Follow Up</a:t>
            </a:r>
          </a:p>
        </p:txBody>
      </p:sp>
      <p:sp>
        <p:nvSpPr>
          <p:cNvPr id="93" name="TextBox 92">
            <a:extLst>
              <a:ext uri="{FF2B5EF4-FFF2-40B4-BE49-F238E27FC236}">
                <a16:creationId xmlns:a16="http://schemas.microsoft.com/office/drawing/2014/main" xmlns="" id="{475DAFE5-3010-8F0D-2972-098E7B92A1D9}"/>
              </a:ext>
            </a:extLst>
          </p:cNvPr>
          <p:cNvSpPr txBox="1"/>
          <p:nvPr/>
        </p:nvSpPr>
        <p:spPr>
          <a:xfrm>
            <a:off x="404223" y="4892448"/>
            <a:ext cx="55737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501E"/>
                </a:solidFill>
                <a:ea typeface="Calibri"/>
                <a:cs typeface="Calibri"/>
              </a:rPr>
              <a:t>INNOVATION AND UNIQUENESS OF THE SOLUTION</a:t>
            </a:r>
          </a:p>
        </p:txBody>
      </p:sp>
      <p:sp>
        <p:nvSpPr>
          <p:cNvPr id="94" name="TextBox 93">
            <a:extLst>
              <a:ext uri="{FF2B5EF4-FFF2-40B4-BE49-F238E27FC236}">
                <a16:creationId xmlns:a16="http://schemas.microsoft.com/office/drawing/2014/main" xmlns="" id="{4F3443C0-827E-520D-B1AD-AFF17E2E1E18}"/>
              </a:ext>
            </a:extLst>
          </p:cNvPr>
          <p:cNvSpPr txBox="1"/>
          <p:nvPr/>
        </p:nvSpPr>
        <p:spPr>
          <a:xfrm>
            <a:off x="102298" y="5179994"/>
            <a:ext cx="3244581" cy="1441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500" b="1" dirty="0">
                <a:solidFill>
                  <a:schemeClr val="tx2">
                    <a:lumMod val="76000"/>
                  </a:schemeClr>
                </a:solidFill>
                <a:ea typeface="Calibri"/>
                <a:cs typeface="Calibri"/>
              </a:rPr>
              <a:t>Multi-Model AI</a:t>
            </a:r>
            <a:endParaRPr lang="en-US">
              <a:solidFill>
                <a:schemeClr val="tx2">
                  <a:lumMod val="76000"/>
                </a:schemeClr>
              </a:solidFill>
              <a:ea typeface="Calibri"/>
              <a:cs typeface="Calibri"/>
            </a:endParaRPr>
          </a:p>
          <a:p>
            <a:pPr marL="285750" indent="-285750">
              <a:lnSpc>
                <a:spcPct val="150000"/>
              </a:lnSpc>
              <a:buFont typeface="Arial"/>
              <a:buChar char="•"/>
            </a:pPr>
            <a:r>
              <a:rPr lang="en-US" sz="1500" b="1" dirty="0">
                <a:solidFill>
                  <a:schemeClr val="tx2">
                    <a:lumMod val="76000"/>
                  </a:schemeClr>
                </a:solidFill>
                <a:ea typeface="Calibri"/>
                <a:cs typeface="Calibri"/>
              </a:rPr>
              <a:t>Individual --&gt; Herd Intelligence</a:t>
            </a:r>
          </a:p>
          <a:p>
            <a:pPr marL="285750" indent="-285750">
              <a:lnSpc>
                <a:spcPct val="150000"/>
              </a:lnSpc>
              <a:buFont typeface="Arial"/>
              <a:buChar char="•"/>
            </a:pPr>
            <a:r>
              <a:rPr lang="en-US" sz="1500" b="1" dirty="0">
                <a:solidFill>
                  <a:schemeClr val="tx2">
                    <a:lumMod val="76000"/>
                  </a:schemeClr>
                </a:solidFill>
                <a:ea typeface="Calibri"/>
                <a:cs typeface="Calibri"/>
              </a:rPr>
              <a:t>Farmer + Veterinarians Workflow</a:t>
            </a:r>
          </a:p>
          <a:p>
            <a:pPr marL="285750" indent="-285750">
              <a:lnSpc>
                <a:spcPct val="150000"/>
              </a:lnSpc>
              <a:buFont typeface="Arial"/>
              <a:buChar char="•"/>
            </a:pPr>
            <a:r>
              <a:rPr lang="en-US" sz="1500" b="1" dirty="0">
                <a:solidFill>
                  <a:schemeClr val="tx2">
                    <a:lumMod val="76000"/>
                  </a:schemeClr>
                </a:solidFill>
                <a:ea typeface="Calibri"/>
                <a:cs typeface="Calibri"/>
              </a:rPr>
              <a:t>Regional Language Assistant</a:t>
            </a:r>
          </a:p>
        </p:txBody>
      </p:sp>
      <p:sp>
        <p:nvSpPr>
          <p:cNvPr id="96" name="TextBox 95">
            <a:extLst>
              <a:ext uri="{FF2B5EF4-FFF2-40B4-BE49-F238E27FC236}">
                <a16:creationId xmlns:a16="http://schemas.microsoft.com/office/drawing/2014/main" xmlns="" id="{7228A1AE-C8B2-43C3-DFB4-9712D2477589}"/>
              </a:ext>
            </a:extLst>
          </p:cNvPr>
          <p:cNvSpPr txBox="1"/>
          <p:nvPr/>
        </p:nvSpPr>
        <p:spPr>
          <a:xfrm>
            <a:off x="3480977" y="6373317"/>
            <a:ext cx="279888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95000"/>
                    <a:lumOff val="5000"/>
                  </a:schemeClr>
                </a:solidFill>
                <a:ea typeface="Calibri"/>
                <a:cs typeface="Calibri"/>
              </a:rPr>
              <a:t>Voice/Chat interaction for easier farmer access.</a:t>
            </a:r>
            <a:endParaRPr lang="en-US"/>
          </a:p>
        </p:txBody>
      </p:sp>
      <p:sp>
        <p:nvSpPr>
          <p:cNvPr id="7" name="TextBox 6">
            <a:extLst>
              <a:ext uri="{FF2B5EF4-FFF2-40B4-BE49-F238E27FC236}">
                <a16:creationId xmlns:a16="http://schemas.microsoft.com/office/drawing/2014/main" xmlns="" id="{D22C967B-4944-15C9-61CE-7A97928FEE60}"/>
              </a:ext>
            </a:extLst>
          </p:cNvPr>
          <p:cNvSpPr txBox="1"/>
          <p:nvPr/>
        </p:nvSpPr>
        <p:spPr>
          <a:xfrm>
            <a:off x="3495081" y="5315473"/>
            <a:ext cx="295482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95000"/>
                    <a:lumOff val="5000"/>
                  </a:schemeClr>
                </a:solidFill>
                <a:ea typeface="Calibri"/>
                <a:cs typeface="Calibri"/>
              </a:rPr>
              <a:t>Symptoms + Image + History for a richer assessment.</a:t>
            </a:r>
            <a:endParaRPr lang="en-US" sz="1000">
              <a:ea typeface="Calibri"/>
              <a:cs typeface="Calibri"/>
            </a:endParaRPr>
          </a:p>
        </p:txBody>
      </p:sp>
      <p:sp>
        <p:nvSpPr>
          <p:cNvPr id="8" name="TextBox 7">
            <a:extLst>
              <a:ext uri="{FF2B5EF4-FFF2-40B4-BE49-F238E27FC236}">
                <a16:creationId xmlns:a16="http://schemas.microsoft.com/office/drawing/2014/main" xmlns="" id="{94CFE9C0-201A-3600-B149-AFFA81C90679}"/>
              </a:ext>
            </a:extLst>
          </p:cNvPr>
          <p:cNvSpPr txBox="1"/>
          <p:nvPr/>
        </p:nvSpPr>
        <p:spPr>
          <a:xfrm>
            <a:off x="3480703" y="5660530"/>
            <a:ext cx="383184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tx1">
                    <a:lumMod val="95000"/>
                    <a:lumOff val="5000"/>
                  </a:schemeClr>
                </a:solidFill>
                <a:ea typeface="Calibri"/>
                <a:cs typeface="Calibri"/>
              </a:rPr>
              <a:t>Animals-level data can reveal herd patterns and early outbreak signals.</a:t>
            </a:r>
          </a:p>
        </p:txBody>
      </p:sp>
      <p:sp>
        <p:nvSpPr>
          <p:cNvPr id="9" name="TextBox 8">
            <a:extLst>
              <a:ext uri="{FF2B5EF4-FFF2-40B4-BE49-F238E27FC236}">
                <a16:creationId xmlns:a16="http://schemas.microsoft.com/office/drawing/2014/main" xmlns="" id="{98F74065-B0AE-85B3-08B2-56D0A6F2FB85}"/>
              </a:ext>
            </a:extLst>
          </p:cNvPr>
          <p:cNvSpPr txBox="1"/>
          <p:nvPr/>
        </p:nvSpPr>
        <p:spPr>
          <a:xfrm>
            <a:off x="3480702" y="6005588"/>
            <a:ext cx="352991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tx1">
                    <a:lumMod val="95000"/>
                    <a:lumOff val="5000"/>
                  </a:schemeClr>
                </a:solidFill>
                <a:ea typeface="Calibri"/>
                <a:cs typeface="Calibri"/>
              </a:rPr>
              <a:t>AI-Assisted assessment connects to consultation and follow-up.</a:t>
            </a:r>
            <a:endParaRPr lang="en-US" sz="1000" dirty="0">
              <a:ea typeface="Calibri"/>
              <a:cs typeface="Calibri"/>
            </a:endParaRPr>
          </a:p>
        </p:txBody>
      </p:sp>
      <p:sp>
        <p:nvSpPr>
          <p:cNvPr id="11" name="Freeform 4">
            <a:extLst>
              <a:ext uri="{FF2B5EF4-FFF2-40B4-BE49-F238E27FC236}">
                <a16:creationId xmlns:a16="http://schemas.microsoft.com/office/drawing/2014/main" xmlns="" id="{B0E33A11-2136-7D31-B7AD-0519671909F3}"/>
              </a:ext>
            </a:extLst>
          </p:cNvPr>
          <p:cNvSpPr/>
          <p:nvPr/>
        </p:nvSpPr>
        <p:spPr>
          <a:xfrm>
            <a:off x="66495" y="76380"/>
            <a:ext cx="1105962" cy="1195900"/>
          </a:xfrm>
          <a:custGeom>
            <a:avLst/>
            <a:gdLst/>
            <a:ahLst/>
            <a:cxnLst/>
            <a:rect l="l" t="t" r="r" b="b"/>
            <a:pathLst>
              <a:path w="1105962" h="1195900">
                <a:moveTo>
                  <a:pt x="0" y="0"/>
                </a:moveTo>
                <a:lnTo>
                  <a:pt x="1105962" y="0"/>
                </a:lnTo>
                <a:lnTo>
                  <a:pt x="1105962" y="1195900"/>
                </a:lnTo>
                <a:lnTo>
                  <a:pt x="0" y="1195900"/>
                </a:lnTo>
                <a:lnTo>
                  <a:pt x="0" y="0"/>
                </a:lnTo>
                <a:close/>
              </a:path>
            </a:pathLst>
          </a:custGeom>
          <a:blipFill>
            <a:blip r:embed="rId11"/>
            <a:stretch>
              <a:fillRect l="-4066" r="-4066"/>
            </a:stretch>
          </a:blipFill>
        </p:spPr>
      </p:sp>
      <p:cxnSp>
        <p:nvCxnSpPr>
          <p:cNvPr id="12" name="Straight Arrow Connector 11">
            <a:extLst>
              <a:ext uri="{FF2B5EF4-FFF2-40B4-BE49-F238E27FC236}">
                <a16:creationId xmlns:a16="http://schemas.microsoft.com/office/drawing/2014/main" xmlns="" id="{476E3E09-446C-B2E7-EC91-7E9819314677}"/>
              </a:ext>
            </a:extLst>
          </p:cNvPr>
          <p:cNvCxnSpPr>
            <a:cxnSpLocks/>
          </p:cNvCxnSpPr>
          <p:nvPr/>
        </p:nvCxnSpPr>
        <p:spPr>
          <a:xfrm>
            <a:off x="3125968" y="6128345"/>
            <a:ext cx="444314"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xmlns="" id="{44717FCD-22CF-1170-BF6D-3BFD9B22F90E}"/>
              </a:ext>
            </a:extLst>
          </p:cNvPr>
          <p:cNvCxnSpPr>
            <a:cxnSpLocks/>
          </p:cNvCxnSpPr>
          <p:nvPr/>
        </p:nvCxnSpPr>
        <p:spPr>
          <a:xfrm>
            <a:off x="3097213" y="6487779"/>
            <a:ext cx="444314"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xmlns="" id="{C31F8C89-B662-8478-EB2F-5C3F3C8A9886}"/>
              </a:ext>
            </a:extLst>
          </p:cNvPr>
          <p:cNvCxnSpPr>
            <a:cxnSpLocks/>
          </p:cNvCxnSpPr>
          <p:nvPr/>
        </p:nvCxnSpPr>
        <p:spPr>
          <a:xfrm>
            <a:off x="3097214" y="5797666"/>
            <a:ext cx="444314"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xmlns="" id="{8BDE4359-60CA-304B-9224-F2E12D8B588C}"/>
              </a:ext>
            </a:extLst>
          </p:cNvPr>
          <p:cNvCxnSpPr>
            <a:cxnSpLocks/>
          </p:cNvCxnSpPr>
          <p:nvPr/>
        </p:nvCxnSpPr>
        <p:spPr>
          <a:xfrm>
            <a:off x="3097213" y="5438231"/>
            <a:ext cx="444314"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xmlns="" id="{E3337E79-A79B-56C3-CBF2-ED989176646D}"/>
              </a:ext>
            </a:extLst>
          </p:cNvPr>
          <p:cNvCxnSpPr>
            <a:cxnSpLocks/>
          </p:cNvCxnSpPr>
          <p:nvPr/>
        </p:nvCxnSpPr>
        <p:spPr>
          <a:xfrm>
            <a:off x="1113137" y="3511666"/>
            <a:ext cx="659975"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xmlns="" id="{93AC5C71-3A49-F5BF-AA6C-3D2AF6C956BD}"/>
              </a:ext>
            </a:extLst>
          </p:cNvPr>
          <p:cNvCxnSpPr>
            <a:cxnSpLocks/>
          </p:cNvCxnSpPr>
          <p:nvPr/>
        </p:nvCxnSpPr>
        <p:spPr>
          <a:xfrm>
            <a:off x="2594004" y="3511665"/>
            <a:ext cx="659975"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xmlns="" id="{F76B2B2D-1D63-9889-C1AC-A6B0DBB8F00B}"/>
              </a:ext>
            </a:extLst>
          </p:cNvPr>
          <p:cNvCxnSpPr>
            <a:cxnSpLocks/>
          </p:cNvCxnSpPr>
          <p:nvPr/>
        </p:nvCxnSpPr>
        <p:spPr>
          <a:xfrm>
            <a:off x="4074872" y="3511666"/>
            <a:ext cx="659975"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xmlns="" id="{7FC09AE1-2AF8-A0DF-BABB-82D26F2FFD2A}"/>
              </a:ext>
            </a:extLst>
          </p:cNvPr>
          <p:cNvCxnSpPr>
            <a:cxnSpLocks/>
          </p:cNvCxnSpPr>
          <p:nvPr/>
        </p:nvCxnSpPr>
        <p:spPr>
          <a:xfrm>
            <a:off x="5555740" y="3511665"/>
            <a:ext cx="659975" cy="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61555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xmlns="" id="{1C7BEB3E-A795-A406-1113-5EA8C53D53B2}"/>
              </a:ext>
            </a:extLst>
          </p:cNvPr>
          <p:cNvSpPr/>
          <p:nvPr/>
        </p:nvSpPr>
        <p:spPr>
          <a:xfrm>
            <a:off x="800983" y="1477273"/>
            <a:ext cx="3207810" cy="4072387"/>
          </a:xfrm>
          <a:prstGeom prst="roundRect">
            <a:avLst/>
          </a:prstGeom>
          <a:solidFill>
            <a:schemeClr val="accent1">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xmlns="" id="{A21375F0-7502-263A-D910-71401D48D853}"/>
              </a:ext>
            </a:extLst>
          </p:cNvPr>
          <p:cNvSpPr/>
          <p:nvPr/>
        </p:nvSpPr>
        <p:spPr>
          <a:xfrm>
            <a:off x="7788380" y="1477271"/>
            <a:ext cx="3624753" cy="4072387"/>
          </a:xfrm>
          <a:prstGeom prst="round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xmlns="" id="{15060CBA-9C89-20CA-0ED4-D2FD505A5357}"/>
              </a:ext>
            </a:extLst>
          </p:cNvPr>
          <p:cNvSpPr/>
          <p:nvPr/>
        </p:nvSpPr>
        <p:spPr>
          <a:xfrm>
            <a:off x="8010120" y="4537713"/>
            <a:ext cx="3181540" cy="68430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xmlns="" id="{16904922-A102-CB92-598F-451D3AEFCB5B}"/>
              </a:ext>
            </a:extLst>
          </p:cNvPr>
          <p:cNvSpPr/>
          <p:nvPr/>
        </p:nvSpPr>
        <p:spPr>
          <a:xfrm>
            <a:off x="8010119" y="4020125"/>
            <a:ext cx="3181541" cy="4111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xmlns="" id="{01C3CCB5-4596-193F-C482-6BE2C397FE0B}"/>
              </a:ext>
            </a:extLst>
          </p:cNvPr>
          <p:cNvSpPr/>
          <p:nvPr/>
        </p:nvSpPr>
        <p:spPr>
          <a:xfrm>
            <a:off x="8010120" y="3516918"/>
            <a:ext cx="3181542" cy="41113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xmlns="" id="{04F18A83-BF23-20D5-E555-EFAE28EC3C52}"/>
              </a:ext>
            </a:extLst>
          </p:cNvPr>
          <p:cNvSpPr/>
          <p:nvPr/>
        </p:nvSpPr>
        <p:spPr>
          <a:xfrm>
            <a:off x="8010119" y="2927447"/>
            <a:ext cx="3181541" cy="46864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xmlns="" id="{61723F02-D94A-CF31-88B5-0F41251B3D5C}"/>
              </a:ext>
            </a:extLst>
          </p:cNvPr>
          <p:cNvSpPr/>
          <p:nvPr/>
        </p:nvSpPr>
        <p:spPr>
          <a:xfrm>
            <a:off x="8010120" y="2409863"/>
            <a:ext cx="3181541" cy="42551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xmlns="" id="{752CAB08-699C-0558-4981-361D90032CAA}"/>
              </a:ext>
            </a:extLst>
          </p:cNvPr>
          <p:cNvSpPr/>
          <p:nvPr/>
        </p:nvSpPr>
        <p:spPr>
          <a:xfrm>
            <a:off x="4294684" y="1477272"/>
            <a:ext cx="3207810" cy="4072387"/>
          </a:xfrm>
          <a:prstGeom prst="roundRect">
            <a:avLst/>
          </a:prstGeom>
          <a:solidFill>
            <a:schemeClr val="accent2">
              <a:lumMod val="20000"/>
              <a:lumOff val="80000"/>
            </a:schemeClr>
          </a:solidFill>
          <a:ln>
            <a:solidFill>
              <a:srgbClr val="C221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xmlns="" id="{C19ECA5C-3BAC-1B2D-E601-DB17C127362A}"/>
              </a:ext>
            </a:extLst>
          </p:cNvPr>
          <p:cNvSpPr/>
          <p:nvPr/>
        </p:nvSpPr>
        <p:spPr>
          <a:xfrm>
            <a:off x="4559556" y="4652730"/>
            <a:ext cx="2678334" cy="58366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xmlns="" id="{431D9838-FCE0-A200-5953-B13FF8B31E59}"/>
              </a:ext>
            </a:extLst>
          </p:cNvPr>
          <p:cNvSpPr/>
          <p:nvPr/>
        </p:nvSpPr>
        <p:spPr>
          <a:xfrm>
            <a:off x="4559555" y="4106393"/>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xmlns="" id="{C325C664-F4C4-35C1-6BE7-9CC4DB64D342}"/>
              </a:ext>
            </a:extLst>
          </p:cNvPr>
          <p:cNvSpPr/>
          <p:nvPr/>
        </p:nvSpPr>
        <p:spPr>
          <a:xfrm>
            <a:off x="4559556" y="3560053"/>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xmlns="" id="{AF9375FF-38E1-00AA-46DA-9CA86AA58312}"/>
              </a:ext>
            </a:extLst>
          </p:cNvPr>
          <p:cNvSpPr/>
          <p:nvPr/>
        </p:nvSpPr>
        <p:spPr>
          <a:xfrm>
            <a:off x="4559555" y="3013713"/>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xmlns="" id="{2867C97F-76C3-0686-8FBE-C4A932BBCBE9}"/>
              </a:ext>
            </a:extLst>
          </p:cNvPr>
          <p:cNvSpPr/>
          <p:nvPr/>
        </p:nvSpPr>
        <p:spPr>
          <a:xfrm>
            <a:off x="4559556" y="2467374"/>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xmlns="" id="{C4720035-8970-8895-0B57-A3EEC6CE252B}"/>
              </a:ext>
            </a:extLst>
          </p:cNvPr>
          <p:cNvSpPr/>
          <p:nvPr/>
        </p:nvSpPr>
        <p:spPr>
          <a:xfrm>
            <a:off x="1065860" y="4810884"/>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xmlns="" id="{3BCF22F0-FB51-7740-157C-6D3A92F45A35}"/>
              </a:ext>
            </a:extLst>
          </p:cNvPr>
          <p:cNvSpPr/>
          <p:nvPr/>
        </p:nvSpPr>
        <p:spPr>
          <a:xfrm>
            <a:off x="1065859" y="4106392"/>
            <a:ext cx="2678334" cy="62679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xmlns="" id="{A3633B2F-3AEB-A03E-56B1-A2F8A1FF7816}"/>
              </a:ext>
            </a:extLst>
          </p:cNvPr>
          <p:cNvSpPr/>
          <p:nvPr/>
        </p:nvSpPr>
        <p:spPr>
          <a:xfrm>
            <a:off x="1065860" y="3574431"/>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xmlns="" id="{02C42848-A865-320E-B628-2641AF64A114}"/>
              </a:ext>
            </a:extLst>
          </p:cNvPr>
          <p:cNvSpPr/>
          <p:nvPr/>
        </p:nvSpPr>
        <p:spPr>
          <a:xfrm>
            <a:off x="1065859" y="3028091"/>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xmlns="" id="{3993FB7D-D677-0C1D-D2F0-120172FEF3D5}"/>
              </a:ext>
            </a:extLst>
          </p:cNvPr>
          <p:cNvSpPr/>
          <p:nvPr/>
        </p:nvSpPr>
        <p:spPr>
          <a:xfrm>
            <a:off x="1065860" y="2481752"/>
            <a:ext cx="2678334" cy="45426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xmlns="" id="{96F31C6C-6090-9223-41FF-73D548596085}"/>
              </a:ext>
            </a:extLst>
          </p:cNvPr>
          <p:cNvSpPr txBox="1"/>
          <p:nvPr/>
        </p:nvSpPr>
        <p:spPr>
          <a:xfrm>
            <a:off x="1725284" y="2465718"/>
            <a:ext cx="1797172"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500" b="1">
                <a:solidFill>
                  <a:srgbClr val="18375F"/>
                </a:solidFill>
                <a:latin typeface="Calibri"/>
                <a:ea typeface="Segoe UI"/>
                <a:cs typeface="Segoe UI"/>
              </a:rPr>
              <a:t>Technical</a:t>
            </a:r>
            <a:endParaRPr lang="en-US" sz="1500" b="1" i="0">
              <a:solidFill>
                <a:srgbClr val="18375F"/>
              </a:solidFill>
              <a:latin typeface="Calibri"/>
              <a:ea typeface="Segoe UI"/>
              <a:cs typeface="Segoe UI"/>
            </a:endParaRPr>
          </a:p>
          <a:p>
            <a:r>
              <a:rPr lang="en-US" sz="1000">
                <a:solidFill>
                  <a:schemeClr val="tx2">
                    <a:lumMod val="76000"/>
                  </a:schemeClr>
                </a:solidFill>
                <a:cs typeface="Segoe UI"/>
              </a:rPr>
              <a:t>Tech available &amp; cost-effective</a:t>
            </a:r>
            <a:endParaRPr lang="en-US" sz="1000">
              <a:solidFill>
                <a:schemeClr val="tx2">
                  <a:lumMod val="76000"/>
                </a:schemeClr>
              </a:solidFill>
              <a:ea typeface="Calibri"/>
              <a:cs typeface="Segoe UI"/>
            </a:endParaRPr>
          </a:p>
        </p:txBody>
      </p:sp>
      <p:sp>
        <p:nvSpPr>
          <p:cNvPr id="17" name="TextBox 16">
            <a:extLst>
              <a:ext uri="{FF2B5EF4-FFF2-40B4-BE49-F238E27FC236}">
                <a16:creationId xmlns:a16="http://schemas.microsoft.com/office/drawing/2014/main" xmlns="" id="{C8F822FA-2A17-725B-6629-229668D352C5}"/>
              </a:ext>
            </a:extLst>
          </p:cNvPr>
          <p:cNvSpPr txBox="1"/>
          <p:nvPr/>
        </p:nvSpPr>
        <p:spPr>
          <a:xfrm>
            <a:off x="1725284" y="2997680"/>
            <a:ext cx="161026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500" b="1">
                <a:solidFill>
                  <a:srgbClr val="18375F"/>
                </a:solidFill>
                <a:latin typeface="Calibri"/>
                <a:ea typeface="Segoe UI"/>
                <a:cs typeface="Segoe UI"/>
              </a:rPr>
              <a:t>Operational</a:t>
            </a:r>
            <a:endParaRPr lang="en-US" sz="1500" b="1" i="0">
              <a:solidFill>
                <a:srgbClr val="18375F"/>
              </a:solidFill>
              <a:latin typeface="Calibri"/>
              <a:ea typeface="Segoe UI"/>
              <a:cs typeface="Segoe UI"/>
            </a:endParaRPr>
          </a:p>
          <a:p>
            <a:r>
              <a:rPr lang="en-US" sz="1000">
                <a:solidFill>
                  <a:schemeClr val="tx2">
                    <a:lumMod val="76000"/>
                  </a:schemeClr>
                </a:solidFill>
                <a:ea typeface="Calibri"/>
                <a:cs typeface="Segoe UI"/>
              </a:rPr>
              <a:t>Easy to use(Farmer &amp; vets)</a:t>
            </a:r>
          </a:p>
        </p:txBody>
      </p:sp>
      <p:sp>
        <p:nvSpPr>
          <p:cNvPr id="19" name="TextBox 18">
            <a:extLst>
              <a:ext uri="{FF2B5EF4-FFF2-40B4-BE49-F238E27FC236}">
                <a16:creationId xmlns:a16="http://schemas.microsoft.com/office/drawing/2014/main" xmlns="" id="{78F882DC-F3B7-0DF8-9C88-5560307208AC}"/>
              </a:ext>
            </a:extLst>
          </p:cNvPr>
          <p:cNvSpPr txBox="1"/>
          <p:nvPr/>
        </p:nvSpPr>
        <p:spPr>
          <a:xfrm>
            <a:off x="1725283" y="4090358"/>
            <a:ext cx="1480870"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tx2">
                    <a:lumMod val="76000"/>
                  </a:schemeClr>
                </a:solidFill>
                <a:latin typeface="Calibri"/>
                <a:ea typeface="Calibri"/>
                <a:cs typeface="Segoe UI"/>
              </a:rPr>
              <a:t>Legal</a:t>
            </a:r>
          </a:p>
          <a:p>
            <a:r>
              <a:rPr lang="en-US" sz="1000">
                <a:solidFill>
                  <a:schemeClr val="tx2">
                    <a:lumMod val="76000"/>
                  </a:schemeClr>
                </a:solidFill>
                <a:latin typeface="Calibri"/>
                <a:ea typeface="Calibri"/>
                <a:cs typeface="Segoe UI"/>
              </a:rPr>
              <a:t>Compliant</a:t>
            </a:r>
            <a:r>
              <a:rPr lang="en-US" sz="1000">
                <a:solidFill>
                  <a:schemeClr val="tx2">
                    <a:lumMod val="76000"/>
                  </a:schemeClr>
                </a:solidFill>
                <a:ea typeface="Calibri"/>
                <a:cs typeface="Segoe UI"/>
              </a:rPr>
              <a:t> with data &amp; </a:t>
            </a:r>
            <a:endParaRPr lang="en-US" sz="1000">
              <a:solidFill>
                <a:schemeClr val="tx2">
                  <a:lumMod val="76000"/>
                </a:schemeClr>
              </a:solidFill>
              <a:ea typeface="Calibri"/>
              <a:cs typeface="Calibri"/>
            </a:endParaRPr>
          </a:p>
          <a:p>
            <a:pPr algn="l"/>
            <a:r>
              <a:rPr lang="en-US" sz="1000">
                <a:solidFill>
                  <a:schemeClr val="tx2">
                    <a:lumMod val="76000"/>
                  </a:schemeClr>
                </a:solidFill>
                <a:ea typeface="Calibri"/>
                <a:cs typeface="Segoe UI"/>
              </a:rPr>
              <a:t>animal welfare norms</a:t>
            </a:r>
            <a:endParaRPr lang="en-US" sz="1000">
              <a:solidFill>
                <a:schemeClr val="tx2">
                  <a:lumMod val="76000"/>
                </a:schemeClr>
              </a:solidFill>
              <a:ea typeface="Calibri"/>
              <a:cs typeface="Calibri"/>
            </a:endParaRPr>
          </a:p>
        </p:txBody>
      </p:sp>
      <p:sp>
        <p:nvSpPr>
          <p:cNvPr id="20" name="TextBox 19">
            <a:extLst>
              <a:ext uri="{FF2B5EF4-FFF2-40B4-BE49-F238E27FC236}">
                <a16:creationId xmlns:a16="http://schemas.microsoft.com/office/drawing/2014/main" xmlns="" id="{7E45BE53-38E3-9C2C-8AA7-664B1C9B5F5E}"/>
              </a:ext>
            </a:extLst>
          </p:cNvPr>
          <p:cNvSpPr txBox="1"/>
          <p:nvPr/>
        </p:nvSpPr>
        <p:spPr>
          <a:xfrm>
            <a:off x="1710906" y="4794849"/>
            <a:ext cx="2156604"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500" b="1">
                <a:solidFill>
                  <a:srgbClr val="18375F"/>
                </a:solidFill>
                <a:latin typeface="Calibri"/>
                <a:ea typeface="Segoe UI"/>
                <a:cs typeface="Segoe UI"/>
              </a:rPr>
              <a:t>Schedule</a:t>
            </a:r>
            <a:endParaRPr lang="en-US" sz="1500" b="1" i="0">
              <a:solidFill>
                <a:srgbClr val="18375F"/>
              </a:solidFill>
              <a:latin typeface="Calibri"/>
              <a:ea typeface="Segoe UI"/>
              <a:cs typeface="Segoe UI"/>
            </a:endParaRPr>
          </a:p>
          <a:p>
            <a:r>
              <a:rPr lang="en-US" sz="1000">
                <a:solidFill>
                  <a:schemeClr val="tx2">
                    <a:lumMod val="76000"/>
                  </a:schemeClr>
                </a:solidFill>
                <a:ea typeface="Calibri"/>
                <a:cs typeface="Segoe UI"/>
              </a:rPr>
              <a:t>MVP ready in hackathon timeline</a:t>
            </a:r>
          </a:p>
        </p:txBody>
      </p:sp>
      <p:sp>
        <p:nvSpPr>
          <p:cNvPr id="21" name="TextBox 20">
            <a:extLst>
              <a:ext uri="{FF2B5EF4-FFF2-40B4-BE49-F238E27FC236}">
                <a16:creationId xmlns:a16="http://schemas.microsoft.com/office/drawing/2014/main" xmlns="" id="{271F2321-8CCB-10BE-2CD8-46B751DD9380}"/>
              </a:ext>
            </a:extLst>
          </p:cNvPr>
          <p:cNvSpPr txBox="1"/>
          <p:nvPr/>
        </p:nvSpPr>
        <p:spPr>
          <a:xfrm>
            <a:off x="1725283" y="3558395"/>
            <a:ext cx="1408983"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500" b="1">
                <a:solidFill>
                  <a:srgbClr val="18375F"/>
                </a:solidFill>
                <a:latin typeface="Calibri"/>
                <a:ea typeface="Segoe UI"/>
                <a:cs typeface="Segoe UI"/>
              </a:rPr>
              <a:t>Economic</a:t>
            </a:r>
            <a:endParaRPr lang="en-US" sz="1500" b="1" i="0">
              <a:solidFill>
                <a:srgbClr val="18375F"/>
              </a:solidFill>
              <a:latin typeface="Calibri"/>
              <a:ea typeface="Segoe UI"/>
              <a:cs typeface="Segoe UI"/>
            </a:endParaRPr>
          </a:p>
          <a:p>
            <a:r>
              <a:rPr lang="en-US" sz="1000">
                <a:solidFill>
                  <a:schemeClr val="tx2">
                    <a:lumMod val="76000"/>
                  </a:schemeClr>
                </a:solidFill>
                <a:ea typeface="Calibri"/>
                <a:cs typeface="Segoe UI"/>
              </a:rPr>
              <a:t>Low cost, open-source</a:t>
            </a:r>
          </a:p>
        </p:txBody>
      </p:sp>
      <p:sp>
        <p:nvSpPr>
          <p:cNvPr id="2" name="Rectangle: Rounded Corners 1">
            <a:extLst>
              <a:ext uri="{FF2B5EF4-FFF2-40B4-BE49-F238E27FC236}">
                <a16:creationId xmlns:a16="http://schemas.microsoft.com/office/drawing/2014/main" xmlns="" id="{B82116DE-E6DA-A32C-E2F5-9151EFDA0EB1}"/>
              </a:ext>
            </a:extLst>
          </p:cNvPr>
          <p:cNvSpPr/>
          <p:nvPr/>
        </p:nvSpPr>
        <p:spPr>
          <a:xfrm>
            <a:off x="2138078" y="82669"/>
            <a:ext cx="7391621" cy="981256"/>
          </a:xfrm>
          <a:prstGeom prst="roundRect">
            <a:avLst/>
          </a:prstGeom>
          <a:solidFill>
            <a:schemeClr val="tx2">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E40D2438-2340-8F0F-2B03-C4F40D6E9672}"/>
              </a:ext>
            </a:extLst>
          </p:cNvPr>
          <p:cNvSpPr txBox="1"/>
          <p:nvPr/>
        </p:nvSpPr>
        <p:spPr>
          <a:xfrm>
            <a:off x="3437849" y="4147"/>
            <a:ext cx="478295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chemeClr val="tx2">
                    <a:lumMod val="76000"/>
                  </a:schemeClr>
                </a:solidFill>
                <a:ea typeface="Calibri"/>
                <a:cs typeface="Calibri"/>
              </a:rPr>
              <a:t>FEASIBILITY ANALYSIS</a:t>
            </a:r>
          </a:p>
        </p:txBody>
      </p:sp>
      <p:sp>
        <p:nvSpPr>
          <p:cNvPr id="11" name="TextBox 10">
            <a:extLst>
              <a:ext uri="{FF2B5EF4-FFF2-40B4-BE49-F238E27FC236}">
                <a16:creationId xmlns:a16="http://schemas.microsoft.com/office/drawing/2014/main" xmlns="" id="{778D3E61-1EBC-CCBB-1B2E-3D35D03674E0}"/>
              </a:ext>
            </a:extLst>
          </p:cNvPr>
          <p:cNvSpPr txBox="1"/>
          <p:nvPr/>
        </p:nvSpPr>
        <p:spPr>
          <a:xfrm>
            <a:off x="2143886" y="507354"/>
            <a:ext cx="738525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ea typeface="Calibri"/>
                <a:cs typeface="Calibri"/>
              </a:rPr>
              <a:t>Can we build it? Is it practical and sustainable?</a:t>
            </a:r>
          </a:p>
        </p:txBody>
      </p:sp>
      <p:sp>
        <p:nvSpPr>
          <p:cNvPr id="15" name="TextBox 14">
            <a:extLst>
              <a:ext uri="{FF2B5EF4-FFF2-40B4-BE49-F238E27FC236}">
                <a16:creationId xmlns:a16="http://schemas.microsoft.com/office/drawing/2014/main" xmlns="" id="{FA413901-3CD0-D040-62A3-56E3249A532C}"/>
              </a:ext>
            </a:extLst>
          </p:cNvPr>
          <p:cNvSpPr txBox="1"/>
          <p:nvPr/>
        </p:nvSpPr>
        <p:spPr>
          <a:xfrm>
            <a:off x="1595886" y="1718093"/>
            <a:ext cx="1610265"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18375F"/>
                </a:solidFill>
                <a:latin typeface="Calibri"/>
              </a:rPr>
              <a:t>Feasibility</a:t>
            </a:r>
            <a:endParaRPr lang="en-US" sz="2000" b="1" dirty="0" err="1">
              <a:solidFill>
                <a:srgbClr val="18375F"/>
              </a:solidFill>
              <a:ea typeface="Calibri"/>
              <a:cs typeface="Calibri"/>
            </a:endParaRPr>
          </a:p>
          <a:p>
            <a:pPr algn="ctr"/>
            <a:r>
              <a:rPr lang="en-US" sz="1500" dirty="0">
                <a:solidFill>
                  <a:schemeClr val="tx2">
                    <a:lumMod val="76000"/>
                  </a:schemeClr>
                </a:solidFill>
                <a:ea typeface="Calibri"/>
                <a:cs typeface="Calibri"/>
              </a:rPr>
              <a:t>Can we build it?</a:t>
            </a:r>
          </a:p>
        </p:txBody>
      </p:sp>
      <p:sp>
        <p:nvSpPr>
          <p:cNvPr id="34" name="TextBox 33">
            <a:extLst>
              <a:ext uri="{FF2B5EF4-FFF2-40B4-BE49-F238E27FC236}">
                <a16:creationId xmlns:a16="http://schemas.microsoft.com/office/drawing/2014/main" xmlns="" id="{52978412-3DA5-EEBA-81B1-863FA9E09629}"/>
              </a:ext>
            </a:extLst>
          </p:cNvPr>
          <p:cNvSpPr txBox="1"/>
          <p:nvPr/>
        </p:nvSpPr>
        <p:spPr>
          <a:xfrm>
            <a:off x="5233361" y="2451340"/>
            <a:ext cx="1797172"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solidFill>
                  <a:srgbClr val="C00000"/>
                </a:solidFill>
                <a:latin typeface="Calibri"/>
                <a:ea typeface="Segoe UI"/>
                <a:cs typeface="Segoe UI"/>
              </a:rPr>
              <a:t>Limited Internet</a:t>
            </a:r>
            <a:endParaRPr lang="en-US" sz="1500" b="1" i="0" dirty="0">
              <a:solidFill>
                <a:srgbClr val="C00000"/>
              </a:solidFill>
              <a:latin typeface="Calibri"/>
              <a:ea typeface="Segoe UI"/>
              <a:cs typeface="Segoe UI"/>
            </a:endParaRPr>
          </a:p>
          <a:p>
            <a:r>
              <a:rPr lang="en-US" sz="1000" dirty="0">
                <a:solidFill>
                  <a:srgbClr val="C00000"/>
                </a:solidFill>
                <a:ea typeface="Calibri"/>
                <a:cs typeface="Segoe UI"/>
              </a:rPr>
              <a:t>Connectivity in rural areas</a:t>
            </a:r>
          </a:p>
        </p:txBody>
      </p:sp>
      <p:sp>
        <p:nvSpPr>
          <p:cNvPr id="35" name="TextBox 34">
            <a:extLst>
              <a:ext uri="{FF2B5EF4-FFF2-40B4-BE49-F238E27FC236}">
                <a16:creationId xmlns:a16="http://schemas.microsoft.com/office/drawing/2014/main" xmlns="" id="{C51D37B1-D3AC-7A84-5D36-69D512FC43F9}"/>
              </a:ext>
            </a:extLst>
          </p:cNvPr>
          <p:cNvSpPr txBox="1"/>
          <p:nvPr/>
        </p:nvSpPr>
        <p:spPr>
          <a:xfrm>
            <a:off x="5218984" y="2997679"/>
            <a:ext cx="1797171"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C00000"/>
                </a:solidFill>
                <a:latin typeface="Calibri"/>
                <a:ea typeface="Segoe UI"/>
                <a:cs typeface="Segoe UI"/>
              </a:rPr>
              <a:t>Data Quality</a:t>
            </a:r>
            <a:endParaRPr lang="en-US" sz="1500" b="1" i="0">
              <a:solidFill>
                <a:srgbClr val="C00000"/>
              </a:solidFill>
              <a:latin typeface="Calibri"/>
              <a:ea typeface="Segoe UI"/>
              <a:cs typeface="Segoe UI"/>
            </a:endParaRPr>
          </a:p>
          <a:p>
            <a:r>
              <a:rPr lang="en-US" sz="1000">
                <a:solidFill>
                  <a:srgbClr val="C00000"/>
                </a:solidFill>
                <a:ea typeface="Calibri"/>
                <a:cs typeface="Segoe UI"/>
              </a:rPr>
              <a:t>Insufficient or imbalanced data</a:t>
            </a:r>
          </a:p>
        </p:txBody>
      </p:sp>
      <p:sp>
        <p:nvSpPr>
          <p:cNvPr id="36" name="TextBox 35">
            <a:extLst>
              <a:ext uri="{FF2B5EF4-FFF2-40B4-BE49-F238E27FC236}">
                <a16:creationId xmlns:a16="http://schemas.microsoft.com/office/drawing/2014/main" xmlns="" id="{FC733873-53E3-44EC-CF04-D867F265DA87}"/>
              </a:ext>
            </a:extLst>
          </p:cNvPr>
          <p:cNvSpPr txBox="1"/>
          <p:nvPr/>
        </p:nvSpPr>
        <p:spPr>
          <a:xfrm>
            <a:off x="5218983" y="4090358"/>
            <a:ext cx="2156605"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C00000"/>
                </a:solidFill>
                <a:latin typeface="Calibri"/>
                <a:ea typeface="Calibri"/>
                <a:cs typeface="Segoe UI"/>
              </a:rPr>
              <a:t>Privacy &amp; Security</a:t>
            </a:r>
          </a:p>
          <a:p>
            <a:r>
              <a:rPr lang="en-US" sz="1000">
                <a:solidFill>
                  <a:srgbClr val="C00000"/>
                </a:solidFill>
                <a:ea typeface="Calibri"/>
                <a:cs typeface="Segoe UI"/>
              </a:rPr>
              <a:t>Risk of data breaches</a:t>
            </a:r>
          </a:p>
        </p:txBody>
      </p:sp>
      <p:sp>
        <p:nvSpPr>
          <p:cNvPr id="37" name="TextBox 36">
            <a:extLst>
              <a:ext uri="{FF2B5EF4-FFF2-40B4-BE49-F238E27FC236}">
                <a16:creationId xmlns:a16="http://schemas.microsoft.com/office/drawing/2014/main" xmlns="" id="{01081939-88C7-4E88-B683-35348DFFD287}"/>
              </a:ext>
            </a:extLst>
          </p:cNvPr>
          <p:cNvSpPr txBox="1"/>
          <p:nvPr/>
        </p:nvSpPr>
        <p:spPr>
          <a:xfrm>
            <a:off x="5218983" y="4622320"/>
            <a:ext cx="2156604"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C00000"/>
                </a:solidFill>
                <a:latin typeface="Calibri"/>
                <a:ea typeface="Segoe UI"/>
                <a:cs typeface="Segoe UI"/>
              </a:rPr>
              <a:t>Sensor Reliability</a:t>
            </a:r>
          </a:p>
          <a:p>
            <a:r>
              <a:rPr lang="en-US" sz="1000">
                <a:solidFill>
                  <a:srgbClr val="C00000"/>
                </a:solidFill>
                <a:latin typeface="Calibri"/>
                <a:ea typeface="Segoe UI"/>
                <a:cs typeface="Segoe UI"/>
              </a:rPr>
              <a:t>Sensors may fail in harsh </a:t>
            </a:r>
            <a:r>
              <a:rPr lang="en-US" sz="1000">
                <a:solidFill>
                  <a:srgbClr val="C22121"/>
                </a:solidFill>
                <a:latin typeface="Calibri"/>
                <a:ea typeface="Segoe UI"/>
                <a:cs typeface="Segoe UI"/>
              </a:rPr>
              <a:t>environments</a:t>
            </a:r>
          </a:p>
        </p:txBody>
      </p:sp>
      <p:sp>
        <p:nvSpPr>
          <p:cNvPr id="38" name="TextBox 37">
            <a:extLst>
              <a:ext uri="{FF2B5EF4-FFF2-40B4-BE49-F238E27FC236}">
                <a16:creationId xmlns:a16="http://schemas.microsoft.com/office/drawing/2014/main" xmlns="" id="{A6A072E6-2E25-118B-8860-421598041B7C}"/>
              </a:ext>
            </a:extLst>
          </p:cNvPr>
          <p:cNvSpPr txBox="1"/>
          <p:nvPr/>
        </p:nvSpPr>
        <p:spPr>
          <a:xfrm>
            <a:off x="5218983" y="3544017"/>
            <a:ext cx="204158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C00000"/>
                </a:solidFill>
                <a:latin typeface="Calibri"/>
                <a:ea typeface="Segoe UI"/>
                <a:cs typeface="Segoe UI"/>
              </a:rPr>
              <a:t>Low Adoption</a:t>
            </a:r>
            <a:endParaRPr lang="en-US" sz="1500" b="1" i="0">
              <a:solidFill>
                <a:srgbClr val="C00000"/>
              </a:solidFill>
              <a:latin typeface="Calibri"/>
              <a:ea typeface="Segoe UI"/>
              <a:cs typeface="Segoe UI"/>
            </a:endParaRPr>
          </a:p>
          <a:p>
            <a:r>
              <a:rPr lang="en-US" sz="1000">
                <a:solidFill>
                  <a:srgbClr val="C00000"/>
                </a:solidFill>
                <a:ea typeface="Calibri"/>
                <a:cs typeface="Segoe UI"/>
              </a:rPr>
              <a:t>Resistance by farmers &amp; vets</a:t>
            </a:r>
          </a:p>
        </p:txBody>
      </p:sp>
      <p:sp>
        <p:nvSpPr>
          <p:cNvPr id="39" name="TextBox 38">
            <a:extLst>
              <a:ext uri="{FF2B5EF4-FFF2-40B4-BE49-F238E27FC236}">
                <a16:creationId xmlns:a16="http://schemas.microsoft.com/office/drawing/2014/main" xmlns="" id="{D605325F-B562-BA06-FB9E-E0B4DDC849B9}"/>
              </a:ext>
            </a:extLst>
          </p:cNvPr>
          <p:cNvSpPr txBox="1"/>
          <p:nvPr/>
        </p:nvSpPr>
        <p:spPr>
          <a:xfrm>
            <a:off x="4816417" y="1718094"/>
            <a:ext cx="2156603"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ea typeface="Calibri"/>
                <a:cs typeface="Calibri"/>
              </a:rPr>
              <a:t>Challenges &amp; Risks</a:t>
            </a:r>
          </a:p>
          <a:p>
            <a:pPr algn="ctr"/>
            <a:r>
              <a:rPr lang="en-US" sz="1500">
                <a:solidFill>
                  <a:srgbClr val="C00000"/>
                </a:solidFill>
                <a:ea typeface="Calibri"/>
                <a:cs typeface="Calibri"/>
              </a:rPr>
              <a:t>What could go wrong?</a:t>
            </a:r>
          </a:p>
        </p:txBody>
      </p:sp>
      <p:sp>
        <p:nvSpPr>
          <p:cNvPr id="52" name="TextBox 51">
            <a:extLst>
              <a:ext uri="{FF2B5EF4-FFF2-40B4-BE49-F238E27FC236}">
                <a16:creationId xmlns:a16="http://schemas.microsoft.com/office/drawing/2014/main" xmlns="" id="{7B38BC9D-9EE5-1F8E-27C8-85351E95119E}"/>
              </a:ext>
            </a:extLst>
          </p:cNvPr>
          <p:cNvSpPr txBox="1"/>
          <p:nvPr/>
        </p:nvSpPr>
        <p:spPr>
          <a:xfrm>
            <a:off x="8683925" y="2365075"/>
            <a:ext cx="1797172"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accent3">
                    <a:lumMod val="49000"/>
                  </a:schemeClr>
                </a:solidFill>
                <a:latin typeface="Calibri"/>
                <a:ea typeface="Segoe UI"/>
                <a:cs typeface="Segoe UI"/>
              </a:rPr>
              <a:t>Offline-First App</a:t>
            </a:r>
            <a:endParaRPr lang="en-US" sz="1500" b="1" i="0">
              <a:solidFill>
                <a:schemeClr val="accent3">
                  <a:lumMod val="49000"/>
                </a:schemeClr>
              </a:solidFill>
              <a:latin typeface="Calibri"/>
              <a:ea typeface="Segoe UI"/>
              <a:cs typeface="Segoe UI"/>
            </a:endParaRPr>
          </a:p>
          <a:p>
            <a:r>
              <a:rPr lang="en-US" sz="1000">
                <a:solidFill>
                  <a:schemeClr val="accent3">
                    <a:lumMod val="49000"/>
                  </a:schemeClr>
                </a:solidFill>
                <a:ea typeface="Calibri"/>
                <a:cs typeface="Segoe UI"/>
              </a:rPr>
              <a:t>Works offline, syncs later</a:t>
            </a:r>
          </a:p>
        </p:txBody>
      </p:sp>
      <p:sp>
        <p:nvSpPr>
          <p:cNvPr id="53" name="TextBox 52">
            <a:extLst>
              <a:ext uri="{FF2B5EF4-FFF2-40B4-BE49-F238E27FC236}">
                <a16:creationId xmlns:a16="http://schemas.microsoft.com/office/drawing/2014/main" xmlns="" id="{B8178A14-BB9A-A80F-1F0C-22E08E7A224C}"/>
              </a:ext>
            </a:extLst>
          </p:cNvPr>
          <p:cNvSpPr txBox="1"/>
          <p:nvPr/>
        </p:nvSpPr>
        <p:spPr>
          <a:xfrm>
            <a:off x="8683925" y="2911412"/>
            <a:ext cx="2027209" cy="47705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accent3">
                    <a:lumMod val="49000"/>
                  </a:schemeClr>
                </a:solidFill>
                <a:latin typeface="Calibri"/>
                <a:ea typeface="Segoe UI"/>
                <a:cs typeface="Segoe UI"/>
              </a:rPr>
              <a:t>Better Data Collection</a:t>
            </a:r>
            <a:endParaRPr lang="en-US" sz="1500" b="1" i="0">
              <a:solidFill>
                <a:schemeClr val="accent3">
                  <a:lumMod val="49000"/>
                </a:schemeClr>
              </a:solidFill>
              <a:latin typeface="Calibri"/>
              <a:ea typeface="Segoe UI"/>
              <a:cs typeface="Segoe UI"/>
            </a:endParaRPr>
          </a:p>
          <a:p>
            <a:r>
              <a:rPr lang="en-US" sz="1000">
                <a:solidFill>
                  <a:schemeClr val="accent3">
                    <a:lumMod val="49000"/>
                  </a:schemeClr>
                </a:solidFill>
                <a:ea typeface="Calibri"/>
                <a:cs typeface="Segoe UI"/>
              </a:rPr>
              <a:t>Multiple sources + augmentation</a:t>
            </a:r>
          </a:p>
        </p:txBody>
      </p:sp>
      <p:sp>
        <p:nvSpPr>
          <p:cNvPr id="54" name="TextBox 53">
            <a:extLst>
              <a:ext uri="{FF2B5EF4-FFF2-40B4-BE49-F238E27FC236}">
                <a16:creationId xmlns:a16="http://schemas.microsoft.com/office/drawing/2014/main" xmlns="" id="{145D3322-9CEB-067F-2242-E6C717387CDF}"/>
              </a:ext>
            </a:extLst>
          </p:cNvPr>
          <p:cNvSpPr txBox="1"/>
          <p:nvPr/>
        </p:nvSpPr>
        <p:spPr>
          <a:xfrm>
            <a:off x="8683923" y="3975337"/>
            <a:ext cx="2573547"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accent3">
                    <a:lumMod val="49000"/>
                  </a:schemeClr>
                </a:solidFill>
                <a:latin typeface="Calibri"/>
                <a:ea typeface="Calibri"/>
                <a:cs typeface="Segoe UI"/>
              </a:rPr>
              <a:t>Secure &amp; Compliant System</a:t>
            </a:r>
            <a:endParaRPr lang="en-US">
              <a:solidFill>
                <a:schemeClr val="accent3">
                  <a:lumMod val="49000"/>
                </a:schemeClr>
              </a:solidFill>
              <a:ea typeface="Calibri"/>
              <a:cs typeface="Calibri"/>
            </a:endParaRPr>
          </a:p>
          <a:p>
            <a:r>
              <a:rPr lang="en-US" sz="1000">
                <a:solidFill>
                  <a:schemeClr val="accent3">
                    <a:lumMod val="49000"/>
                  </a:schemeClr>
                </a:solidFill>
                <a:ea typeface="Calibri"/>
                <a:cs typeface="Segoe UI"/>
              </a:rPr>
              <a:t>End – to  - end encryption, follow  guidelines</a:t>
            </a:r>
            <a:endParaRPr lang="en-US">
              <a:solidFill>
                <a:schemeClr val="accent3">
                  <a:lumMod val="49000"/>
                </a:schemeClr>
              </a:solidFill>
              <a:ea typeface="Calibri"/>
              <a:cs typeface="Calibri"/>
            </a:endParaRPr>
          </a:p>
        </p:txBody>
      </p:sp>
      <p:sp>
        <p:nvSpPr>
          <p:cNvPr id="55" name="TextBox 54">
            <a:extLst>
              <a:ext uri="{FF2B5EF4-FFF2-40B4-BE49-F238E27FC236}">
                <a16:creationId xmlns:a16="http://schemas.microsoft.com/office/drawing/2014/main" xmlns="" id="{D8DCF61C-8697-6764-9E08-E369B403CB0A}"/>
              </a:ext>
            </a:extLst>
          </p:cNvPr>
          <p:cNvSpPr txBox="1"/>
          <p:nvPr/>
        </p:nvSpPr>
        <p:spPr>
          <a:xfrm>
            <a:off x="8683923" y="4492923"/>
            <a:ext cx="242977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accent3">
                    <a:lumMod val="49000"/>
                  </a:schemeClr>
                </a:solidFill>
                <a:latin typeface="Calibri"/>
                <a:ea typeface="Segoe UI"/>
                <a:cs typeface="Segoe UI"/>
              </a:rPr>
              <a:t>Rugged Hardware &amp; </a:t>
            </a:r>
            <a:endParaRPr lang="en-US">
              <a:solidFill>
                <a:schemeClr val="accent3">
                  <a:lumMod val="49000"/>
                </a:schemeClr>
              </a:solidFill>
              <a:latin typeface="Calibri"/>
              <a:ea typeface="Calibri"/>
              <a:cs typeface="Calibri"/>
            </a:endParaRPr>
          </a:p>
          <a:p>
            <a:r>
              <a:rPr lang="en-US" sz="1500" b="1">
                <a:solidFill>
                  <a:schemeClr val="accent3">
                    <a:lumMod val="49000"/>
                  </a:schemeClr>
                </a:solidFill>
                <a:latin typeface="Calibri"/>
                <a:ea typeface="Segoe UI"/>
                <a:cs typeface="Segoe UI"/>
              </a:rPr>
              <a:t>Monitoring</a:t>
            </a:r>
            <a:endParaRPr lang="en-US">
              <a:solidFill>
                <a:schemeClr val="accent3">
                  <a:lumMod val="49000"/>
                </a:schemeClr>
              </a:solidFill>
              <a:ea typeface="Calibri"/>
              <a:cs typeface="Calibri"/>
            </a:endParaRPr>
          </a:p>
          <a:p>
            <a:r>
              <a:rPr lang="en-US" sz="1000">
                <a:solidFill>
                  <a:schemeClr val="accent3">
                    <a:lumMod val="49000"/>
                  </a:schemeClr>
                </a:solidFill>
                <a:latin typeface="Calibri"/>
                <a:ea typeface="Segoe UI"/>
                <a:cs typeface="Segoe UI"/>
              </a:rPr>
              <a:t>Low – power devices, real – time alerts</a:t>
            </a:r>
          </a:p>
        </p:txBody>
      </p:sp>
      <p:sp>
        <p:nvSpPr>
          <p:cNvPr id="56" name="TextBox 55">
            <a:extLst>
              <a:ext uri="{FF2B5EF4-FFF2-40B4-BE49-F238E27FC236}">
                <a16:creationId xmlns:a16="http://schemas.microsoft.com/office/drawing/2014/main" xmlns="" id="{1366B2BC-5529-0E08-B6D5-758ED769C6E6}"/>
              </a:ext>
            </a:extLst>
          </p:cNvPr>
          <p:cNvSpPr txBox="1"/>
          <p:nvPr/>
        </p:nvSpPr>
        <p:spPr>
          <a:xfrm>
            <a:off x="8683925" y="3457751"/>
            <a:ext cx="204158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chemeClr val="accent3">
                    <a:lumMod val="49000"/>
                  </a:schemeClr>
                </a:solidFill>
                <a:latin typeface="Calibri"/>
                <a:ea typeface="Segoe UI"/>
                <a:cs typeface="Segoe UI"/>
              </a:rPr>
              <a:t>User – Centric Design</a:t>
            </a:r>
            <a:endParaRPr lang="en-US" sz="1500" b="1" i="0">
              <a:solidFill>
                <a:schemeClr val="accent3">
                  <a:lumMod val="49000"/>
                </a:schemeClr>
              </a:solidFill>
              <a:latin typeface="Calibri"/>
              <a:ea typeface="Segoe UI"/>
              <a:cs typeface="Segoe UI"/>
            </a:endParaRPr>
          </a:p>
          <a:p>
            <a:r>
              <a:rPr lang="en-US" sz="1000">
                <a:solidFill>
                  <a:schemeClr val="accent3">
                    <a:lumMod val="49000"/>
                  </a:schemeClr>
                </a:solidFill>
                <a:ea typeface="Calibri"/>
                <a:cs typeface="Segoe UI"/>
              </a:rPr>
              <a:t>Simple UI, Local language, Training</a:t>
            </a:r>
          </a:p>
        </p:txBody>
      </p:sp>
      <p:sp>
        <p:nvSpPr>
          <p:cNvPr id="57" name="TextBox 56">
            <a:extLst>
              <a:ext uri="{FF2B5EF4-FFF2-40B4-BE49-F238E27FC236}">
                <a16:creationId xmlns:a16="http://schemas.microsoft.com/office/drawing/2014/main" xmlns="" id="{419FCCB3-0701-4322-598C-7F1F8B776440}"/>
              </a:ext>
            </a:extLst>
          </p:cNvPr>
          <p:cNvSpPr txBox="1"/>
          <p:nvPr/>
        </p:nvSpPr>
        <p:spPr>
          <a:xfrm>
            <a:off x="8310112" y="1718092"/>
            <a:ext cx="2789207"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accent3">
                    <a:lumMod val="49000"/>
                  </a:schemeClr>
                </a:solidFill>
                <a:ea typeface="Calibri"/>
                <a:cs typeface="Calibri"/>
              </a:rPr>
              <a:t>Strategies to Overcome</a:t>
            </a:r>
            <a:endParaRPr lang="en-US"/>
          </a:p>
          <a:p>
            <a:pPr algn="ctr"/>
            <a:r>
              <a:rPr lang="en-US" sz="1500">
                <a:solidFill>
                  <a:schemeClr val="accent3">
                    <a:lumMod val="49000"/>
                  </a:schemeClr>
                </a:solidFill>
                <a:ea typeface="Calibri"/>
                <a:cs typeface="Calibri"/>
              </a:rPr>
              <a:t>How do we solve it?</a:t>
            </a:r>
          </a:p>
        </p:txBody>
      </p:sp>
      <p:sp>
        <p:nvSpPr>
          <p:cNvPr id="3" name="Rectangle: Rounded Corners 2">
            <a:extLst>
              <a:ext uri="{FF2B5EF4-FFF2-40B4-BE49-F238E27FC236}">
                <a16:creationId xmlns:a16="http://schemas.microsoft.com/office/drawing/2014/main" xmlns="" id="{C560BCB8-4930-F86F-EB9C-006664A06D7D}"/>
              </a:ext>
            </a:extLst>
          </p:cNvPr>
          <p:cNvSpPr/>
          <p:nvPr/>
        </p:nvSpPr>
        <p:spPr>
          <a:xfrm>
            <a:off x="4122154" y="5876741"/>
            <a:ext cx="3639130" cy="909369"/>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F4203B4C-8FA0-6F95-6436-4C24A0F22CEB}"/>
              </a:ext>
            </a:extLst>
          </p:cNvPr>
          <p:cNvSpPr txBox="1"/>
          <p:nvPr/>
        </p:nvSpPr>
        <p:spPr>
          <a:xfrm>
            <a:off x="4155056" y="5930661"/>
            <a:ext cx="3637472"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bg1"/>
                </a:solidFill>
                <a:latin typeface="Calibri"/>
                <a:ea typeface="Segoe UI"/>
                <a:cs typeface="Segoe UI"/>
              </a:rPr>
              <a:t>Viable Solution</a:t>
            </a:r>
            <a:endParaRPr lang="en-US"/>
          </a:p>
          <a:p>
            <a:pPr algn="ctr"/>
            <a:r>
              <a:rPr lang="en-US" sz="1500">
                <a:solidFill>
                  <a:schemeClr val="bg1"/>
                </a:solidFill>
                <a:latin typeface="Calibri"/>
                <a:ea typeface="Segoe UI"/>
                <a:cs typeface="Segoe UI"/>
              </a:rPr>
              <a:t>A practical, scalable and sustainable solution</a:t>
            </a:r>
          </a:p>
          <a:p>
            <a:pPr algn="ctr"/>
            <a:r>
              <a:rPr lang="en-US" sz="1500">
                <a:solidFill>
                  <a:schemeClr val="bg1"/>
                </a:solidFill>
                <a:latin typeface="Calibri"/>
                <a:ea typeface="Segoe UI"/>
                <a:cs typeface="Segoe UI"/>
              </a:rPr>
              <a:t>for animal healthcare</a:t>
            </a:r>
            <a:endParaRPr lang="en-US">
              <a:solidFill>
                <a:schemeClr val="bg1"/>
              </a:solidFill>
              <a:ea typeface="Calibri"/>
              <a:cs typeface="Calibri"/>
            </a:endParaRPr>
          </a:p>
        </p:txBody>
      </p:sp>
      <p:pic>
        <p:nvPicPr>
          <p:cNvPr id="9" name="Picture 8" descr="Technology - Free technology icons">
            <a:extLst>
              <a:ext uri="{FF2B5EF4-FFF2-40B4-BE49-F238E27FC236}">
                <a16:creationId xmlns:a16="http://schemas.microsoft.com/office/drawing/2014/main" xmlns="" id="{BB5108EC-0D50-FA4F-45F5-2848094516E9}"/>
              </a:ext>
            </a:extLst>
          </p:cNvPr>
          <p:cNvPicPr>
            <a:picLocks noChangeAspect="1"/>
          </p:cNvPicPr>
          <p:nvPr/>
        </p:nvPicPr>
        <p:blipFill>
          <a:blip r:embed="rId2"/>
          <a:stretch>
            <a:fillRect/>
          </a:stretch>
        </p:blipFill>
        <p:spPr>
          <a:xfrm>
            <a:off x="1177954" y="2493483"/>
            <a:ext cx="375789" cy="433299"/>
          </a:xfrm>
          <a:prstGeom prst="rect">
            <a:avLst/>
          </a:prstGeom>
        </p:spPr>
      </p:pic>
      <p:pic>
        <p:nvPicPr>
          <p:cNvPr id="13" name="Picture 12" descr="Person Blue Icon, Transparent Person Blue.PNG Images &amp; Vector - FreeIconsPNG">
            <a:extLst>
              <a:ext uri="{FF2B5EF4-FFF2-40B4-BE49-F238E27FC236}">
                <a16:creationId xmlns:a16="http://schemas.microsoft.com/office/drawing/2014/main" xmlns="" id="{551E96BE-6AC9-6E10-84AF-7448898A982C}"/>
              </a:ext>
            </a:extLst>
          </p:cNvPr>
          <p:cNvPicPr>
            <a:picLocks noChangeAspect="1"/>
          </p:cNvPicPr>
          <p:nvPr/>
        </p:nvPicPr>
        <p:blipFill>
          <a:blip r:embed="rId3"/>
          <a:stretch>
            <a:fillRect/>
          </a:stretch>
        </p:blipFill>
        <p:spPr>
          <a:xfrm>
            <a:off x="1106069" y="3039825"/>
            <a:ext cx="447675" cy="447675"/>
          </a:xfrm>
          <a:prstGeom prst="rect">
            <a:avLst/>
          </a:prstGeom>
        </p:spPr>
      </p:pic>
      <p:pic>
        <p:nvPicPr>
          <p:cNvPr id="23" name="Picture 22" descr="Timetable - Free time and date icons">
            <a:extLst>
              <a:ext uri="{FF2B5EF4-FFF2-40B4-BE49-F238E27FC236}">
                <a16:creationId xmlns:a16="http://schemas.microsoft.com/office/drawing/2014/main" xmlns="" id="{E2F4E1E3-6C9C-215E-D5AC-17FE3A5D5567}"/>
              </a:ext>
            </a:extLst>
          </p:cNvPr>
          <p:cNvPicPr>
            <a:picLocks noChangeAspect="1"/>
          </p:cNvPicPr>
          <p:nvPr/>
        </p:nvPicPr>
        <p:blipFill>
          <a:blip r:embed="rId4"/>
          <a:stretch>
            <a:fillRect/>
          </a:stretch>
        </p:blipFill>
        <p:spPr>
          <a:xfrm>
            <a:off x="1196196" y="4826478"/>
            <a:ext cx="454324" cy="454324"/>
          </a:xfrm>
          <a:prstGeom prst="rect">
            <a:avLst/>
          </a:prstGeom>
        </p:spPr>
      </p:pic>
      <p:pic>
        <p:nvPicPr>
          <p:cNvPr id="25" name="Picture 24" descr="Rupee-sign - Free business and finance icons">
            <a:extLst>
              <a:ext uri="{FF2B5EF4-FFF2-40B4-BE49-F238E27FC236}">
                <a16:creationId xmlns:a16="http://schemas.microsoft.com/office/drawing/2014/main" xmlns="" id="{27D7B558-C6B6-0265-F488-87686094C0E3}"/>
              </a:ext>
            </a:extLst>
          </p:cNvPr>
          <p:cNvPicPr>
            <a:picLocks noChangeAspect="1"/>
          </p:cNvPicPr>
          <p:nvPr/>
        </p:nvPicPr>
        <p:blipFill>
          <a:blip r:embed="rId5"/>
          <a:stretch>
            <a:fillRect/>
          </a:stretch>
        </p:blipFill>
        <p:spPr>
          <a:xfrm>
            <a:off x="1062936" y="3629292"/>
            <a:ext cx="548318" cy="375790"/>
          </a:xfrm>
          <a:prstGeom prst="rect">
            <a:avLst/>
          </a:prstGeom>
        </p:spPr>
      </p:pic>
      <p:pic>
        <p:nvPicPr>
          <p:cNvPr id="26" name="Picture 25" descr="Document File Copy-paste Icon. Blue Color Vector Stock Vector - Illustration of isolated, file: 208541578">
            <a:extLst>
              <a:ext uri="{FF2B5EF4-FFF2-40B4-BE49-F238E27FC236}">
                <a16:creationId xmlns:a16="http://schemas.microsoft.com/office/drawing/2014/main" xmlns="" id="{BACE1ADA-ECA6-1002-2287-B41099197E07}"/>
              </a:ext>
            </a:extLst>
          </p:cNvPr>
          <p:cNvPicPr>
            <a:picLocks noChangeAspect="1"/>
          </p:cNvPicPr>
          <p:nvPr/>
        </p:nvPicPr>
        <p:blipFill>
          <a:blip r:embed="rId6"/>
          <a:stretch>
            <a:fillRect/>
          </a:stretch>
        </p:blipFill>
        <p:spPr>
          <a:xfrm>
            <a:off x="1091692" y="4103747"/>
            <a:ext cx="548318" cy="634582"/>
          </a:xfrm>
          <a:prstGeom prst="rect">
            <a:avLst/>
          </a:prstGeom>
        </p:spPr>
      </p:pic>
      <p:pic>
        <p:nvPicPr>
          <p:cNvPr id="31" name="Picture 30" descr="Wireless Symbol Images – Browse 1,379,880 Stock Photos, Vectors, and Video | Adobe Stock">
            <a:extLst>
              <a:ext uri="{FF2B5EF4-FFF2-40B4-BE49-F238E27FC236}">
                <a16:creationId xmlns:a16="http://schemas.microsoft.com/office/drawing/2014/main" xmlns="" id="{9AF858F3-8728-3FFD-FD87-5C1EF78C9CBD}"/>
              </a:ext>
            </a:extLst>
          </p:cNvPr>
          <p:cNvPicPr>
            <a:picLocks noChangeAspect="1"/>
          </p:cNvPicPr>
          <p:nvPr/>
        </p:nvPicPr>
        <p:blipFill>
          <a:blip r:embed="rId7"/>
          <a:stretch>
            <a:fillRect/>
          </a:stretch>
        </p:blipFill>
        <p:spPr>
          <a:xfrm flipH="1">
            <a:off x="4586379" y="2478567"/>
            <a:ext cx="675735" cy="419998"/>
          </a:xfrm>
          <a:prstGeom prst="rect">
            <a:avLst/>
          </a:prstGeom>
        </p:spPr>
      </p:pic>
      <p:pic>
        <p:nvPicPr>
          <p:cNvPr id="33" name="Picture 32" descr="IconExperience » V-Collection » Data Red Icon">
            <a:extLst>
              <a:ext uri="{FF2B5EF4-FFF2-40B4-BE49-F238E27FC236}">
                <a16:creationId xmlns:a16="http://schemas.microsoft.com/office/drawing/2014/main" xmlns="" id="{BBD90EDE-E1DC-05A1-330C-1EC7B8FFED24}"/>
              </a:ext>
            </a:extLst>
          </p:cNvPr>
          <p:cNvPicPr>
            <a:picLocks noChangeAspect="1"/>
          </p:cNvPicPr>
          <p:nvPr/>
        </p:nvPicPr>
        <p:blipFill>
          <a:blip r:embed="rId8"/>
          <a:stretch>
            <a:fillRect/>
          </a:stretch>
        </p:blipFill>
        <p:spPr>
          <a:xfrm>
            <a:off x="4735901" y="3032185"/>
            <a:ext cx="376688" cy="391064"/>
          </a:xfrm>
          <a:prstGeom prst="rect">
            <a:avLst/>
          </a:prstGeom>
        </p:spPr>
      </p:pic>
      <p:pic>
        <p:nvPicPr>
          <p:cNvPr id="41" name="Picture 40" descr="Group - Free people icons">
            <a:extLst>
              <a:ext uri="{FF2B5EF4-FFF2-40B4-BE49-F238E27FC236}">
                <a16:creationId xmlns:a16="http://schemas.microsoft.com/office/drawing/2014/main" xmlns="" id="{9913FF9A-D04C-214E-FE11-5D9582A94F55}"/>
              </a:ext>
            </a:extLst>
          </p:cNvPr>
          <p:cNvPicPr>
            <a:picLocks noChangeAspect="1"/>
          </p:cNvPicPr>
          <p:nvPr/>
        </p:nvPicPr>
        <p:blipFill>
          <a:blip r:embed="rId9"/>
          <a:stretch>
            <a:fillRect/>
          </a:stretch>
        </p:blipFill>
        <p:spPr>
          <a:xfrm>
            <a:off x="4686030" y="3557407"/>
            <a:ext cx="490807" cy="462055"/>
          </a:xfrm>
          <a:prstGeom prst="rect">
            <a:avLst/>
          </a:prstGeom>
        </p:spPr>
      </p:pic>
      <p:pic>
        <p:nvPicPr>
          <p:cNvPr id="42" name="Picture 41" descr="Flat design red round security vector icon Stock Vector | Adobe Stock">
            <a:extLst>
              <a:ext uri="{FF2B5EF4-FFF2-40B4-BE49-F238E27FC236}">
                <a16:creationId xmlns:a16="http://schemas.microsoft.com/office/drawing/2014/main" xmlns="" id="{3306792E-ADA2-1526-DAD4-E3551803F59D}"/>
              </a:ext>
            </a:extLst>
          </p:cNvPr>
          <p:cNvPicPr>
            <a:picLocks noChangeAspect="1"/>
          </p:cNvPicPr>
          <p:nvPr/>
        </p:nvPicPr>
        <p:blipFill>
          <a:blip r:embed="rId10"/>
          <a:stretch>
            <a:fillRect/>
          </a:stretch>
        </p:blipFill>
        <p:spPr>
          <a:xfrm>
            <a:off x="4686030" y="4103746"/>
            <a:ext cx="433299" cy="476432"/>
          </a:xfrm>
          <a:prstGeom prst="rect">
            <a:avLst/>
          </a:prstGeom>
        </p:spPr>
      </p:pic>
      <p:pic>
        <p:nvPicPr>
          <p:cNvPr id="44" name="Picture 43" descr="Internet Tower Stock Illustrations – 30,605 Internet Tower Stock Illustrations, Vectors &amp; Clipart - Dreamstime">
            <a:extLst>
              <a:ext uri="{FF2B5EF4-FFF2-40B4-BE49-F238E27FC236}">
                <a16:creationId xmlns:a16="http://schemas.microsoft.com/office/drawing/2014/main" xmlns="" id="{7DD9DF36-F8CD-88F9-C7D4-A4E112B0B417}"/>
              </a:ext>
            </a:extLst>
          </p:cNvPr>
          <p:cNvPicPr>
            <a:picLocks noChangeAspect="1"/>
          </p:cNvPicPr>
          <p:nvPr/>
        </p:nvPicPr>
        <p:blipFill>
          <a:blip r:embed="rId11"/>
          <a:stretch>
            <a:fillRect/>
          </a:stretch>
        </p:blipFill>
        <p:spPr>
          <a:xfrm>
            <a:off x="8135788" y="2411801"/>
            <a:ext cx="463670" cy="424132"/>
          </a:xfrm>
          <a:prstGeom prst="rect">
            <a:avLst/>
          </a:prstGeom>
        </p:spPr>
      </p:pic>
      <p:pic>
        <p:nvPicPr>
          <p:cNvPr id="45" name="Picture 44" descr="Data quality - Free electronics icons">
            <a:extLst>
              <a:ext uri="{FF2B5EF4-FFF2-40B4-BE49-F238E27FC236}">
                <a16:creationId xmlns:a16="http://schemas.microsoft.com/office/drawing/2014/main" xmlns="" id="{8F9A3D5D-2B28-CB1F-24C9-9909F1FDDCE2}"/>
              </a:ext>
            </a:extLst>
          </p:cNvPr>
          <p:cNvPicPr>
            <a:picLocks noChangeAspect="1"/>
          </p:cNvPicPr>
          <p:nvPr/>
        </p:nvPicPr>
        <p:blipFill>
          <a:blip r:embed="rId12"/>
          <a:stretch>
            <a:fillRect/>
          </a:stretch>
        </p:blipFill>
        <p:spPr>
          <a:xfrm>
            <a:off x="8144593" y="2932800"/>
            <a:ext cx="446059" cy="474813"/>
          </a:xfrm>
          <a:prstGeom prst="rect">
            <a:avLst/>
          </a:prstGeom>
        </p:spPr>
      </p:pic>
      <p:pic>
        <p:nvPicPr>
          <p:cNvPr id="47" name="Picture 46" descr="Green Graduation Cap Vector Art, Icons, and Graphics for Free Download">
            <a:extLst>
              <a:ext uri="{FF2B5EF4-FFF2-40B4-BE49-F238E27FC236}">
                <a16:creationId xmlns:a16="http://schemas.microsoft.com/office/drawing/2014/main" xmlns="" id="{02DDB8C0-440A-845E-A7D7-CC910F1BDB6A}"/>
              </a:ext>
            </a:extLst>
          </p:cNvPr>
          <p:cNvPicPr>
            <a:picLocks noChangeAspect="1"/>
          </p:cNvPicPr>
          <p:nvPr/>
        </p:nvPicPr>
        <p:blipFill>
          <a:blip r:embed="rId13"/>
          <a:stretch>
            <a:fillRect/>
          </a:stretch>
        </p:blipFill>
        <p:spPr>
          <a:xfrm>
            <a:off x="8208483" y="3528652"/>
            <a:ext cx="390168" cy="418923"/>
          </a:xfrm>
          <a:prstGeom prst="rect">
            <a:avLst/>
          </a:prstGeom>
        </p:spPr>
      </p:pic>
      <p:pic>
        <p:nvPicPr>
          <p:cNvPr id="48" name="Picture 47" descr="Green lock icon - Free green lock icons">
            <a:extLst>
              <a:ext uri="{FF2B5EF4-FFF2-40B4-BE49-F238E27FC236}">
                <a16:creationId xmlns:a16="http://schemas.microsoft.com/office/drawing/2014/main" xmlns="" id="{745CE5F5-8C26-07EA-6DDB-FB78E2372D7D}"/>
              </a:ext>
            </a:extLst>
          </p:cNvPr>
          <p:cNvPicPr>
            <a:picLocks noChangeAspect="1"/>
          </p:cNvPicPr>
          <p:nvPr/>
        </p:nvPicPr>
        <p:blipFill>
          <a:blip r:embed="rId14"/>
          <a:stretch>
            <a:fillRect/>
          </a:stretch>
        </p:blipFill>
        <p:spPr>
          <a:xfrm>
            <a:off x="8159689" y="4048124"/>
            <a:ext cx="487754" cy="372016"/>
          </a:xfrm>
          <a:prstGeom prst="rect">
            <a:avLst/>
          </a:prstGeom>
        </p:spPr>
      </p:pic>
      <p:cxnSp>
        <p:nvCxnSpPr>
          <p:cNvPr id="51" name="Straight Arrow Connector 50">
            <a:extLst>
              <a:ext uri="{FF2B5EF4-FFF2-40B4-BE49-F238E27FC236}">
                <a16:creationId xmlns:a16="http://schemas.microsoft.com/office/drawing/2014/main" xmlns="" id="{A102FFB8-EA40-9E74-5051-4581541BC393}"/>
              </a:ext>
            </a:extLst>
          </p:cNvPr>
          <p:cNvCxnSpPr/>
          <p:nvPr/>
        </p:nvCxnSpPr>
        <p:spPr>
          <a:xfrm>
            <a:off x="2285999" y="1200395"/>
            <a:ext cx="276" cy="260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xmlns="" id="{9756A90A-10B9-8745-E41D-CE8F678BB1AD}"/>
              </a:ext>
            </a:extLst>
          </p:cNvPr>
          <p:cNvCxnSpPr>
            <a:cxnSpLocks/>
          </p:cNvCxnSpPr>
          <p:nvPr/>
        </p:nvCxnSpPr>
        <p:spPr>
          <a:xfrm>
            <a:off x="5794074" y="1056621"/>
            <a:ext cx="276" cy="3614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xmlns="" id="{7A320079-B4C8-A459-D4DD-72AC0F63F616}"/>
              </a:ext>
            </a:extLst>
          </p:cNvPr>
          <p:cNvCxnSpPr>
            <a:cxnSpLocks/>
          </p:cNvCxnSpPr>
          <p:nvPr/>
        </p:nvCxnSpPr>
        <p:spPr>
          <a:xfrm>
            <a:off x="9589697" y="1200395"/>
            <a:ext cx="276" cy="26084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A186C556-1D0B-79C9-9AB3-5CB5B161924D}"/>
              </a:ext>
            </a:extLst>
          </p:cNvPr>
          <p:cNvCxnSpPr/>
          <p:nvPr/>
        </p:nvCxnSpPr>
        <p:spPr>
          <a:xfrm>
            <a:off x="2288279" y="1207241"/>
            <a:ext cx="3209576" cy="14654"/>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27DDF79A-595B-100F-7694-1183DC543BE5}"/>
              </a:ext>
            </a:extLst>
          </p:cNvPr>
          <p:cNvCxnSpPr>
            <a:cxnSpLocks/>
          </p:cNvCxnSpPr>
          <p:nvPr/>
        </p:nvCxnSpPr>
        <p:spPr>
          <a:xfrm>
            <a:off x="6127035" y="1207241"/>
            <a:ext cx="3468367" cy="276"/>
          </a:xfrm>
          <a:prstGeom prst="straightConnector1">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xmlns="" id="{56EAAB27-2ECA-8E0B-AF8D-4C99FF345149}"/>
              </a:ext>
            </a:extLst>
          </p:cNvPr>
          <p:cNvCxnSpPr/>
          <p:nvPr/>
        </p:nvCxnSpPr>
        <p:spPr>
          <a:xfrm>
            <a:off x="5497929" y="1068224"/>
            <a:ext cx="276" cy="156672"/>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51126E5B-CC87-4963-9DD6-D3CE7FCF1AB7}"/>
              </a:ext>
            </a:extLst>
          </p:cNvPr>
          <p:cNvCxnSpPr>
            <a:cxnSpLocks/>
          </p:cNvCxnSpPr>
          <p:nvPr/>
        </p:nvCxnSpPr>
        <p:spPr>
          <a:xfrm>
            <a:off x="6130532" y="1053846"/>
            <a:ext cx="276" cy="156672"/>
          </a:xfrm>
          <a:prstGeom prst="straightConnector1">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B6168E51-8F88-AD9B-9071-DC87B5C95002}"/>
              </a:ext>
            </a:extLst>
          </p:cNvPr>
          <p:cNvCxnSpPr>
            <a:cxnSpLocks/>
          </p:cNvCxnSpPr>
          <p:nvPr/>
        </p:nvCxnSpPr>
        <p:spPr>
          <a:xfrm>
            <a:off x="2216391" y="5707354"/>
            <a:ext cx="3209576" cy="14654"/>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xmlns="" id="{7225FB85-5834-A787-F2B4-3DA5ACB9562E}"/>
              </a:ext>
            </a:extLst>
          </p:cNvPr>
          <p:cNvCxnSpPr>
            <a:cxnSpLocks/>
          </p:cNvCxnSpPr>
          <p:nvPr/>
        </p:nvCxnSpPr>
        <p:spPr>
          <a:xfrm>
            <a:off x="5909093" y="5542355"/>
            <a:ext cx="276" cy="3183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xmlns="" id="{F89C09C7-8785-6EE0-D802-F4910D6F1B92}"/>
              </a:ext>
            </a:extLst>
          </p:cNvPr>
          <p:cNvCxnSpPr>
            <a:cxnSpLocks/>
          </p:cNvCxnSpPr>
          <p:nvPr/>
        </p:nvCxnSpPr>
        <p:spPr>
          <a:xfrm>
            <a:off x="6500843" y="5707354"/>
            <a:ext cx="3209576" cy="14654"/>
          </a:xfrm>
          <a:prstGeom prst="straightConnector1">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xmlns="" id="{70FA9D95-5DB0-3FA4-6EAB-65BFB14340C1}"/>
              </a:ext>
            </a:extLst>
          </p:cNvPr>
          <p:cNvCxnSpPr>
            <a:cxnSpLocks/>
          </p:cNvCxnSpPr>
          <p:nvPr/>
        </p:nvCxnSpPr>
        <p:spPr>
          <a:xfrm>
            <a:off x="6496709" y="5709404"/>
            <a:ext cx="276" cy="16020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xmlns="" id="{B2BCB9DA-9343-E02C-794F-8F5D387050E7}"/>
              </a:ext>
            </a:extLst>
          </p:cNvPr>
          <p:cNvCxnSpPr>
            <a:cxnSpLocks/>
          </p:cNvCxnSpPr>
          <p:nvPr/>
        </p:nvCxnSpPr>
        <p:spPr>
          <a:xfrm>
            <a:off x="5432784" y="5723780"/>
            <a:ext cx="276" cy="160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xmlns="" id="{68002E21-3119-4F99-B64C-A92971FBF822}"/>
              </a:ext>
            </a:extLst>
          </p:cNvPr>
          <p:cNvCxnSpPr>
            <a:cxnSpLocks/>
          </p:cNvCxnSpPr>
          <p:nvPr/>
        </p:nvCxnSpPr>
        <p:spPr>
          <a:xfrm>
            <a:off x="2219891" y="5553959"/>
            <a:ext cx="276" cy="156672"/>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xmlns="" id="{4A90B517-E9EB-DCB6-5127-7FF810BB715D}"/>
              </a:ext>
            </a:extLst>
          </p:cNvPr>
          <p:cNvCxnSpPr>
            <a:cxnSpLocks/>
          </p:cNvCxnSpPr>
          <p:nvPr/>
        </p:nvCxnSpPr>
        <p:spPr>
          <a:xfrm>
            <a:off x="9710494" y="5568336"/>
            <a:ext cx="276" cy="156672"/>
          </a:xfrm>
          <a:prstGeom prst="straightConnector1">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80" name="Picture 79" descr="Gear">
            <a:extLst>
              <a:ext uri="{FF2B5EF4-FFF2-40B4-BE49-F238E27FC236}">
                <a16:creationId xmlns:a16="http://schemas.microsoft.com/office/drawing/2014/main" xmlns="" id="{AD4D3939-C9A4-0A4B-E6D9-8E5E7BB2002F}"/>
              </a:ext>
            </a:extLst>
          </p:cNvPr>
          <p:cNvPicPr>
            <a:picLocks noChangeAspect="1"/>
          </p:cNvPicPr>
          <p:nvPr/>
        </p:nvPicPr>
        <p:blipFill>
          <a:blip r:embed="rId15"/>
          <a:stretch>
            <a:fillRect/>
          </a:stretch>
        </p:blipFill>
        <p:spPr>
          <a:xfrm>
            <a:off x="4686029" y="4721973"/>
            <a:ext cx="490809" cy="462053"/>
          </a:xfrm>
          <a:prstGeom prst="rect">
            <a:avLst/>
          </a:prstGeom>
        </p:spPr>
      </p:pic>
      <p:grpSp>
        <p:nvGrpSpPr>
          <p:cNvPr id="18" name="Group 38">
            <a:extLst>
              <a:ext uri="{FF2B5EF4-FFF2-40B4-BE49-F238E27FC236}">
                <a16:creationId xmlns:a16="http://schemas.microsoft.com/office/drawing/2014/main" xmlns="" id="{C7BBEDAB-997A-D277-FDC1-C8A57E7C2883}"/>
              </a:ext>
            </a:extLst>
          </p:cNvPr>
          <p:cNvGrpSpPr/>
          <p:nvPr/>
        </p:nvGrpSpPr>
        <p:grpSpPr>
          <a:xfrm>
            <a:off x="9881455" y="64861"/>
            <a:ext cx="2247900" cy="1066800"/>
            <a:chOff x="0" y="0"/>
            <a:chExt cx="2997200" cy="1422400"/>
          </a:xfrm>
        </p:grpSpPr>
        <p:sp>
          <p:nvSpPr>
            <p:cNvPr id="12" name="Freeform 39">
              <a:extLst>
                <a:ext uri="{FF2B5EF4-FFF2-40B4-BE49-F238E27FC236}">
                  <a16:creationId xmlns:a16="http://schemas.microsoft.com/office/drawing/2014/main" xmlns="" id="{CF752008-C107-60EC-BDC6-1BDB1A820F1D}"/>
                </a:ext>
              </a:extLst>
            </p:cNvPr>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16"/>
              <a:stretch>
                <a:fillRect/>
              </a:stretch>
            </a:blipFill>
          </p:spPr>
        </p:sp>
      </p:grpSp>
      <p:sp>
        <p:nvSpPr>
          <p:cNvPr id="50" name="Freeform 4">
            <a:extLst>
              <a:ext uri="{FF2B5EF4-FFF2-40B4-BE49-F238E27FC236}">
                <a16:creationId xmlns:a16="http://schemas.microsoft.com/office/drawing/2014/main" xmlns="" id="{D30F903C-6813-D991-D6F9-CEC497A6242D}"/>
              </a:ext>
            </a:extLst>
          </p:cNvPr>
          <p:cNvSpPr/>
          <p:nvPr/>
        </p:nvSpPr>
        <p:spPr>
          <a:xfrm>
            <a:off x="66495" y="76380"/>
            <a:ext cx="1105962" cy="1195900"/>
          </a:xfrm>
          <a:custGeom>
            <a:avLst/>
            <a:gdLst/>
            <a:ahLst/>
            <a:cxnLst/>
            <a:rect l="l" t="t" r="r" b="b"/>
            <a:pathLst>
              <a:path w="1105962" h="1195900">
                <a:moveTo>
                  <a:pt x="0" y="0"/>
                </a:moveTo>
                <a:lnTo>
                  <a:pt x="1105962" y="0"/>
                </a:lnTo>
                <a:lnTo>
                  <a:pt x="1105962" y="1195900"/>
                </a:lnTo>
                <a:lnTo>
                  <a:pt x="0" y="1195900"/>
                </a:lnTo>
                <a:lnTo>
                  <a:pt x="0" y="0"/>
                </a:lnTo>
                <a:close/>
              </a:path>
            </a:pathLst>
          </a:custGeom>
          <a:blipFill>
            <a:blip r:embed="rId17"/>
            <a:stretch>
              <a:fillRect l="-4066" r="-4066"/>
            </a:stretch>
          </a:blipFill>
        </p:spPr>
      </p:sp>
      <p:pic>
        <p:nvPicPr>
          <p:cNvPr id="86" name="Picture 85" descr="Green &quot;settings&quot; icon | Free SVG">
            <a:extLst>
              <a:ext uri="{FF2B5EF4-FFF2-40B4-BE49-F238E27FC236}">
                <a16:creationId xmlns:a16="http://schemas.microsoft.com/office/drawing/2014/main" xmlns="" id="{85C879E9-F164-82E9-63BD-8FC355F8F684}"/>
              </a:ext>
            </a:extLst>
          </p:cNvPr>
          <p:cNvPicPr>
            <a:picLocks noChangeAspect="1"/>
          </p:cNvPicPr>
          <p:nvPr/>
        </p:nvPicPr>
        <p:blipFill>
          <a:blip r:embed="rId18"/>
          <a:stretch>
            <a:fillRect/>
          </a:stretch>
        </p:blipFill>
        <p:spPr>
          <a:xfrm>
            <a:off x="8174966" y="4616569"/>
            <a:ext cx="457200" cy="500332"/>
          </a:xfrm>
          <a:prstGeom prst="rect">
            <a:avLst/>
          </a:prstGeom>
        </p:spPr>
      </p:pic>
    </p:spTree>
    <p:extLst>
      <p:ext uri="{BB962C8B-B14F-4D97-AF65-F5344CB8AC3E}">
        <p14:creationId xmlns:p14="http://schemas.microsoft.com/office/powerpoint/2010/main" val="3563895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0FA00358-02CA-7D0B-01F0-DF27812C18FD}"/>
              </a:ext>
            </a:extLst>
          </p:cNvPr>
          <p:cNvSpPr/>
          <p:nvPr/>
        </p:nvSpPr>
        <p:spPr>
          <a:xfrm>
            <a:off x="140660" y="1275772"/>
            <a:ext cx="4886760" cy="445697"/>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4CE5F653-959F-D804-8944-A1A424BAED95}"/>
              </a:ext>
            </a:extLst>
          </p:cNvPr>
          <p:cNvSpPr txBox="1"/>
          <p:nvPr/>
        </p:nvSpPr>
        <p:spPr>
          <a:xfrm>
            <a:off x="3049660" y="4147"/>
            <a:ext cx="507050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chemeClr val="tx2">
                    <a:lumMod val="76000"/>
                  </a:schemeClr>
                </a:solidFill>
                <a:ea typeface="Calibri"/>
                <a:cs typeface="Calibri"/>
              </a:rPr>
              <a:t>TECHNICAL APPROACH</a:t>
            </a:r>
          </a:p>
        </p:txBody>
      </p:sp>
      <p:sp>
        <p:nvSpPr>
          <p:cNvPr id="12" name="TextBox 11">
            <a:extLst>
              <a:ext uri="{FF2B5EF4-FFF2-40B4-BE49-F238E27FC236}">
                <a16:creationId xmlns:a16="http://schemas.microsoft.com/office/drawing/2014/main" xmlns="" id="{D64DBFC3-62F9-EEFC-ACAA-310B75CB47CA}"/>
              </a:ext>
            </a:extLst>
          </p:cNvPr>
          <p:cNvSpPr txBox="1"/>
          <p:nvPr/>
        </p:nvSpPr>
        <p:spPr>
          <a:xfrm>
            <a:off x="1381886" y="507354"/>
            <a:ext cx="842042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solidFill>
                  <a:srgbClr val="00501E"/>
                </a:solidFill>
                <a:ea typeface="Calibri"/>
                <a:cs typeface="Calibri"/>
              </a:rPr>
              <a:t>Smart Technology. Healthy Livestock. Stronger Future</a:t>
            </a:r>
          </a:p>
        </p:txBody>
      </p:sp>
      <p:cxnSp>
        <p:nvCxnSpPr>
          <p:cNvPr id="15" name="Straight Arrow Connector 14">
            <a:extLst>
              <a:ext uri="{FF2B5EF4-FFF2-40B4-BE49-F238E27FC236}">
                <a16:creationId xmlns:a16="http://schemas.microsoft.com/office/drawing/2014/main" xmlns="" id="{A82E78CA-11E4-9BF3-5CA0-E3D103096BB0}"/>
              </a:ext>
            </a:extLst>
          </p:cNvPr>
          <p:cNvCxnSpPr/>
          <p:nvPr/>
        </p:nvCxnSpPr>
        <p:spPr>
          <a:xfrm flipH="1" flipV="1">
            <a:off x="1378015" y="1010284"/>
            <a:ext cx="8441718" cy="28479"/>
          </a:xfrm>
          <a:prstGeom prst="straightConnector1">
            <a:avLst/>
          </a:prstGeom>
          <a:ln w="28575">
            <a:solidFill>
              <a:srgbClr val="00501E"/>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xmlns="" id="{55613DBC-C510-374C-A6D5-1005645866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58226" y="1038428"/>
            <a:ext cx="7038607" cy="5839891"/>
          </a:xfrm>
          <a:prstGeom prst="rect">
            <a:avLst/>
          </a:prstGeom>
        </p:spPr>
      </p:pic>
      <p:sp>
        <p:nvSpPr>
          <p:cNvPr id="6" name="TextBox 5">
            <a:extLst>
              <a:ext uri="{FF2B5EF4-FFF2-40B4-BE49-F238E27FC236}">
                <a16:creationId xmlns:a16="http://schemas.microsoft.com/office/drawing/2014/main" xmlns="" id="{D3D3ED78-AAAE-C756-068F-B2890DD43876}"/>
              </a:ext>
            </a:extLst>
          </p:cNvPr>
          <p:cNvSpPr txBox="1"/>
          <p:nvPr/>
        </p:nvSpPr>
        <p:spPr>
          <a:xfrm>
            <a:off x="1130153" y="1311965"/>
            <a:ext cx="29499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Calibri"/>
                <a:cs typeface="Calibri"/>
              </a:rPr>
              <a:t>TECHNOLOGY TO BE USED</a:t>
            </a:r>
          </a:p>
        </p:txBody>
      </p:sp>
      <p:sp>
        <p:nvSpPr>
          <p:cNvPr id="9" name="TextBox 8">
            <a:extLst>
              <a:ext uri="{FF2B5EF4-FFF2-40B4-BE49-F238E27FC236}">
                <a16:creationId xmlns:a16="http://schemas.microsoft.com/office/drawing/2014/main" xmlns="" id="{F011331A-C193-45C7-3D36-5690A80859C6}"/>
              </a:ext>
            </a:extLst>
          </p:cNvPr>
          <p:cNvSpPr txBox="1"/>
          <p:nvPr/>
        </p:nvSpPr>
        <p:spPr>
          <a:xfrm>
            <a:off x="989162" y="1696006"/>
            <a:ext cx="2161047"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Programming Language</a:t>
            </a:r>
          </a:p>
          <a:p>
            <a:r>
              <a:rPr lang="en-US" sz="1000">
                <a:ea typeface="Calibri"/>
                <a:cs typeface="Calibri"/>
              </a:rPr>
              <a:t>HTML5, CSS3, JavaScript</a:t>
            </a:r>
          </a:p>
        </p:txBody>
      </p:sp>
      <p:sp>
        <p:nvSpPr>
          <p:cNvPr id="13" name="TextBox 12">
            <a:extLst>
              <a:ext uri="{FF2B5EF4-FFF2-40B4-BE49-F238E27FC236}">
                <a16:creationId xmlns:a16="http://schemas.microsoft.com/office/drawing/2014/main" xmlns="" id="{821E05E2-31BA-1C74-8EC5-671D651333C3}"/>
              </a:ext>
            </a:extLst>
          </p:cNvPr>
          <p:cNvSpPr txBox="1"/>
          <p:nvPr/>
        </p:nvSpPr>
        <p:spPr>
          <a:xfrm>
            <a:off x="989162" y="2055438"/>
            <a:ext cx="151406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Frontend</a:t>
            </a:r>
          </a:p>
          <a:p>
            <a:r>
              <a:rPr lang="en-US" sz="1000">
                <a:ea typeface="Calibri"/>
                <a:cs typeface="Calibri"/>
              </a:rPr>
              <a:t>React.js (Web Interface)</a:t>
            </a:r>
          </a:p>
        </p:txBody>
      </p:sp>
      <p:sp>
        <p:nvSpPr>
          <p:cNvPr id="16" name="TextBox 15">
            <a:extLst>
              <a:ext uri="{FF2B5EF4-FFF2-40B4-BE49-F238E27FC236}">
                <a16:creationId xmlns:a16="http://schemas.microsoft.com/office/drawing/2014/main" xmlns="" id="{0F64BB7D-1335-1CE1-D1E1-F600338EC27B}"/>
              </a:ext>
            </a:extLst>
          </p:cNvPr>
          <p:cNvSpPr txBox="1"/>
          <p:nvPr/>
        </p:nvSpPr>
        <p:spPr>
          <a:xfrm>
            <a:off x="989162" y="2428728"/>
            <a:ext cx="200289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Backend</a:t>
            </a:r>
          </a:p>
          <a:p>
            <a:r>
              <a:rPr lang="en-US" sz="1000">
                <a:ea typeface="Calibri"/>
                <a:cs typeface="Calibri"/>
              </a:rPr>
              <a:t>Node.js (Server – Side application)</a:t>
            </a:r>
          </a:p>
        </p:txBody>
      </p:sp>
      <p:sp>
        <p:nvSpPr>
          <p:cNvPr id="18" name="TextBox 17">
            <a:extLst>
              <a:ext uri="{FF2B5EF4-FFF2-40B4-BE49-F238E27FC236}">
                <a16:creationId xmlns:a16="http://schemas.microsoft.com/office/drawing/2014/main" xmlns="" id="{31BCEF03-4ED3-55CA-094E-84A8112F3460}"/>
              </a:ext>
            </a:extLst>
          </p:cNvPr>
          <p:cNvSpPr txBox="1"/>
          <p:nvPr/>
        </p:nvSpPr>
        <p:spPr>
          <a:xfrm>
            <a:off x="989163" y="2803061"/>
            <a:ext cx="239108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API</a:t>
            </a:r>
          </a:p>
          <a:p>
            <a:r>
              <a:rPr lang="en-US" sz="1000">
                <a:ea typeface="Calibri"/>
                <a:cs typeface="Calibri"/>
              </a:rPr>
              <a:t>Express.js (REST API and communication)</a:t>
            </a:r>
          </a:p>
        </p:txBody>
      </p:sp>
      <p:sp>
        <p:nvSpPr>
          <p:cNvPr id="22" name="TextBox 21">
            <a:extLst>
              <a:ext uri="{FF2B5EF4-FFF2-40B4-BE49-F238E27FC236}">
                <a16:creationId xmlns:a16="http://schemas.microsoft.com/office/drawing/2014/main" xmlns="" id="{B5E7BB95-D5AF-62D5-5821-51D12C83D20D}"/>
              </a:ext>
            </a:extLst>
          </p:cNvPr>
          <p:cNvSpPr txBox="1"/>
          <p:nvPr/>
        </p:nvSpPr>
        <p:spPr>
          <a:xfrm>
            <a:off x="989163" y="5420788"/>
            <a:ext cx="358440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Storage</a:t>
            </a:r>
          </a:p>
          <a:p>
            <a:r>
              <a:rPr lang="en-US" sz="1000">
                <a:solidFill>
                  <a:schemeClr val="tx1">
                    <a:lumMod val="95000"/>
                    <a:lumOff val="5000"/>
                  </a:schemeClr>
                </a:solidFill>
                <a:ea typeface="Calibri"/>
                <a:cs typeface="Calibri"/>
              </a:rPr>
              <a:t>Firebase Storage / Cloud Storage (Store uploaded animal images)</a:t>
            </a:r>
          </a:p>
        </p:txBody>
      </p:sp>
      <p:sp>
        <p:nvSpPr>
          <p:cNvPr id="24" name="TextBox 23">
            <a:extLst>
              <a:ext uri="{FF2B5EF4-FFF2-40B4-BE49-F238E27FC236}">
                <a16:creationId xmlns:a16="http://schemas.microsoft.com/office/drawing/2014/main" xmlns="" id="{E34F7DE0-EB99-6A6F-B7F7-46A8A9AD1C10}"/>
              </a:ext>
            </a:extLst>
          </p:cNvPr>
          <p:cNvSpPr txBox="1"/>
          <p:nvPr/>
        </p:nvSpPr>
        <p:spPr>
          <a:xfrm>
            <a:off x="989163" y="3176874"/>
            <a:ext cx="280802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Database</a:t>
            </a:r>
          </a:p>
          <a:p>
            <a:r>
              <a:rPr lang="en-US" sz="1000">
                <a:ea typeface="Calibri"/>
                <a:cs typeface="Calibri"/>
              </a:rPr>
              <a:t>MongoDB (Animal profile, health records, cases)</a:t>
            </a:r>
          </a:p>
        </p:txBody>
      </p:sp>
      <p:sp>
        <p:nvSpPr>
          <p:cNvPr id="26" name="TextBox 25">
            <a:extLst>
              <a:ext uri="{FF2B5EF4-FFF2-40B4-BE49-F238E27FC236}">
                <a16:creationId xmlns:a16="http://schemas.microsoft.com/office/drawing/2014/main" xmlns="" id="{E5E65582-968A-795D-EDB4-8E50CE61ED99}"/>
              </a:ext>
            </a:extLst>
          </p:cNvPr>
          <p:cNvSpPr txBox="1"/>
          <p:nvPr/>
        </p:nvSpPr>
        <p:spPr>
          <a:xfrm>
            <a:off x="989162" y="3551207"/>
            <a:ext cx="200289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AI/ML</a:t>
            </a:r>
          </a:p>
          <a:p>
            <a:r>
              <a:rPr lang="en-US" sz="1000">
                <a:ea typeface="Calibri"/>
                <a:cs typeface="Calibri"/>
              </a:rPr>
              <a:t>Python (AI/ML development)</a:t>
            </a:r>
          </a:p>
        </p:txBody>
      </p:sp>
      <p:sp>
        <p:nvSpPr>
          <p:cNvPr id="28" name="TextBox 27">
            <a:extLst>
              <a:ext uri="{FF2B5EF4-FFF2-40B4-BE49-F238E27FC236}">
                <a16:creationId xmlns:a16="http://schemas.microsoft.com/office/drawing/2014/main" xmlns="" id="{CB70CE60-024D-751D-A0DD-9885438B7CBA}"/>
              </a:ext>
            </a:extLst>
          </p:cNvPr>
          <p:cNvSpPr txBox="1"/>
          <p:nvPr/>
        </p:nvSpPr>
        <p:spPr>
          <a:xfrm>
            <a:off x="989163" y="3925019"/>
            <a:ext cx="298055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Deep Learning</a:t>
            </a:r>
          </a:p>
          <a:p>
            <a:r>
              <a:rPr lang="en-US" sz="1000">
                <a:ea typeface="Calibri"/>
                <a:cs typeface="Calibri"/>
              </a:rPr>
              <a:t>TensorFlow / Py-Torch (Disease prediction model)</a:t>
            </a:r>
          </a:p>
        </p:txBody>
      </p:sp>
      <p:sp>
        <p:nvSpPr>
          <p:cNvPr id="30" name="TextBox 29">
            <a:extLst>
              <a:ext uri="{FF2B5EF4-FFF2-40B4-BE49-F238E27FC236}">
                <a16:creationId xmlns:a16="http://schemas.microsoft.com/office/drawing/2014/main" xmlns="" id="{E6EE2A4A-BF24-F404-FE4C-AB7BC8110A1E}"/>
              </a:ext>
            </a:extLst>
          </p:cNvPr>
          <p:cNvSpPr txBox="1"/>
          <p:nvPr/>
        </p:nvSpPr>
        <p:spPr>
          <a:xfrm>
            <a:off x="989162" y="4298830"/>
            <a:ext cx="2491727"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Image Processing</a:t>
            </a:r>
          </a:p>
          <a:p>
            <a:r>
              <a:rPr lang="en-US" sz="1000">
                <a:ea typeface="Calibri"/>
                <a:cs typeface="Calibri"/>
              </a:rPr>
              <a:t>OpenCV (Image preprocessing and analysis)</a:t>
            </a:r>
          </a:p>
        </p:txBody>
      </p:sp>
      <p:sp>
        <p:nvSpPr>
          <p:cNvPr id="33" name="TextBox 32">
            <a:extLst>
              <a:ext uri="{FF2B5EF4-FFF2-40B4-BE49-F238E27FC236}">
                <a16:creationId xmlns:a16="http://schemas.microsoft.com/office/drawing/2014/main" xmlns="" id="{49413357-0307-6003-B9B7-5D04D94A864D}"/>
              </a:ext>
            </a:extLst>
          </p:cNvPr>
          <p:cNvSpPr txBox="1"/>
          <p:nvPr/>
        </p:nvSpPr>
        <p:spPr>
          <a:xfrm>
            <a:off x="989161" y="4672641"/>
            <a:ext cx="313870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AI Model</a:t>
            </a:r>
          </a:p>
          <a:p>
            <a:r>
              <a:rPr lang="en-US" sz="1000">
                <a:ea typeface="Calibri"/>
                <a:cs typeface="Calibri"/>
              </a:rPr>
              <a:t>CNN / Transfer Learning (Livestock disease classification)</a:t>
            </a:r>
          </a:p>
        </p:txBody>
      </p:sp>
      <p:sp>
        <p:nvSpPr>
          <p:cNvPr id="35" name="TextBox 34">
            <a:extLst>
              <a:ext uri="{FF2B5EF4-FFF2-40B4-BE49-F238E27FC236}">
                <a16:creationId xmlns:a16="http://schemas.microsoft.com/office/drawing/2014/main" xmlns="" id="{1D5DBB80-FAD7-D8C4-F2AE-EAE22397ADDE}"/>
              </a:ext>
            </a:extLst>
          </p:cNvPr>
          <p:cNvSpPr txBox="1"/>
          <p:nvPr/>
        </p:nvSpPr>
        <p:spPr>
          <a:xfrm>
            <a:off x="989161" y="5046975"/>
            <a:ext cx="345500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Authentication</a:t>
            </a:r>
          </a:p>
          <a:p>
            <a:r>
              <a:rPr lang="en-US" sz="1000">
                <a:ea typeface="Calibri"/>
                <a:cs typeface="Calibri"/>
              </a:rPr>
              <a:t>Firebase Authentication (Secure farmer / veterinarian login)</a:t>
            </a:r>
          </a:p>
        </p:txBody>
      </p:sp>
      <p:sp>
        <p:nvSpPr>
          <p:cNvPr id="37" name="TextBox 36">
            <a:extLst>
              <a:ext uri="{FF2B5EF4-FFF2-40B4-BE49-F238E27FC236}">
                <a16:creationId xmlns:a16="http://schemas.microsoft.com/office/drawing/2014/main" xmlns="" id="{55810387-C105-39D8-69A0-3AD9895408EB}"/>
              </a:ext>
            </a:extLst>
          </p:cNvPr>
          <p:cNvSpPr txBox="1"/>
          <p:nvPr/>
        </p:nvSpPr>
        <p:spPr>
          <a:xfrm>
            <a:off x="989162" y="5808453"/>
            <a:ext cx="305244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Deployment</a:t>
            </a:r>
          </a:p>
          <a:p>
            <a:r>
              <a:rPr lang="en-US" sz="1000">
                <a:ea typeface="Calibri"/>
                <a:cs typeface="Calibri"/>
              </a:rPr>
              <a:t>Firebase / AWS / Render (Hosting and deployment)</a:t>
            </a:r>
          </a:p>
        </p:txBody>
      </p:sp>
      <p:sp>
        <p:nvSpPr>
          <p:cNvPr id="39" name="TextBox 38">
            <a:extLst>
              <a:ext uri="{FF2B5EF4-FFF2-40B4-BE49-F238E27FC236}">
                <a16:creationId xmlns:a16="http://schemas.microsoft.com/office/drawing/2014/main" xmlns="" id="{3F027F5E-0585-2BAB-8328-5FAC497387B6}"/>
              </a:ext>
            </a:extLst>
          </p:cNvPr>
          <p:cNvSpPr txBox="1"/>
          <p:nvPr/>
        </p:nvSpPr>
        <p:spPr>
          <a:xfrm>
            <a:off x="989160" y="6168409"/>
            <a:ext cx="305244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Camera</a:t>
            </a:r>
          </a:p>
          <a:p>
            <a:r>
              <a:rPr lang="en-US" sz="1000">
                <a:ea typeface="Calibri"/>
                <a:cs typeface="Calibri"/>
              </a:rPr>
              <a:t>WebRTC / get User Media (Real – time image capture)</a:t>
            </a:r>
          </a:p>
        </p:txBody>
      </p:sp>
      <p:sp>
        <p:nvSpPr>
          <p:cNvPr id="41" name="TextBox 40">
            <a:extLst>
              <a:ext uri="{FF2B5EF4-FFF2-40B4-BE49-F238E27FC236}">
                <a16:creationId xmlns:a16="http://schemas.microsoft.com/office/drawing/2014/main" xmlns="" id="{F2381814-A55E-E168-7197-A79B1E7CC94F}"/>
              </a:ext>
            </a:extLst>
          </p:cNvPr>
          <p:cNvSpPr txBox="1"/>
          <p:nvPr/>
        </p:nvSpPr>
        <p:spPr>
          <a:xfrm>
            <a:off x="989160" y="6556596"/>
            <a:ext cx="403010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accent3">
                    <a:lumMod val="49000"/>
                  </a:schemeClr>
                </a:solidFill>
                <a:ea typeface="Calibri"/>
                <a:cs typeface="Calibri"/>
              </a:rPr>
              <a:t>Notification - </a:t>
            </a:r>
            <a:r>
              <a:rPr lang="en-US" sz="1000">
                <a:solidFill>
                  <a:srgbClr val="000000"/>
                </a:solidFill>
                <a:ea typeface="Calibri"/>
                <a:cs typeface="Calibri"/>
              </a:rPr>
              <a:t>Firebase</a:t>
            </a:r>
            <a:r>
              <a:rPr lang="en-US" sz="1000">
                <a:ea typeface="Calibri"/>
                <a:cs typeface="Calibri"/>
              </a:rPr>
              <a:t> Cloud Messaging (Health alert and notifications)</a:t>
            </a:r>
            <a:endParaRPr lang="en-US"/>
          </a:p>
        </p:txBody>
      </p:sp>
      <p:sp>
        <p:nvSpPr>
          <p:cNvPr id="5" name="TextBox 4">
            <a:extLst>
              <a:ext uri="{FF2B5EF4-FFF2-40B4-BE49-F238E27FC236}">
                <a16:creationId xmlns:a16="http://schemas.microsoft.com/office/drawing/2014/main" xmlns="" id="{E043E373-0D6B-4016-7B46-B2A26D55DFBE}"/>
              </a:ext>
            </a:extLst>
          </p:cNvPr>
          <p:cNvSpPr txBox="1"/>
          <p:nvPr/>
        </p:nvSpPr>
        <p:spPr>
          <a:xfrm>
            <a:off x="8442002" y="1090324"/>
            <a:ext cx="273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1</a:t>
            </a:r>
            <a:endParaRPr lang="en-US" dirty="0">
              <a:solidFill>
                <a:schemeClr val="bg1"/>
              </a:solidFill>
            </a:endParaRPr>
          </a:p>
        </p:txBody>
      </p:sp>
      <p:sp>
        <p:nvSpPr>
          <p:cNvPr id="7" name="TextBox 6">
            <a:extLst>
              <a:ext uri="{FF2B5EF4-FFF2-40B4-BE49-F238E27FC236}">
                <a16:creationId xmlns:a16="http://schemas.microsoft.com/office/drawing/2014/main" xmlns="" id="{99B1B9D3-5D90-EABA-5297-EE3A606D263F}"/>
              </a:ext>
            </a:extLst>
          </p:cNvPr>
          <p:cNvSpPr txBox="1"/>
          <p:nvPr/>
        </p:nvSpPr>
        <p:spPr>
          <a:xfrm flipH="1">
            <a:off x="7841987" y="1412335"/>
            <a:ext cx="1528408"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dirty="0">
                <a:solidFill>
                  <a:schemeClr val="tx2">
                    <a:lumMod val="76000"/>
                  </a:schemeClr>
                </a:solidFill>
                <a:ea typeface="Calibri"/>
                <a:cs typeface="Arial"/>
              </a:rPr>
              <a:t>Farmer / User</a:t>
            </a:r>
            <a:r>
              <a:rPr lang="en-US" sz="1500" b="1" dirty="0">
                <a:solidFill>
                  <a:schemeClr val="accent1">
                    <a:lumMod val="76000"/>
                  </a:schemeClr>
                </a:solidFill>
                <a:ea typeface="Calibri"/>
                <a:cs typeface="Arial"/>
              </a:rPr>
              <a:t>​</a:t>
            </a:r>
            <a:endParaRPr lang="en-US" sz="1500" b="1">
              <a:solidFill>
                <a:schemeClr val="accent1">
                  <a:lumMod val="76000"/>
                </a:schemeClr>
              </a:solidFill>
              <a:ea typeface="Calibri"/>
              <a:cs typeface="Calibri"/>
            </a:endParaRPr>
          </a:p>
          <a:p>
            <a:pPr marL="171450" indent="-171450">
              <a:buFont typeface="Arial"/>
              <a:buChar char="•"/>
            </a:pPr>
            <a:r>
              <a:rPr lang="en-US" sz="1000" dirty="0">
                <a:latin typeface="Calibri"/>
                <a:ea typeface="Calibri"/>
                <a:cs typeface="Arial"/>
              </a:rPr>
              <a:t>Upload animal image ​</a:t>
            </a:r>
            <a:endParaRPr lang="en-US" sz="1000">
              <a:latin typeface="Calibri"/>
              <a:ea typeface="Calibri"/>
              <a:cs typeface="Calibri"/>
            </a:endParaRPr>
          </a:p>
          <a:p>
            <a:pPr marL="171450" indent="-171450">
              <a:buFont typeface="Arial"/>
              <a:buChar char="•"/>
            </a:pPr>
            <a:r>
              <a:rPr lang="en-US" sz="1000" dirty="0">
                <a:latin typeface="Calibri"/>
                <a:ea typeface="Arial"/>
                <a:cs typeface="Arial"/>
              </a:rPr>
              <a:t>Enter details </a:t>
            </a:r>
            <a:r>
              <a:rPr lang="en-US" sz="1000" b="0" i="0" dirty="0">
                <a:latin typeface="Calibri"/>
                <a:ea typeface="Arial"/>
                <a:cs typeface="Arial"/>
              </a:rPr>
              <a:t>​</a:t>
            </a:r>
            <a:endParaRPr lang="en-US" sz="1000" b="0" i="0">
              <a:latin typeface="Calibri"/>
              <a:ea typeface="Arial"/>
              <a:cs typeface="Arial"/>
            </a:endParaRPr>
          </a:p>
          <a:p>
            <a:pPr marL="171450" indent="-171450">
              <a:buFont typeface="Arial"/>
              <a:buChar char="•"/>
            </a:pPr>
            <a:r>
              <a:rPr lang="en-US" sz="1000" dirty="0">
                <a:latin typeface="Calibri"/>
                <a:ea typeface="Calibri"/>
                <a:cs typeface="Arial"/>
              </a:rPr>
              <a:t>Get instant result</a:t>
            </a:r>
            <a:endParaRPr lang="en-US" sz="1000">
              <a:latin typeface="Arial"/>
              <a:ea typeface="Calibri"/>
              <a:cs typeface="Arial"/>
            </a:endParaRPr>
          </a:p>
        </p:txBody>
      </p:sp>
      <p:cxnSp>
        <p:nvCxnSpPr>
          <p:cNvPr id="43" name="Straight Arrow Connector 42">
            <a:extLst>
              <a:ext uri="{FF2B5EF4-FFF2-40B4-BE49-F238E27FC236}">
                <a16:creationId xmlns:a16="http://schemas.microsoft.com/office/drawing/2014/main" xmlns="" id="{E6638F9D-9D3C-A95C-A4A4-1B2118A30F39}"/>
              </a:ext>
            </a:extLst>
          </p:cNvPr>
          <p:cNvCxnSpPr/>
          <p:nvPr/>
        </p:nvCxnSpPr>
        <p:spPr>
          <a:xfrm>
            <a:off x="5014617" y="1714499"/>
            <a:ext cx="27214" cy="5089071"/>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853BB509-DCEE-EF71-4B58-23741C8D69E2}"/>
              </a:ext>
            </a:extLst>
          </p:cNvPr>
          <p:cNvSpPr txBox="1"/>
          <p:nvPr/>
        </p:nvSpPr>
        <p:spPr>
          <a:xfrm>
            <a:off x="10165750" y="1449525"/>
            <a:ext cx="2829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2</a:t>
            </a:r>
            <a:r>
              <a:rPr lang="en-US" sz="1800" b="1" i="0" u="none" strike="noStrike" baseline="0" dirty="0">
                <a:solidFill>
                  <a:schemeClr val="bg1"/>
                </a:solidFill>
                <a:latin typeface="Calibri"/>
              </a:rPr>
              <a:t> </a:t>
            </a:r>
            <a:endParaRPr lang="en-US" dirty="0">
              <a:solidFill>
                <a:schemeClr val="bg1"/>
              </a:solidFill>
            </a:endParaRPr>
          </a:p>
        </p:txBody>
      </p:sp>
      <p:cxnSp>
        <p:nvCxnSpPr>
          <p:cNvPr id="44" name="Straight Arrow Connector 43">
            <a:extLst>
              <a:ext uri="{FF2B5EF4-FFF2-40B4-BE49-F238E27FC236}">
                <a16:creationId xmlns:a16="http://schemas.microsoft.com/office/drawing/2014/main" xmlns="" id="{B5000CAC-D182-A5D5-547C-EA1D6E037B2E}"/>
              </a:ext>
            </a:extLst>
          </p:cNvPr>
          <p:cNvCxnSpPr/>
          <p:nvPr/>
        </p:nvCxnSpPr>
        <p:spPr>
          <a:xfrm flipH="1">
            <a:off x="140693" y="6803571"/>
            <a:ext cx="4911407"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C5BE2277-F3FC-1101-79E2-456E8DDE43B8}"/>
              </a:ext>
            </a:extLst>
          </p:cNvPr>
          <p:cNvSpPr txBox="1"/>
          <p:nvPr/>
        </p:nvSpPr>
        <p:spPr>
          <a:xfrm>
            <a:off x="11036061" y="2987901"/>
            <a:ext cx="3092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3</a:t>
            </a:r>
            <a:endParaRPr lang="en-US" dirty="0">
              <a:solidFill>
                <a:schemeClr val="bg1"/>
              </a:solidFill>
            </a:endParaRPr>
          </a:p>
        </p:txBody>
      </p:sp>
      <p:sp>
        <p:nvSpPr>
          <p:cNvPr id="17" name="TextBox 16">
            <a:extLst>
              <a:ext uri="{FF2B5EF4-FFF2-40B4-BE49-F238E27FC236}">
                <a16:creationId xmlns:a16="http://schemas.microsoft.com/office/drawing/2014/main" xmlns="" id="{46CEAF87-7AD7-48D3-0D93-A06D8302D723}"/>
              </a:ext>
            </a:extLst>
          </p:cNvPr>
          <p:cNvSpPr txBox="1"/>
          <p:nvPr/>
        </p:nvSpPr>
        <p:spPr>
          <a:xfrm>
            <a:off x="10732985" y="4463594"/>
            <a:ext cx="287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4</a:t>
            </a:r>
            <a:endParaRPr lang="en-US">
              <a:solidFill>
                <a:schemeClr val="bg1"/>
              </a:solidFill>
              <a:ea typeface="Calibri"/>
              <a:cs typeface="Calibri"/>
            </a:endParaRPr>
          </a:p>
        </p:txBody>
      </p:sp>
      <p:cxnSp>
        <p:nvCxnSpPr>
          <p:cNvPr id="46" name="Straight Arrow Connector 45">
            <a:extLst>
              <a:ext uri="{FF2B5EF4-FFF2-40B4-BE49-F238E27FC236}">
                <a16:creationId xmlns:a16="http://schemas.microsoft.com/office/drawing/2014/main" xmlns="" id="{E3413419-8DF4-E0F9-8758-00BE86A9EE4E}"/>
              </a:ext>
            </a:extLst>
          </p:cNvPr>
          <p:cNvCxnSpPr/>
          <p:nvPr/>
        </p:nvCxnSpPr>
        <p:spPr>
          <a:xfrm flipH="1">
            <a:off x="139922" y="1703973"/>
            <a:ext cx="14653" cy="510267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xmlns="" id="{5FF2E301-9B33-2EE7-B5A1-62B16026975B}"/>
              </a:ext>
            </a:extLst>
          </p:cNvPr>
          <p:cNvCxnSpPr>
            <a:cxnSpLocks/>
          </p:cNvCxnSpPr>
          <p:nvPr/>
        </p:nvCxnSpPr>
        <p:spPr>
          <a:xfrm flipH="1">
            <a:off x="155069" y="2087797"/>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84844679-A558-3A6B-A9E2-98AF21EF5DF1}"/>
              </a:ext>
            </a:extLst>
          </p:cNvPr>
          <p:cNvSpPr txBox="1"/>
          <p:nvPr/>
        </p:nvSpPr>
        <p:spPr>
          <a:xfrm>
            <a:off x="8427624" y="5136646"/>
            <a:ext cx="3565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5</a:t>
            </a:r>
            <a:endParaRPr lang="en-US" dirty="0">
              <a:solidFill>
                <a:schemeClr val="bg1"/>
              </a:solidFill>
            </a:endParaRPr>
          </a:p>
        </p:txBody>
      </p:sp>
      <p:sp>
        <p:nvSpPr>
          <p:cNvPr id="25" name="TextBox 24">
            <a:extLst>
              <a:ext uri="{FF2B5EF4-FFF2-40B4-BE49-F238E27FC236}">
                <a16:creationId xmlns:a16="http://schemas.microsoft.com/office/drawing/2014/main" xmlns="" id="{F03D719B-AE29-C0A6-CD26-EAAF7C53529D}"/>
              </a:ext>
            </a:extLst>
          </p:cNvPr>
          <p:cNvSpPr txBox="1"/>
          <p:nvPr/>
        </p:nvSpPr>
        <p:spPr>
          <a:xfrm>
            <a:off x="6140090" y="4483914"/>
            <a:ext cx="2300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6</a:t>
            </a:r>
            <a:endParaRPr lang="en-US">
              <a:solidFill>
                <a:schemeClr val="bg1"/>
              </a:solidFill>
              <a:ea typeface="Calibri"/>
              <a:cs typeface="Calibri"/>
            </a:endParaRPr>
          </a:p>
        </p:txBody>
      </p:sp>
      <p:cxnSp>
        <p:nvCxnSpPr>
          <p:cNvPr id="48" name="Straight Arrow Connector 47">
            <a:extLst>
              <a:ext uri="{FF2B5EF4-FFF2-40B4-BE49-F238E27FC236}">
                <a16:creationId xmlns:a16="http://schemas.microsoft.com/office/drawing/2014/main" xmlns="" id="{B2FD54D7-75F7-8DEF-16F5-90F968AFEFE0}"/>
              </a:ext>
            </a:extLst>
          </p:cNvPr>
          <p:cNvCxnSpPr>
            <a:cxnSpLocks/>
          </p:cNvCxnSpPr>
          <p:nvPr/>
        </p:nvCxnSpPr>
        <p:spPr>
          <a:xfrm flipH="1">
            <a:off x="155068" y="2447230"/>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xmlns="" id="{E577F047-9F65-45A4-88F0-29315B32F162}"/>
              </a:ext>
            </a:extLst>
          </p:cNvPr>
          <p:cNvCxnSpPr>
            <a:cxnSpLocks/>
          </p:cNvCxnSpPr>
          <p:nvPr/>
        </p:nvCxnSpPr>
        <p:spPr>
          <a:xfrm flipH="1">
            <a:off x="155069" y="2835419"/>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xmlns="" id="{380D542C-5CAF-6707-BC3B-FE3C35192BF0}"/>
              </a:ext>
            </a:extLst>
          </p:cNvPr>
          <p:cNvSpPr txBox="1"/>
          <p:nvPr/>
        </p:nvSpPr>
        <p:spPr>
          <a:xfrm>
            <a:off x="5851393" y="2992119"/>
            <a:ext cx="3596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7</a:t>
            </a:r>
            <a:endParaRPr lang="en-US">
              <a:solidFill>
                <a:schemeClr val="bg1"/>
              </a:solidFill>
              <a:ea typeface="Calibri"/>
              <a:cs typeface="Calibri"/>
            </a:endParaRPr>
          </a:p>
        </p:txBody>
      </p:sp>
      <p:sp>
        <p:nvSpPr>
          <p:cNvPr id="29" name="TextBox 28">
            <a:extLst>
              <a:ext uri="{FF2B5EF4-FFF2-40B4-BE49-F238E27FC236}">
                <a16:creationId xmlns:a16="http://schemas.microsoft.com/office/drawing/2014/main" xmlns="" id="{5C56FFC0-237B-42FA-5299-A310BC94AF2D}"/>
              </a:ext>
            </a:extLst>
          </p:cNvPr>
          <p:cNvSpPr txBox="1"/>
          <p:nvPr/>
        </p:nvSpPr>
        <p:spPr>
          <a:xfrm>
            <a:off x="6705599" y="1484222"/>
            <a:ext cx="2440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latin typeface="Calibri"/>
              </a:rPr>
              <a:t>8</a:t>
            </a:r>
            <a:endParaRPr lang="en-US">
              <a:solidFill>
                <a:schemeClr val="bg1"/>
              </a:solidFill>
              <a:ea typeface="Calibri"/>
              <a:cs typeface="Calibri"/>
            </a:endParaRPr>
          </a:p>
        </p:txBody>
      </p:sp>
      <p:cxnSp>
        <p:nvCxnSpPr>
          <p:cNvPr id="51" name="Straight Arrow Connector 50">
            <a:extLst>
              <a:ext uri="{FF2B5EF4-FFF2-40B4-BE49-F238E27FC236}">
                <a16:creationId xmlns:a16="http://schemas.microsoft.com/office/drawing/2014/main" xmlns="" id="{66998C93-AEED-F269-7E98-8376387EB5B3}"/>
              </a:ext>
            </a:extLst>
          </p:cNvPr>
          <p:cNvCxnSpPr>
            <a:cxnSpLocks/>
          </p:cNvCxnSpPr>
          <p:nvPr/>
        </p:nvCxnSpPr>
        <p:spPr>
          <a:xfrm flipH="1">
            <a:off x="155068" y="3209229"/>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xmlns="" id="{C9755BFC-A8AE-12F0-DE57-BC27729763AD}"/>
              </a:ext>
            </a:extLst>
          </p:cNvPr>
          <p:cNvCxnSpPr>
            <a:cxnSpLocks/>
          </p:cNvCxnSpPr>
          <p:nvPr/>
        </p:nvCxnSpPr>
        <p:spPr>
          <a:xfrm flipH="1">
            <a:off x="155069" y="3583041"/>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88832B5C-4A90-B9D3-2F21-DD7D0921CBD8}"/>
              </a:ext>
            </a:extLst>
          </p:cNvPr>
          <p:cNvSpPr txBox="1"/>
          <p:nvPr/>
        </p:nvSpPr>
        <p:spPr>
          <a:xfrm>
            <a:off x="9499600" y="1818735"/>
            <a:ext cx="1753079"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solidFill>
                  <a:schemeClr val="tx2">
                    <a:lumMod val="76000"/>
                  </a:schemeClr>
                </a:solidFill>
                <a:latin typeface="Calibri"/>
                <a:ea typeface="Arial"/>
                <a:cs typeface="Arial"/>
              </a:rPr>
              <a:t>VETNEXA Website</a:t>
            </a:r>
            <a:r>
              <a:rPr lang="en-US" sz="1500">
                <a:solidFill>
                  <a:srgbClr val="000000"/>
                </a:solidFill>
                <a:latin typeface="Calibri"/>
                <a:ea typeface="Arial"/>
                <a:cs typeface="Arial"/>
              </a:rPr>
              <a:t>​</a:t>
            </a:r>
            <a:endParaRPr lang="en-US"/>
          </a:p>
          <a:p>
            <a:pPr marL="171450" indent="-171450">
              <a:buFont typeface="Arial"/>
              <a:buChar char="•"/>
            </a:pPr>
            <a:r>
              <a:rPr lang="en-US" sz="1000" b="0" i="0" u="none" strike="noStrike" baseline="0" dirty="0">
                <a:latin typeface="Calibri"/>
                <a:ea typeface="Arial"/>
                <a:cs typeface="Arial"/>
              </a:rPr>
              <a:t>User friendly interface </a:t>
            </a:r>
            <a:r>
              <a:rPr lang="en-US" sz="1000" b="0" i="0" dirty="0">
                <a:latin typeface="Calibri"/>
                <a:ea typeface="Arial"/>
                <a:cs typeface="Arial"/>
              </a:rPr>
              <a:t>​</a:t>
            </a:r>
            <a:endParaRPr lang="en-US" sz="1000">
              <a:latin typeface="Calibri"/>
              <a:ea typeface="Calibri"/>
              <a:cs typeface="Arial"/>
            </a:endParaRPr>
          </a:p>
          <a:p>
            <a:pPr marL="171450" indent="-171450">
              <a:buFont typeface="Arial"/>
              <a:buChar char="•"/>
            </a:pPr>
            <a:r>
              <a:rPr lang="en-US" sz="1000">
                <a:latin typeface="Calibri"/>
                <a:ea typeface="Arial"/>
                <a:cs typeface="Arial"/>
              </a:rPr>
              <a:t>Upload</a:t>
            </a:r>
            <a:r>
              <a:rPr lang="en-US" sz="1000" b="0" i="0" u="none" strike="noStrike" baseline="0">
                <a:latin typeface="Calibri"/>
                <a:ea typeface="Arial"/>
                <a:cs typeface="Arial"/>
              </a:rPr>
              <a:t> </a:t>
            </a:r>
            <a:r>
              <a:rPr lang="en-US" sz="1000" b="0" i="0" u="none" strike="noStrike" baseline="0" dirty="0">
                <a:latin typeface="Calibri"/>
                <a:ea typeface="Arial"/>
                <a:cs typeface="Arial"/>
              </a:rPr>
              <a:t>image / data </a:t>
            </a:r>
            <a:r>
              <a:rPr lang="en-US" sz="1000" b="0" i="0" dirty="0">
                <a:latin typeface="Calibri"/>
                <a:ea typeface="Arial"/>
                <a:cs typeface="Arial"/>
              </a:rPr>
              <a:t>​</a:t>
            </a:r>
            <a:endParaRPr lang="en-US" sz="1000" b="0" i="0">
              <a:latin typeface="Calibri"/>
              <a:ea typeface="Calibri"/>
              <a:cs typeface="Arial"/>
            </a:endParaRPr>
          </a:p>
          <a:p>
            <a:pPr marL="171450" indent="-171450">
              <a:buFont typeface="Arial"/>
              <a:buChar char="•"/>
            </a:pPr>
            <a:r>
              <a:rPr lang="en-US" sz="1000" b="0" i="0" u="none" strike="noStrike" baseline="0">
                <a:latin typeface="Calibri"/>
                <a:ea typeface="Arial"/>
                <a:cs typeface="Arial"/>
              </a:rPr>
              <a:t>View results &amp; history</a:t>
            </a:r>
            <a:endParaRPr lang="en-US" sz="1000" b="0" i="0" u="none" strike="noStrike" baseline="0" dirty="0">
              <a:latin typeface="Calibri"/>
              <a:ea typeface="Arial"/>
              <a:cs typeface="Arial"/>
            </a:endParaRPr>
          </a:p>
          <a:p>
            <a:pPr algn="ctr"/>
            <a:endParaRPr lang="en-US" sz="1000">
              <a:ea typeface="Calibri"/>
              <a:cs typeface="Calibri"/>
            </a:endParaRPr>
          </a:p>
        </p:txBody>
      </p:sp>
      <p:cxnSp>
        <p:nvCxnSpPr>
          <p:cNvPr id="53" name="Straight Arrow Connector 52">
            <a:extLst>
              <a:ext uri="{FF2B5EF4-FFF2-40B4-BE49-F238E27FC236}">
                <a16:creationId xmlns:a16="http://schemas.microsoft.com/office/drawing/2014/main" xmlns="" id="{4448A878-1233-B45E-FCD5-96B523FB5FB2}"/>
              </a:ext>
            </a:extLst>
          </p:cNvPr>
          <p:cNvCxnSpPr>
            <a:cxnSpLocks/>
          </p:cNvCxnSpPr>
          <p:nvPr/>
        </p:nvCxnSpPr>
        <p:spPr>
          <a:xfrm flipH="1">
            <a:off x="155068" y="3956852"/>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xmlns="" id="{475C82C5-AC18-89B3-F99B-CEDB7934973A}"/>
              </a:ext>
            </a:extLst>
          </p:cNvPr>
          <p:cNvCxnSpPr>
            <a:cxnSpLocks/>
          </p:cNvCxnSpPr>
          <p:nvPr/>
        </p:nvCxnSpPr>
        <p:spPr>
          <a:xfrm flipH="1">
            <a:off x="155067" y="4330662"/>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xmlns="" id="{81687EF9-7050-79EE-068D-11CCFD4CB608}"/>
              </a:ext>
            </a:extLst>
          </p:cNvPr>
          <p:cNvCxnSpPr>
            <a:cxnSpLocks/>
          </p:cNvCxnSpPr>
          <p:nvPr/>
        </p:nvCxnSpPr>
        <p:spPr>
          <a:xfrm flipH="1">
            <a:off x="155068" y="4704474"/>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xmlns="" id="{2AC5DE5D-84E0-54E7-A233-97FB7CFA4C1E}"/>
              </a:ext>
            </a:extLst>
          </p:cNvPr>
          <p:cNvCxnSpPr>
            <a:cxnSpLocks/>
          </p:cNvCxnSpPr>
          <p:nvPr/>
        </p:nvCxnSpPr>
        <p:spPr>
          <a:xfrm flipH="1">
            <a:off x="155067" y="5078285"/>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xmlns="" id="{10AA6C05-FACC-060B-926E-2D6A1360D0E4}"/>
              </a:ext>
            </a:extLst>
          </p:cNvPr>
          <p:cNvCxnSpPr>
            <a:cxnSpLocks/>
          </p:cNvCxnSpPr>
          <p:nvPr/>
        </p:nvCxnSpPr>
        <p:spPr>
          <a:xfrm flipH="1">
            <a:off x="155067" y="5452097"/>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xmlns="" id="{A097B572-A2B0-5668-FD11-CC66F3D133D5}"/>
              </a:ext>
            </a:extLst>
          </p:cNvPr>
          <p:cNvCxnSpPr>
            <a:cxnSpLocks/>
          </p:cNvCxnSpPr>
          <p:nvPr/>
        </p:nvCxnSpPr>
        <p:spPr>
          <a:xfrm flipH="1">
            <a:off x="155067" y="5854662"/>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xmlns="" id="{72C11AEA-350B-E014-1586-231C56B2A91F}"/>
              </a:ext>
            </a:extLst>
          </p:cNvPr>
          <p:cNvSpPr txBox="1"/>
          <p:nvPr/>
        </p:nvSpPr>
        <p:spPr>
          <a:xfrm>
            <a:off x="10108241" y="3316473"/>
            <a:ext cx="1846054"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solidFill>
                  <a:schemeClr val="tx2">
                    <a:lumMod val="76000"/>
                  </a:schemeClr>
                </a:solidFill>
                <a:latin typeface="Calibri"/>
                <a:cs typeface="Arial"/>
              </a:rPr>
              <a:t>Image Preprocessing</a:t>
            </a:r>
            <a:r>
              <a:rPr lang="en-US" sz="1500">
                <a:solidFill>
                  <a:srgbClr val="000000"/>
                </a:solidFill>
                <a:latin typeface="Calibri"/>
                <a:cs typeface="Arial"/>
              </a:rPr>
              <a:t>​</a:t>
            </a:r>
            <a:endParaRPr lang="en-US" sz="1500">
              <a:latin typeface="Calibri"/>
              <a:ea typeface="Calibri"/>
              <a:cs typeface="Calibri"/>
            </a:endParaRPr>
          </a:p>
          <a:p>
            <a:pPr marL="171450" indent="-171450">
              <a:buFont typeface="Arial"/>
              <a:buChar char="•"/>
            </a:pPr>
            <a:r>
              <a:rPr lang="en-US" sz="1000" b="0" i="0" u="none" strike="noStrike" baseline="0">
                <a:latin typeface="Calibri"/>
                <a:ea typeface="Arial"/>
                <a:cs typeface="Arial"/>
              </a:rPr>
              <a:t>Resize </a:t>
            </a:r>
            <a:endParaRPr lang="en-US" sz="1500">
              <a:latin typeface="Calibri"/>
              <a:ea typeface="Calibri"/>
              <a:cs typeface="Calibri"/>
            </a:endParaRPr>
          </a:p>
          <a:p>
            <a:pPr marL="171450" indent="-171450">
              <a:buFont typeface="Arial"/>
              <a:buChar char="•"/>
            </a:pPr>
            <a:r>
              <a:rPr lang="en-US" sz="1000" b="0" i="0" u="none" strike="noStrike" baseline="0">
                <a:latin typeface="Calibri"/>
                <a:ea typeface="Arial"/>
                <a:cs typeface="Arial"/>
              </a:rPr>
              <a:t>Crop </a:t>
            </a:r>
            <a:r>
              <a:rPr lang="en-US" sz="1000" b="0" i="0">
                <a:latin typeface="Calibri"/>
                <a:ea typeface="Arial"/>
                <a:cs typeface="Arial"/>
              </a:rPr>
              <a:t>​</a:t>
            </a:r>
            <a:endParaRPr lang="en-US">
              <a:latin typeface="Calibri"/>
              <a:ea typeface="Calibri"/>
              <a:cs typeface="Calibri"/>
            </a:endParaRPr>
          </a:p>
          <a:p>
            <a:pPr marL="171450" indent="-171450">
              <a:buFont typeface="Arial"/>
              <a:buChar char="•"/>
            </a:pPr>
            <a:r>
              <a:rPr lang="en-US" sz="1000">
                <a:latin typeface="Calibri"/>
                <a:ea typeface="Arial"/>
                <a:cs typeface="Arial"/>
              </a:rPr>
              <a:t>Quality</a:t>
            </a:r>
            <a:r>
              <a:rPr lang="en-US" sz="1000" b="0" i="0" u="none" strike="noStrike" baseline="0">
                <a:latin typeface="Calibri"/>
                <a:ea typeface="Arial"/>
                <a:cs typeface="Arial"/>
              </a:rPr>
              <a:t> check </a:t>
            </a:r>
            <a:r>
              <a:rPr lang="en-US" sz="1000" b="0" i="0">
                <a:latin typeface="Calibri"/>
                <a:ea typeface="Arial"/>
                <a:cs typeface="Arial"/>
              </a:rPr>
              <a:t>​</a:t>
            </a:r>
            <a:endParaRPr lang="en-US" b="0" i="0">
              <a:latin typeface="Calibri"/>
              <a:ea typeface="Calibri"/>
              <a:cs typeface="Calibri"/>
            </a:endParaRPr>
          </a:p>
          <a:p>
            <a:pPr marL="171450" indent="-171450">
              <a:buFont typeface="Arial"/>
              <a:buChar char="•"/>
            </a:pPr>
            <a:r>
              <a:rPr lang="en-US" sz="1000" b="0" i="0" u="none" strike="noStrike" baseline="0">
                <a:latin typeface="Calibri"/>
                <a:ea typeface="Arial"/>
                <a:cs typeface="Arial"/>
              </a:rPr>
              <a:t>Normalization </a:t>
            </a:r>
            <a:r>
              <a:rPr lang="en-US" sz="1000" b="0" i="0">
                <a:latin typeface="Calibri"/>
                <a:ea typeface="Arial"/>
                <a:cs typeface="Arial"/>
              </a:rPr>
              <a:t>​</a:t>
            </a:r>
          </a:p>
        </p:txBody>
      </p:sp>
      <p:cxnSp>
        <p:nvCxnSpPr>
          <p:cNvPr id="61" name="Straight Arrow Connector 60">
            <a:extLst>
              <a:ext uri="{FF2B5EF4-FFF2-40B4-BE49-F238E27FC236}">
                <a16:creationId xmlns:a16="http://schemas.microsoft.com/office/drawing/2014/main" xmlns="" id="{13C09348-5D61-F5CD-2FC5-79080B1CC560}"/>
              </a:ext>
            </a:extLst>
          </p:cNvPr>
          <p:cNvCxnSpPr>
            <a:cxnSpLocks/>
          </p:cNvCxnSpPr>
          <p:nvPr/>
        </p:nvCxnSpPr>
        <p:spPr>
          <a:xfrm flipH="1">
            <a:off x="155068" y="6214096"/>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xmlns="" id="{59A2A9B1-517F-8058-AF4C-96E6F01BC1FC}"/>
              </a:ext>
            </a:extLst>
          </p:cNvPr>
          <p:cNvCxnSpPr>
            <a:cxnSpLocks/>
          </p:cNvCxnSpPr>
          <p:nvPr/>
        </p:nvCxnSpPr>
        <p:spPr>
          <a:xfrm flipH="1">
            <a:off x="155067" y="6587907"/>
            <a:ext cx="4868275" cy="27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xmlns="" id="{771D434D-A3E9-C2AB-DF78-C18CD8178A4F}"/>
              </a:ext>
            </a:extLst>
          </p:cNvPr>
          <p:cNvSpPr txBox="1"/>
          <p:nvPr/>
        </p:nvSpPr>
        <p:spPr>
          <a:xfrm flipH="1">
            <a:off x="9542732" y="4764174"/>
            <a:ext cx="1623299"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800" b="1" i="0" u="none" strike="noStrike" baseline="0" dirty="0">
                <a:solidFill>
                  <a:srgbClr val="000000"/>
                </a:solidFill>
                <a:latin typeface="Calibri"/>
                <a:ea typeface="Arial"/>
                <a:cs typeface="Arial"/>
              </a:rPr>
              <a:t> </a:t>
            </a:r>
            <a:r>
              <a:rPr lang="en-US" sz="1500" b="1" i="0" u="none" strike="noStrike" baseline="0" dirty="0">
                <a:solidFill>
                  <a:schemeClr val="tx2">
                    <a:lumMod val="76000"/>
                  </a:schemeClr>
                </a:solidFill>
                <a:latin typeface="Calibri"/>
                <a:ea typeface="Arial"/>
                <a:cs typeface="Arial"/>
              </a:rPr>
              <a:t>ML Model</a:t>
            </a:r>
            <a:r>
              <a:rPr lang="en-US" sz="1500" b="0" i="0" dirty="0">
                <a:solidFill>
                  <a:srgbClr val="000000"/>
                </a:solidFill>
                <a:latin typeface="Calibri"/>
                <a:ea typeface="Arial"/>
                <a:cs typeface="Arial"/>
              </a:rPr>
              <a:t>​</a:t>
            </a:r>
            <a:endParaRPr lang="en-US"/>
          </a:p>
          <a:p>
            <a:pPr marL="171450" indent="-171450">
              <a:buFont typeface="Arial"/>
              <a:buChar char="•"/>
            </a:pPr>
            <a:r>
              <a:rPr lang="en-US" sz="1000" b="0" i="0" u="none" strike="noStrike" baseline="0">
                <a:latin typeface="Calibri"/>
                <a:ea typeface="Arial"/>
                <a:cs typeface="Arial"/>
              </a:rPr>
              <a:t>Disease classification </a:t>
            </a:r>
            <a:r>
              <a:rPr lang="en-US" sz="1000" b="0" i="0">
                <a:latin typeface="Calibri"/>
                <a:ea typeface="Arial"/>
                <a:cs typeface="Arial"/>
              </a:rPr>
              <a:t>​</a:t>
            </a:r>
          </a:p>
          <a:p>
            <a:pPr marL="171450" indent="-171450">
              <a:buFont typeface="Arial"/>
              <a:buChar char="•"/>
            </a:pPr>
            <a:r>
              <a:rPr lang="en-US" sz="1000" b="0" i="0" u="none" strike="noStrike" baseline="0">
                <a:latin typeface="Calibri"/>
                <a:ea typeface="Arial"/>
                <a:cs typeface="Arial"/>
              </a:rPr>
              <a:t>Analyze image </a:t>
            </a:r>
            <a:r>
              <a:rPr lang="en-US" sz="1000" b="0" i="0">
                <a:latin typeface="Calibri"/>
                <a:ea typeface="Arial"/>
                <a:cs typeface="Arial"/>
              </a:rPr>
              <a:t>​</a:t>
            </a:r>
          </a:p>
          <a:p>
            <a:pPr marL="171450" indent="-171450">
              <a:buFont typeface="Arial"/>
              <a:buChar char="•"/>
            </a:pPr>
            <a:r>
              <a:rPr lang="en-US" sz="1000" b="0" i="0" u="none" strike="noStrike" baseline="0">
                <a:latin typeface="Calibri"/>
                <a:ea typeface="Arial"/>
                <a:cs typeface="Arial"/>
              </a:rPr>
              <a:t>Confidence prediction </a:t>
            </a:r>
            <a:r>
              <a:rPr lang="en-US" sz="1000" b="0" i="0">
                <a:latin typeface="Calibri"/>
                <a:ea typeface="Arial"/>
                <a:cs typeface="Arial"/>
              </a:rPr>
              <a:t>​</a:t>
            </a:r>
          </a:p>
          <a:p>
            <a:pPr marL="171450" indent="-171450">
              <a:buFont typeface="Arial"/>
              <a:buChar char="•"/>
            </a:pPr>
            <a:r>
              <a:rPr lang="en-US" sz="1000" b="0" i="0" u="none" strike="noStrike" baseline="0">
                <a:latin typeface="Calibri"/>
                <a:ea typeface="Arial"/>
                <a:cs typeface="Arial"/>
              </a:rPr>
              <a:t>Confidence score </a:t>
            </a:r>
          </a:p>
        </p:txBody>
      </p:sp>
      <p:sp>
        <p:nvSpPr>
          <p:cNvPr id="38" name="TextBox 37">
            <a:extLst>
              <a:ext uri="{FF2B5EF4-FFF2-40B4-BE49-F238E27FC236}">
                <a16:creationId xmlns:a16="http://schemas.microsoft.com/office/drawing/2014/main" xmlns="" id="{9BAC881C-8643-C0AF-BC86-08D334D3DE4E}"/>
              </a:ext>
            </a:extLst>
          </p:cNvPr>
          <p:cNvSpPr txBox="1"/>
          <p:nvPr/>
        </p:nvSpPr>
        <p:spPr>
          <a:xfrm>
            <a:off x="7641278" y="5465217"/>
            <a:ext cx="1891295"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500" b="1" i="0" u="none" strike="noStrike" baseline="0" dirty="0">
                <a:solidFill>
                  <a:schemeClr val="tx2">
                    <a:lumMod val="76000"/>
                  </a:schemeClr>
                </a:solidFill>
                <a:latin typeface="Calibri"/>
                <a:ea typeface="Segoe UI"/>
                <a:cs typeface="Segoe UI"/>
              </a:rPr>
              <a:t>Confidence Check</a:t>
            </a:r>
            <a:r>
              <a:rPr lang="en-US" sz="1500" b="0" i="0" dirty="0">
                <a:solidFill>
                  <a:srgbClr val="000000"/>
                </a:solidFill>
                <a:latin typeface="Calibri"/>
                <a:ea typeface="Segoe UI"/>
                <a:cs typeface="Segoe UI"/>
              </a:rPr>
              <a:t>​</a:t>
            </a:r>
            <a:endParaRPr lang="en-US"/>
          </a:p>
          <a:p>
            <a:pPr marL="171450" lvl="0" indent="-171450" algn="l" rtl="0">
              <a:buFont typeface="Arial"/>
              <a:buChar char="•"/>
            </a:pPr>
            <a:r>
              <a:rPr lang="en-US" sz="1000" b="0" i="0" u="none" strike="noStrike" baseline="0">
                <a:latin typeface="Calibri"/>
                <a:ea typeface="Arial"/>
                <a:cs typeface="Arial"/>
              </a:rPr>
              <a:t>High confidence → Predict </a:t>
            </a:r>
            <a:r>
              <a:rPr lang="en-US" sz="1000" b="0" i="0">
                <a:latin typeface="Calibri"/>
                <a:ea typeface="Arial"/>
                <a:cs typeface="Arial"/>
              </a:rPr>
              <a:t>​</a:t>
            </a:r>
          </a:p>
          <a:p>
            <a:pPr marL="171450" indent="-171450">
              <a:buFont typeface="Arial"/>
              <a:buChar char="•"/>
            </a:pPr>
            <a:r>
              <a:rPr lang="en-US" sz="1000" b="0" i="0" u="none" strike="noStrike" baseline="0">
                <a:latin typeface="Calibri"/>
                <a:ea typeface="Arial"/>
                <a:cs typeface="Arial"/>
              </a:rPr>
              <a:t>Low confidence →</a:t>
            </a:r>
            <a:r>
              <a:rPr lang="en-US" sz="1000">
                <a:latin typeface="Calibri"/>
                <a:ea typeface="Arial"/>
                <a:cs typeface="Arial"/>
              </a:rPr>
              <a:t> Re-check</a:t>
            </a:r>
            <a:r>
              <a:rPr lang="en-US" sz="1000" b="0" i="0" u="none" strike="noStrike" baseline="0">
                <a:latin typeface="Calibri"/>
                <a:ea typeface="Arial"/>
                <a:cs typeface="Arial"/>
              </a:rPr>
              <a:t> </a:t>
            </a:r>
            <a:r>
              <a:rPr lang="en-US" sz="1000" b="0" i="0">
                <a:latin typeface="Calibri"/>
                <a:ea typeface="Arial"/>
                <a:cs typeface="Arial"/>
              </a:rPr>
              <a:t>​</a:t>
            </a:r>
            <a:endParaRPr lang="en-US" sz="1000">
              <a:latin typeface="Calibri"/>
              <a:ea typeface="Arial"/>
              <a:cs typeface="Arial"/>
            </a:endParaRPr>
          </a:p>
          <a:p>
            <a:pPr marL="171450" lvl="0" indent="-171450" algn="l">
              <a:buFont typeface="Arial"/>
              <a:buChar char="•"/>
            </a:pPr>
            <a:r>
              <a:rPr lang="en-US" sz="1000" b="0" i="0" u="none" strike="noStrike" baseline="0">
                <a:latin typeface="Calibri"/>
                <a:ea typeface="Arial"/>
                <a:cs typeface="Arial"/>
              </a:rPr>
              <a:t>Ensure accuracy </a:t>
            </a:r>
            <a:r>
              <a:rPr lang="en-US" sz="1000" b="0" i="0">
                <a:latin typeface="Calibri"/>
                <a:ea typeface="Arial"/>
                <a:cs typeface="Arial"/>
              </a:rPr>
              <a:t>​</a:t>
            </a:r>
            <a:endParaRPr lang="en-US">
              <a:ea typeface="Calibri"/>
              <a:cs typeface="Calibri"/>
            </a:endParaRPr>
          </a:p>
        </p:txBody>
      </p:sp>
      <p:sp>
        <p:nvSpPr>
          <p:cNvPr id="40" name="TextBox 39">
            <a:extLst>
              <a:ext uri="{FF2B5EF4-FFF2-40B4-BE49-F238E27FC236}">
                <a16:creationId xmlns:a16="http://schemas.microsoft.com/office/drawing/2014/main" xmlns="" id="{E74E7CE2-A2EB-3F5F-A205-76B6D8E801B3}"/>
              </a:ext>
            </a:extLst>
          </p:cNvPr>
          <p:cNvSpPr txBox="1"/>
          <p:nvPr/>
        </p:nvSpPr>
        <p:spPr>
          <a:xfrm>
            <a:off x="5372148" y="3307080"/>
            <a:ext cx="1672757"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i="0" u="none" strike="noStrike" baseline="0" dirty="0">
                <a:solidFill>
                  <a:schemeClr val="tx2">
                    <a:lumMod val="76000"/>
                  </a:schemeClr>
                </a:solidFill>
                <a:latin typeface="Calibri"/>
                <a:ea typeface="Arial"/>
                <a:cs typeface="Arial"/>
              </a:rPr>
              <a:t>Recommendation </a:t>
            </a:r>
            <a:endParaRPr lang="en-US" sz="1500" dirty="0">
              <a:solidFill>
                <a:schemeClr val="tx2">
                  <a:lumMod val="76000"/>
                </a:schemeClr>
              </a:solidFill>
              <a:ea typeface="Calibri"/>
              <a:cs typeface="Calibri"/>
            </a:endParaRPr>
          </a:p>
          <a:p>
            <a:r>
              <a:rPr lang="en-US" sz="1500" b="1" dirty="0">
                <a:solidFill>
                  <a:schemeClr val="tx2">
                    <a:lumMod val="76000"/>
                  </a:schemeClr>
                </a:solidFill>
                <a:latin typeface="Calibri"/>
                <a:ea typeface="Arial"/>
                <a:cs typeface="Arial"/>
              </a:rPr>
              <a:t>         </a:t>
            </a:r>
            <a:r>
              <a:rPr lang="en-US" sz="1500" b="1" i="0" u="none" strike="noStrike" baseline="0" dirty="0">
                <a:solidFill>
                  <a:schemeClr val="tx2">
                    <a:lumMod val="76000"/>
                  </a:schemeClr>
                </a:solidFill>
                <a:latin typeface="Calibri"/>
                <a:ea typeface="Arial"/>
                <a:cs typeface="Arial"/>
              </a:rPr>
              <a:t>Engine</a:t>
            </a:r>
            <a:r>
              <a:rPr lang="en-US" sz="1500" b="0" i="0" u="none" strike="noStrike" baseline="0" dirty="0">
                <a:solidFill>
                  <a:schemeClr val="tx2">
                    <a:lumMod val="76000"/>
                  </a:schemeClr>
                </a:solidFill>
                <a:latin typeface="Calibri"/>
                <a:ea typeface="Arial"/>
                <a:cs typeface="Arial"/>
              </a:rPr>
              <a:t>​</a:t>
            </a:r>
            <a:r>
              <a:rPr lang="en-US" sz="1500" b="0" i="0" dirty="0">
                <a:solidFill>
                  <a:srgbClr val="000000"/>
                </a:solidFill>
                <a:latin typeface="Calibri"/>
                <a:ea typeface="Arial"/>
                <a:cs typeface="Arial"/>
              </a:rPr>
              <a:t>​</a:t>
            </a:r>
            <a:endParaRPr lang="en-US" sz="1500" dirty="0">
              <a:ea typeface="Calibri"/>
              <a:cs typeface="Calibri"/>
            </a:endParaRPr>
          </a:p>
          <a:p>
            <a:pPr marL="171450" indent="-171450">
              <a:buFont typeface="Arial"/>
              <a:buChar char="•"/>
            </a:pPr>
            <a:r>
              <a:rPr lang="en-US" sz="1000" b="0" i="0" u="none" strike="noStrike" baseline="0">
                <a:solidFill>
                  <a:srgbClr val="000000"/>
                </a:solidFill>
                <a:latin typeface="Calibri"/>
                <a:ea typeface="Arial"/>
                <a:cs typeface="Arial"/>
              </a:rPr>
              <a:t>Symptoms ​</a:t>
            </a:r>
            <a:r>
              <a:rPr lang="en-US" sz="1000" b="0" i="0">
                <a:solidFill>
                  <a:srgbClr val="000000"/>
                </a:solidFill>
                <a:latin typeface="Calibri"/>
                <a:ea typeface="Arial"/>
                <a:cs typeface="Arial"/>
              </a:rPr>
              <a:t>​</a:t>
            </a:r>
          </a:p>
          <a:p>
            <a:pPr marL="171450" indent="-171450">
              <a:buFont typeface="Arial"/>
              <a:buChar char="•"/>
            </a:pPr>
            <a:r>
              <a:rPr lang="en-US" sz="1000">
                <a:solidFill>
                  <a:srgbClr val="000000"/>
                </a:solidFill>
                <a:latin typeface="Arial"/>
                <a:ea typeface="Calibri"/>
                <a:cs typeface="Arial"/>
              </a:rPr>
              <a:t>Treatment</a:t>
            </a:r>
          </a:p>
          <a:p>
            <a:pPr marL="171450" indent="-171450">
              <a:buFont typeface="Arial"/>
              <a:buChar char="•"/>
            </a:pPr>
            <a:r>
              <a:rPr lang="en-US" sz="1000">
                <a:solidFill>
                  <a:srgbClr val="000000"/>
                </a:solidFill>
                <a:latin typeface="Arial"/>
                <a:ea typeface="Calibri"/>
                <a:cs typeface="Arial"/>
              </a:rPr>
              <a:t>Prevention</a:t>
            </a:r>
            <a:endParaRPr lang="en-US">
              <a:ea typeface="Calibri"/>
              <a:cs typeface="Calibri"/>
            </a:endParaRPr>
          </a:p>
          <a:p>
            <a:pPr marL="171450" indent="-171450">
              <a:buFont typeface="Arial"/>
              <a:buChar char="•"/>
            </a:pPr>
            <a:r>
              <a:rPr lang="en-US" sz="1000">
                <a:solidFill>
                  <a:srgbClr val="000000"/>
                </a:solidFill>
                <a:latin typeface="Calibri"/>
                <a:ea typeface="Calibri"/>
                <a:cs typeface="Calibri"/>
              </a:rPr>
              <a:t>Advisory / Care tips</a:t>
            </a:r>
            <a:r>
              <a:rPr lang="en-US" sz="1000" b="0" i="0" u="none" strike="noStrike" baseline="0">
                <a:solidFill>
                  <a:srgbClr val="000000"/>
                </a:solidFill>
                <a:latin typeface="Calibri"/>
                <a:ea typeface="Arial"/>
                <a:cs typeface="Arial"/>
              </a:rPr>
              <a:t> ​</a:t>
            </a:r>
            <a:r>
              <a:rPr lang="en-US" sz="1000" b="0" i="0">
                <a:solidFill>
                  <a:srgbClr val="000000"/>
                </a:solidFill>
                <a:latin typeface="Calibri"/>
                <a:ea typeface="Arial"/>
                <a:cs typeface="Arial"/>
              </a:rPr>
              <a:t>​</a:t>
            </a:r>
            <a:r>
              <a:rPr lang="en-US" sz="1000">
                <a:solidFill>
                  <a:srgbClr val="000000"/>
                </a:solidFill>
                <a:latin typeface="Calibri"/>
                <a:ea typeface="Arial"/>
                <a:cs typeface="Arial"/>
              </a:rPr>
              <a:t>       </a:t>
            </a:r>
            <a:endParaRPr lang="en-US" sz="1000">
              <a:ea typeface="Calibri"/>
              <a:cs typeface="Arial"/>
            </a:endParaRPr>
          </a:p>
        </p:txBody>
      </p:sp>
      <p:sp>
        <p:nvSpPr>
          <p:cNvPr id="63" name="TextBox 62">
            <a:extLst>
              <a:ext uri="{FF2B5EF4-FFF2-40B4-BE49-F238E27FC236}">
                <a16:creationId xmlns:a16="http://schemas.microsoft.com/office/drawing/2014/main" xmlns="" id="{62A0ADFA-BDC4-8C88-FC7B-332FEE292DAB}"/>
              </a:ext>
            </a:extLst>
          </p:cNvPr>
          <p:cNvSpPr txBox="1"/>
          <p:nvPr/>
        </p:nvSpPr>
        <p:spPr>
          <a:xfrm>
            <a:off x="5841423" y="4833573"/>
            <a:ext cx="13903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i="0" u="none" strike="noStrike" baseline="0" dirty="0">
                <a:solidFill>
                  <a:schemeClr val="tx2">
                    <a:lumMod val="76000"/>
                  </a:schemeClr>
                </a:solidFill>
                <a:latin typeface="Calibri"/>
                <a:ea typeface="Arial"/>
                <a:cs typeface="Arial"/>
              </a:rPr>
              <a:t>Veterinarian</a:t>
            </a:r>
            <a:endParaRPr lang="en-US" dirty="0">
              <a:solidFill>
                <a:schemeClr val="tx2">
                  <a:lumMod val="76000"/>
                </a:schemeClr>
              </a:solidFill>
              <a:ea typeface="Calibri"/>
              <a:cs typeface="Calibri"/>
            </a:endParaRPr>
          </a:p>
          <a:p>
            <a:r>
              <a:rPr lang="en-US" sz="1500" b="1">
                <a:solidFill>
                  <a:schemeClr val="tx2">
                    <a:lumMod val="76000"/>
                  </a:schemeClr>
                </a:solidFill>
                <a:latin typeface="Calibri"/>
                <a:ea typeface="Arial"/>
                <a:cs typeface="Arial"/>
              </a:rPr>
              <a:t> </a:t>
            </a:r>
            <a:r>
              <a:rPr lang="en-US" sz="1500" b="1" i="0" u="none" strike="noStrike" baseline="0">
                <a:solidFill>
                  <a:schemeClr val="tx2">
                    <a:lumMod val="76000"/>
                  </a:schemeClr>
                </a:solidFill>
                <a:latin typeface="Calibri"/>
                <a:ea typeface="Arial"/>
                <a:cs typeface="Arial"/>
              </a:rPr>
              <a:t>Verification</a:t>
            </a:r>
            <a:r>
              <a:rPr lang="en-US" sz="1500" b="0" i="0" u="none" strike="noStrike" baseline="0">
                <a:solidFill>
                  <a:schemeClr val="tx2">
                    <a:lumMod val="76000"/>
                  </a:schemeClr>
                </a:solidFill>
                <a:latin typeface="Calibri"/>
                <a:ea typeface="Arial"/>
                <a:cs typeface="Arial"/>
              </a:rPr>
              <a:t>​</a:t>
            </a:r>
            <a:r>
              <a:rPr lang="en-US" sz="1500" b="0" i="0">
                <a:solidFill>
                  <a:srgbClr val="000000"/>
                </a:solidFill>
                <a:latin typeface="Calibri"/>
                <a:ea typeface="Arial"/>
                <a:cs typeface="Arial"/>
              </a:rPr>
              <a:t>​</a:t>
            </a:r>
            <a:endParaRPr lang="en-US" dirty="0">
              <a:latin typeface="Calibri"/>
              <a:ea typeface="Calibri"/>
              <a:cs typeface="Calibri"/>
            </a:endParaRPr>
          </a:p>
          <a:p>
            <a:pPr marL="171450" indent="-171450">
              <a:buFont typeface="Arial"/>
              <a:buChar char="•"/>
            </a:pPr>
            <a:r>
              <a:rPr lang="en-US" sz="1000" b="0" i="0" u="none" strike="noStrike" baseline="0">
                <a:latin typeface="Calibri"/>
                <a:ea typeface="Arial"/>
                <a:cs typeface="Arial"/>
              </a:rPr>
              <a:t>Expert review ​</a:t>
            </a:r>
            <a:r>
              <a:rPr lang="en-US" sz="1000" b="0" i="0">
                <a:latin typeface="Calibri"/>
                <a:ea typeface="Arial"/>
                <a:cs typeface="Arial"/>
              </a:rPr>
              <a:t>​</a:t>
            </a:r>
            <a:endParaRPr lang="en-US">
              <a:latin typeface="Calibri"/>
              <a:ea typeface="Calibri"/>
              <a:cs typeface="Calibri"/>
            </a:endParaRPr>
          </a:p>
          <a:p>
            <a:pPr marL="171450" indent="-171450">
              <a:buFont typeface="Arial"/>
              <a:buChar char="•"/>
            </a:pPr>
            <a:r>
              <a:rPr lang="en-US" sz="1000" b="0" i="0" u="none" strike="noStrike" baseline="0">
                <a:latin typeface="Calibri"/>
                <a:ea typeface="Arial"/>
                <a:cs typeface="Arial"/>
              </a:rPr>
              <a:t>Confirm diagnosis ​</a:t>
            </a:r>
            <a:r>
              <a:rPr lang="en-US" sz="1000" b="0" i="0">
                <a:latin typeface="Calibri"/>
                <a:ea typeface="Arial"/>
                <a:cs typeface="Arial"/>
              </a:rPr>
              <a:t>​</a:t>
            </a:r>
            <a:endParaRPr lang="en-US">
              <a:latin typeface="Calibri"/>
              <a:ea typeface="Calibri"/>
              <a:cs typeface="Calibri"/>
            </a:endParaRPr>
          </a:p>
          <a:p>
            <a:pPr marL="171450" indent="-171450">
              <a:buFont typeface="Arial"/>
              <a:buChar char="•"/>
            </a:pPr>
            <a:r>
              <a:rPr lang="en-US" sz="1000" b="0" i="0" u="none" strike="noStrike" baseline="0">
                <a:latin typeface="Calibri"/>
                <a:ea typeface="Arial"/>
                <a:cs typeface="Arial"/>
              </a:rPr>
              <a:t>Suggest treatment </a:t>
            </a:r>
            <a:r>
              <a:rPr lang="en-US" sz="1000" b="0" i="0" u="none" strike="noStrike" baseline="0" dirty="0">
                <a:solidFill>
                  <a:srgbClr val="000000"/>
                </a:solidFill>
                <a:latin typeface="Calibri"/>
                <a:ea typeface="Arial"/>
                <a:cs typeface="Arial"/>
              </a:rPr>
              <a:t>​</a:t>
            </a:r>
            <a:endParaRPr lang="en-US" b="0" i="0" u="none" strike="noStrike" baseline="0">
              <a:solidFill>
                <a:srgbClr val="000000"/>
              </a:solidFill>
              <a:latin typeface="Calibri"/>
              <a:ea typeface="Calibri"/>
              <a:cs typeface="Calibri"/>
            </a:endParaRPr>
          </a:p>
        </p:txBody>
      </p:sp>
      <p:sp>
        <p:nvSpPr>
          <p:cNvPr id="64" name="TextBox 63">
            <a:extLst>
              <a:ext uri="{FF2B5EF4-FFF2-40B4-BE49-F238E27FC236}">
                <a16:creationId xmlns:a16="http://schemas.microsoft.com/office/drawing/2014/main" xmlns="" id="{61FA45A7-B1D1-CF8A-2D7B-DA2A0FBCD0A6}"/>
              </a:ext>
            </a:extLst>
          </p:cNvPr>
          <p:cNvSpPr txBox="1"/>
          <p:nvPr/>
        </p:nvSpPr>
        <p:spPr>
          <a:xfrm>
            <a:off x="6258367" y="1851707"/>
            <a:ext cx="133288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dirty="0">
                <a:solidFill>
                  <a:schemeClr val="tx2">
                    <a:lumMod val="76000"/>
                  </a:schemeClr>
                </a:solidFill>
                <a:latin typeface="Calibri"/>
                <a:ea typeface="Arial"/>
                <a:cs typeface="Arial"/>
              </a:rPr>
              <a:t>Database</a:t>
            </a:r>
            <a:r>
              <a:rPr lang="en-US" sz="1500" b="1" i="0" u="none" strike="noStrike" baseline="0" dirty="0">
                <a:solidFill>
                  <a:schemeClr val="tx2">
                    <a:lumMod val="76000"/>
                  </a:schemeClr>
                </a:solidFill>
                <a:latin typeface="Calibri"/>
                <a:ea typeface="Arial"/>
                <a:cs typeface="Arial"/>
              </a:rPr>
              <a:t> &amp;</a:t>
            </a:r>
            <a:endParaRPr lang="en-US" sz="1500" dirty="0">
              <a:solidFill>
                <a:schemeClr val="tx2">
                  <a:lumMod val="76000"/>
                </a:schemeClr>
              </a:solidFill>
              <a:ea typeface="Calibri"/>
              <a:cs typeface="Calibri"/>
            </a:endParaRPr>
          </a:p>
          <a:p>
            <a:pPr algn="ctr"/>
            <a:r>
              <a:rPr lang="en-US" sz="1500" b="1" i="0" u="none" strike="noStrike" baseline="0" dirty="0">
                <a:solidFill>
                  <a:schemeClr val="tx2">
                    <a:lumMod val="76000"/>
                  </a:schemeClr>
                </a:solidFill>
                <a:latin typeface="Calibri"/>
                <a:ea typeface="Arial"/>
                <a:cs typeface="Arial"/>
              </a:rPr>
              <a:t>Monitoring</a:t>
            </a:r>
            <a:r>
              <a:rPr lang="en-US" sz="1500" b="0" i="0" u="none" strike="noStrike" baseline="0" dirty="0">
                <a:solidFill>
                  <a:srgbClr val="000000"/>
                </a:solidFill>
                <a:latin typeface="Calibri"/>
                <a:ea typeface="Arial"/>
                <a:cs typeface="Arial"/>
              </a:rPr>
              <a:t>​</a:t>
            </a:r>
            <a:r>
              <a:rPr lang="en-US" sz="1500" b="0" i="0" dirty="0">
                <a:solidFill>
                  <a:srgbClr val="000000"/>
                </a:solidFill>
                <a:latin typeface="Calibri"/>
                <a:ea typeface="Arial"/>
                <a:cs typeface="Arial"/>
              </a:rPr>
              <a:t>​</a:t>
            </a:r>
            <a:endParaRPr lang="en-US" sz="1500" dirty="0">
              <a:ea typeface="Calibri"/>
              <a:cs typeface="Calibri"/>
            </a:endParaRPr>
          </a:p>
          <a:p>
            <a:pPr marL="171450" indent="-171450">
              <a:buFont typeface="Arial"/>
              <a:buChar char="•"/>
            </a:pPr>
            <a:r>
              <a:rPr lang="en-US" sz="1000" b="0" i="0" u="none" strike="noStrike" baseline="0" dirty="0">
                <a:latin typeface="Calibri"/>
                <a:ea typeface="Arial"/>
                <a:cs typeface="Arial"/>
              </a:rPr>
              <a:t>Store animal data ​</a:t>
            </a:r>
            <a:r>
              <a:rPr lang="en-US" sz="1000" b="0" i="0" dirty="0">
                <a:latin typeface="Calibri"/>
                <a:ea typeface="Arial"/>
                <a:cs typeface="Arial"/>
              </a:rPr>
              <a:t>​</a:t>
            </a:r>
          </a:p>
          <a:p>
            <a:pPr marL="171450" indent="-171450">
              <a:buFont typeface="Arial"/>
              <a:buChar char="•"/>
            </a:pPr>
            <a:r>
              <a:rPr lang="en-US" sz="1000" b="0" i="0" u="none" strike="noStrike" baseline="0" dirty="0">
                <a:latin typeface="Calibri"/>
                <a:ea typeface="Arial"/>
                <a:cs typeface="Arial"/>
              </a:rPr>
              <a:t>Health history ​</a:t>
            </a:r>
            <a:r>
              <a:rPr lang="en-US" sz="1000" b="0" i="0" dirty="0">
                <a:latin typeface="Calibri"/>
                <a:ea typeface="Arial"/>
                <a:cs typeface="Arial"/>
              </a:rPr>
              <a:t>​</a:t>
            </a:r>
            <a:endParaRPr lang="en-US" sz="1000" dirty="0">
              <a:latin typeface="Calibri"/>
              <a:ea typeface="Arial"/>
              <a:cs typeface="Arial"/>
            </a:endParaRPr>
          </a:p>
          <a:p>
            <a:pPr marL="171450" indent="-171450">
              <a:buFont typeface="Arial"/>
              <a:buChar char="•"/>
            </a:pPr>
            <a:r>
              <a:rPr lang="en-US" sz="1000" b="0" i="0" u="none" strike="noStrike" baseline="0" dirty="0">
                <a:latin typeface="Calibri"/>
                <a:ea typeface="Arial"/>
                <a:cs typeface="Arial"/>
              </a:rPr>
              <a:t>Alerts &amp; reports ​</a:t>
            </a:r>
            <a:r>
              <a:rPr lang="en-US" sz="1000" b="0" i="0" dirty="0">
                <a:latin typeface="Calibri"/>
                <a:ea typeface="Arial"/>
                <a:cs typeface="Arial"/>
              </a:rPr>
              <a:t>​</a:t>
            </a:r>
            <a:endParaRPr lang="en-US" dirty="0">
              <a:ea typeface="Calibri"/>
              <a:cs typeface="Calibri"/>
            </a:endParaRPr>
          </a:p>
          <a:p>
            <a:pPr marL="171450" indent="-171450">
              <a:buFont typeface="Arial"/>
              <a:buChar char="•"/>
            </a:pPr>
            <a:r>
              <a:rPr lang="en-US" sz="1000" b="0" i="0" u="none" strike="noStrike" baseline="0" dirty="0">
                <a:latin typeface="Calibri"/>
                <a:ea typeface="Arial"/>
                <a:cs typeface="Arial"/>
              </a:rPr>
              <a:t>Track progress</a:t>
            </a:r>
          </a:p>
        </p:txBody>
      </p:sp>
      <p:sp>
        <p:nvSpPr>
          <p:cNvPr id="66" name="TextBox 65">
            <a:extLst>
              <a:ext uri="{FF2B5EF4-FFF2-40B4-BE49-F238E27FC236}">
                <a16:creationId xmlns:a16="http://schemas.microsoft.com/office/drawing/2014/main" xmlns="" id="{672AC1A0-6D09-FCA6-72A1-6BDE73DDE0CF}"/>
              </a:ext>
            </a:extLst>
          </p:cNvPr>
          <p:cNvSpPr txBox="1"/>
          <p:nvPr/>
        </p:nvSpPr>
        <p:spPr>
          <a:xfrm>
            <a:off x="7658914" y="3201454"/>
            <a:ext cx="1927141"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solidFill>
                  <a:schemeClr val="accent1">
                    <a:lumMod val="76000"/>
                  </a:schemeClr>
                </a:solidFill>
                <a:latin typeface="Calibri"/>
                <a:ea typeface="Segoe UI"/>
                <a:cs typeface="Segoe UI"/>
              </a:rPr>
              <a:t> </a:t>
            </a:r>
            <a:r>
              <a:rPr lang="en-US" sz="1200" b="1" i="0" u="none" strike="noStrike" baseline="0" dirty="0">
                <a:solidFill>
                  <a:schemeClr val="accent1">
                    <a:lumMod val="76000"/>
                  </a:schemeClr>
                </a:solidFill>
                <a:latin typeface="Calibri"/>
                <a:ea typeface="Segoe UI"/>
                <a:cs typeface="Segoe UI"/>
              </a:rPr>
              <a:t>Smart Animal Healthcare</a:t>
            </a:r>
            <a:r>
              <a:rPr lang="en-US" sz="1500" b="1" i="0" u="none" strike="noStrike" baseline="0" dirty="0">
                <a:solidFill>
                  <a:srgbClr val="000000"/>
                </a:solidFill>
                <a:latin typeface="Calibri"/>
                <a:ea typeface="Segoe UI"/>
                <a:cs typeface="Segoe UI"/>
              </a:rPr>
              <a:t>​</a:t>
            </a:r>
            <a:r>
              <a:rPr lang="en-US" sz="1500" b="1" i="0" dirty="0">
                <a:solidFill>
                  <a:srgbClr val="000000"/>
                </a:solidFill>
                <a:latin typeface="Calibri"/>
                <a:ea typeface="Segoe UI"/>
                <a:cs typeface="Segoe UI"/>
              </a:rPr>
              <a:t>​</a:t>
            </a:r>
          </a:p>
        </p:txBody>
      </p:sp>
      <p:pic>
        <p:nvPicPr>
          <p:cNvPr id="68" name="Picture 67" descr="Html">
            <a:extLst>
              <a:ext uri="{FF2B5EF4-FFF2-40B4-BE49-F238E27FC236}">
                <a16:creationId xmlns:a16="http://schemas.microsoft.com/office/drawing/2014/main" xmlns="" id="{3DEA9D30-68AC-CD23-C201-44F3648938FA}"/>
              </a:ext>
            </a:extLst>
          </p:cNvPr>
          <p:cNvPicPr>
            <a:picLocks noChangeAspect="1"/>
          </p:cNvPicPr>
          <p:nvPr/>
        </p:nvPicPr>
        <p:blipFill>
          <a:blip r:embed="rId3"/>
          <a:stretch>
            <a:fillRect/>
          </a:stretch>
        </p:blipFill>
        <p:spPr>
          <a:xfrm>
            <a:off x="166254" y="1755997"/>
            <a:ext cx="270296" cy="313427"/>
          </a:xfrm>
          <a:prstGeom prst="rect">
            <a:avLst/>
          </a:prstGeom>
        </p:spPr>
      </p:pic>
      <p:sp>
        <p:nvSpPr>
          <p:cNvPr id="67" name="TextBox 66">
            <a:extLst>
              <a:ext uri="{FF2B5EF4-FFF2-40B4-BE49-F238E27FC236}">
                <a16:creationId xmlns:a16="http://schemas.microsoft.com/office/drawing/2014/main" xmlns="" id="{4943B438-991B-4DB3-6A0E-E0F5CFDAA1E1}"/>
              </a:ext>
            </a:extLst>
          </p:cNvPr>
          <p:cNvSpPr txBox="1"/>
          <p:nvPr/>
        </p:nvSpPr>
        <p:spPr>
          <a:xfrm>
            <a:off x="7873999" y="4366021"/>
            <a:ext cx="142355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dirty="0">
                <a:solidFill>
                  <a:schemeClr val="accent1">
                    <a:lumMod val="76000"/>
                  </a:schemeClr>
                </a:solidFill>
                <a:latin typeface="Calibri"/>
              </a:rPr>
              <a:t>Healthier Animals​​</a:t>
            </a:r>
            <a:br>
              <a:rPr lang="en-US" sz="1000" b="1" dirty="0">
                <a:solidFill>
                  <a:schemeClr val="accent1">
                    <a:lumMod val="76000"/>
                  </a:schemeClr>
                </a:solidFill>
                <a:latin typeface="Calibri"/>
              </a:rPr>
            </a:br>
            <a:r>
              <a:rPr lang="en-US" sz="1000" b="1" dirty="0">
                <a:solidFill>
                  <a:schemeClr val="accent1">
                    <a:lumMod val="76000"/>
                  </a:schemeClr>
                </a:solidFill>
                <a:latin typeface="Calibri"/>
              </a:rPr>
              <a:t>Brighter Tomorrow</a:t>
            </a:r>
            <a:r>
              <a:rPr lang="en-US" sz="1200" b="1" dirty="0">
                <a:solidFill>
                  <a:srgbClr val="000000"/>
                </a:solidFill>
                <a:latin typeface="Calibri"/>
              </a:rPr>
              <a:t>​</a:t>
            </a:r>
            <a:r>
              <a:rPr lang="en-US" sz="1200" dirty="0">
                <a:solidFill>
                  <a:srgbClr val="000000"/>
                </a:solidFill>
                <a:latin typeface="Calibri"/>
              </a:rPr>
              <a:t>​</a:t>
            </a:r>
            <a:endParaRPr lang="en-US" sz="1200" dirty="0">
              <a:ea typeface="Calibri"/>
              <a:cs typeface="Calibri"/>
            </a:endParaRPr>
          </a:p>
        </p:txBody>
      </p:sp>
      <p:cxnSp>
        <p:nvCxnSpPr>
          <p:cNvPr id="69" name="Straight Arrow Connector 68">
            <a:extLst>
              <a:ext uri="{FF2B5EF4-FFF2-40B4-BE49-F238E27FC236}">
                <a16:creationId xmlns:a16="http://schemas.microsoft.com/office/drawing/2014/main" xmlns="" id="{3A69EB30-D291-D19E-27A1-6D4087EDBB1D}"/>
              </a:ext>
            </a:extLst>
          </p:cNvPr>
          <p:cNvCxnSpPr/>
          <p:nvPr/>
        </p:nvCxnSpPr>
        <p:spPr>
          <a:xfrm>
            <a:off x="1021525" y="1717444"/>
            <a:ext cx="7234" cy="5086510"/>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71" name="Picture 70" descr="Css">
            <a:extLst>
              <a:ext uri="{FF2B5EF4-FFF2-40B4-BE49-F238E27FC236}">
                <a16:creationId xmlns:a16="http://schemas.microsoft.com/office/drawing/2014/main" xmlns="" id="{55D210C8-FD6C-792C-F0FC-A6E838ADF579}"/>
              </a:ext>
            </a:extLst>
          </p:cNvPr>
          <p:cNvPicPr>
            <a:picLocks noChangeAspect="1"/>
          </p:cNvPicPr>
          <p:nvPr/>
        </p:nvPicPr>
        <p:blipFill>
          <a:blip r:embed="rId4"/>
          <a:stretch>
            <a:fillRect/>
          </a:stretch>
        </p:blipFill>
        <p:spPr>
          <a:xfrm>
            <a:off x="438902" y="1768806"/>
            <a:ext cx="256441" cy="300096"/>
          </a:xfrm>
          <a:prstGeom prst="rect">
            <a:avLst/>
          </a:prstGeom>
        </p:spPr>
      </p:pic>
      <p:pic>
        <p:nvPicPr>
          <p:cNvPr id="72" name="Picture 71" descr="Notification - Free interface icons">
            <a:extLst>
              <a:ext uri="{FF2B5EF4-FFF2-40B4-BE49-F238E27FC236}">
                <a16:creationId xmlns:a16="http://schemas.microsoft.com/office/drawing/2014/main" xmlns="" id="{0CDCA939-935C-F781-3BF6-BC232F0886C0}"/>
              </a:ext>
            </a:extLst>
          </p:cNvPr>
          <p:cNvPicPr>
            <a:picLocks noChangeAspect="1"/>
          </p:cNvPicPr>
          <p:nvPr/>
        </p:nvPicPr>
        <p:blipFill>
          <a:blip r:embed="rId5"/>
          <a:stretch>
            <a:fillRect/>
          </a:stretch>
        </p:blipFill>
        <p:spPr>
          <a:xfrm>
            <a:off x="422695" y="6603609"/>
            <a:ext cx="271340" cy="186487"/>
          </a:xfrm>
          <a:prstGeom prst="rect">
            <a:avLst/>
          </a:prstGeom>
        </p:spPr>
      </p:pic>
      <p:pic>
        <p:nvPicPr>
          <p:cNvPr id="74" name="Picture 73" descr="Java script">
            <a:extLst>
              <a:ext uri="{FF2B5EF4-FFF2-40B4-BE49-F238E27FC236}">
                <a16:creationId xmlns:a16="http://schemas.microsoft.com/office/drawing/2014/main" xmlns="" id="{D51D90CD-0949-51D6-6716-77489267A8C8}"/>
              </a:ext>
            </a:extLst>
          </p:cNvPr>
          <p:cNvPicPr>
            <a:picLocks noChangeAspect="1"/>
          </p:cNvPicPr>
          <p:nvPr/>
        </p:nvPicPr>
        <p:blipFill>
          <a:blip r:embed="rId6"/>
          <a:stretch>
            <a:fillRect/>
          </a:stretch>
        </p:blipFill>
        <p:spPr>
          <a:xfrm>
            <a:off x="697694" y="1784230"/>
            <a:ext cx="313427" cy="270295"/>
          </a:xfrm>
          <a:prstGeom prst="rect">
            <a:avLst/>
          </a:prstGeom>
        </p:spPr>
      </p:pic>
      <p:pic>
        <p:nvPicPr>
          <p:cNvPr id="76" name="Picture 75" descr="Atom">
            <a:extLst>
              <a:ext uri="{FF2B5EF4-FFF2-40B4-BE49-F238E27FC236}">
                <a16:creationId xmlns:a16="http://schemas.microsoft.com/office/drawing/2014/main" xmlns="" id="{A57694E9-2488-C13B-8BC0-6CA681EB11DF}"/>
              </a:ext>
            </a:extLst>
          </p:cNvPr>
          <p:cNvPicPr>
            <a:picLocks noChangeAspect="1"/>
          </p:cNvPicPr>
          <p:nvPr/>
        </p:nvPicPr>
        <p:blipFill>
          <a:blip r:embed="rId7"/>
          <a:stretch>
            <a:fillRect/>
          </a:stretch>
        </p:blipFill>
        <p:spPr>
          <a:xfrm>
            <a:off x="424000" y="2115431"/>
            <a:ext cx="342182" cy="299049"/>
          </a:xfrm>
          <a:prstGeom prst="rect">
            <a:avLst/>
          </a:prstGeom>
        </p:spPr>
      </p:pic>
      <p:pic>
        <p:nvPicPr>
          <p:cNvPr id="78" name="Picture 77" descr="Node.js SVG and transparent PNG icons | TechIcons">
            <a:extLst>
              <a:ext uri="{FF2B5EF4-FFF2-40B4-BE49-F238E27FC236}">
                <a16:creationId xmlns:a16="http://schemas.microsoft.com/office/drawing/2014/main" xmlns="" id="{620811A3-4CA6-F06C-5E88-18A38832B780}"/>
              </a:ext>
            </a:extLst>
          </p:cNvPr>
          <p:cNvPicPr>
            <a:picLocks noChangeAspect="1"/>
          </p:cNvPicPr>
          <p:nvPr/>
        </p:nvPicPr>
        <p:blipFill>
          <a:blip r:embed="rId8"/>
          <a:stretch>
            <a:fillRect/>
          </a:stretch>
        </p:blipFill>
        <p:spPr>
          <a:xfrm>
            <a:off x="424588" y="2489828"/>
            <a:ext cx="326630" cy="311729"/>
          </a:xfrm>
          <a:prstGeom prst="rect">
            <a:avLst/>
          </a:prstGeom>
        </p:spPr>
      </p:pic>
      <p:pic>
        <p:nvPicPr>
          <p:cNvPr id="80" name="Picture 79" descr="Expressjs Dark Logo SVG - Free Download">
            <a:extLst>
              <a:ext uri="{FF2B5EF4-FFF2-40B4-BE49-F238E27FC236}">
                <a16:creationId xmlns:a16="http://schemas.microsoft.com/office/drawing/2014/main" xmlns="" id="{7374D6FC-545D-85CB-7697-8265B63EFB28}"/>
              </a:ext>
            </a:extLst>
          </p:cNvPr>
          <p:cNvPicPr>
            <a:picLocks noChangeAspect="1"/>
          </p:cNvPicPr>
          <p:nvPr/>
        </p:nvPicPr>
        <p:blipFill>
          <a:blip r:embed="rId9"/>
          <a:stretch>
            <a:fillRect/>
          </a:stretch>
        </p:blipFill>
        <p:spPr>
          <a:xfrm>
            <a:off x="438902" y="2876386"/>
            <a:ext cx="285194" cy="286241"/>
          </a:xfrm>
          <a:prstGeom prst="rect">
            <a:avLst/>
          </a:prstGeom>
        </p:spPr>
      </p:pic>
      <p:pic>
        <p:nvPicPr>
          <p:cNvPr id="75" name="Picture 74" descr="Photograph">
            <a:extLst>
              <a:ext uri="{FF2B5EF4-FFF2-40B4-BE49-F238E27FC236}">
                <a16:creationId xmlns:a16="http://schemas.microsoft.com/office/drawing/2014/main" xmlns="" id="{6E102099-2C19-57A3-AF75-F9E36DCEA9CF}"/>
              </a:ext>
            </a:extLst>
          </p:cNvPr>
          <p:cNvPicPr>
            <a:picLocks noChangeAspect="1"/>
          </p:cNvPicPr>
          <p:nvPr/>
        </p:nvPicPr>
        <p:blipFill>
          <a:blip r:embed="rId10"/>
          <a:stretch>
            <a:fillRect/>
          </a:stretch>
        </p:blipFill>
        <p:spPr>
          <a:xfrm>
            <a:off x="394364" y="6247767"/>
            <a:ext cx="334275" cy="301746"/>
          </a:xfrm>
          <a:prstGeom prst="rect">
            <a:avLst/>
          </a:prstGeom>
        </p:spPr>
      </p:pic>
      <p:pic>
        <p:nvPicPr>
          <p:cNvPr id="82" name="Picture 81" descr="MongoDB SVG and transparent PNG icons | TechIcons">
            <a:extLst>
              <a:ext uri="{FF2B5EF4-FFF2-40B4-BE49-F238E27FC236}">
                <a16:creationId xmlns:a16="http://schemas.microsoft.com/office/drawing/2014/main" xmlns="" id="{F4EDCBDD-4987-6919-AB62-7E6F3DF15EC5}"/>
              </a:ext>
            </a:extLst>
          </p:cNvPr>
          <p:cNvPicPr>
            <a:picLocks noChangeAspect="1"/>
          </p:cNvPicPr>
          <p:nvPr/>
        </p:nvPicPr>
        <p:blipFill>
          <a:blip r:embed="rId11"/>
          <a:stretch>
            <a:fillRect/>
          </a:stretch>
        </p:blipFill>
        <p:spPr>
          <a:xfrm>
            <a:off x="486795" y="3241104"/>
            <a:ext cx="160130" cy="318281"/>
          </a:xfrm>
          <a:prstGeom prst="rect">
            <a:avLst/>
          </a:prstGeom>
        </p:spPr>
      </p:pic>
      <p:pic>
        <p:nvPicPr>
          <p:cNvPr id="84" name="Picture 83" descr="Python">
            <a:extLst>
              <a:ext uri="{FF2B5EF4-FFF2-40B4-BE49-F238E27FC236}">
                <a16:creationId xmlns:a16="http://schemas.microsoft.com/office/drawing/2014/main" xmlns="" id="{6C63649F-D110-5F6F-FB66-A28951125EDD}"/>
              </a:ext>
            </a:extLst>
          </p:cNvPr>
          <p:cNvPicPr>
            <a:picLocks noChangeAspect="1"/>
          </p:cNvPicPr>
          <p:nvPr/>
        </p:nvPicPr>
        <p:blipFill>
          <a:blip r:embed="rId12"/>
          <a:stretch>
            <a:fillRect/>
          </a:stretch>
        </p:blipFill>
        <p:spPr>
          <a:xfrm>
            <a:off x="387200" y="3614915"/>
            <a:ext cx="332658" cy="303905"/>
          </a:xfrm>
          <a:prstGeom prst="rect">
            <a:avLst/>
          </a:prstGeom>
        </p:spPr>
      </p:pic>
      <p:pic>
        <p:nvPicPr>
          <p:cNvPr id="86" name="Picture 85" descr="Tensorflow color icon in PNG, SVG">
            <a:extLst>
              <a:ext uri="{FF2B5EF4-FFF2-40B4-BE49-F238E27FC236}">
                <a16:creationId xmlns:a16="http://schemas.microsoft.com/office/drawing/2014/main" xmlns="" id="{FA2EF362-E3C9-E6DB-491D-567DDAD5C8D6}"/>
              </a:ext>
            </a:extLst>
          </p:cNvPr>
          <p:cNvPicPr>
            <a:picLocks noChangeAspect="1"/>
          </p:cNvPicPr>
          <p:nvPr/>
        </p:nvPicPr>
        <p:blipFill>
          <a:blip r:embed="rId13"/>
          <a:stretch>
            <a:fillRect/>
          </a:stretch>
        </p:blipFill>
        <p:spPr>
          <a:xfrm>
            <a:off x="208863" y="3998342"/>
            <a:ext cx="327804" cy="313427"/>
          </a:xfrm>
          <a:prstGeom prst="rect">
            <a:avLst/>
          </a:prstGeom>
        </p:spPr>
      </p:pic>
      <p:pic>
        <p:nvPicPr>
          <p:cNvPr id="88" name="Picture 87" descr="File:PyTorch logo icon.svg - Wikimedia Commons">
            <a:extLst>
              <a:ext uri="{FF2B5EF4-FFF2-40B4-BE49-F238E27FC236}">
                <a16:creationId xmlns:a16="http://schemas.microsoft.com/office/drawing/2014/main" xmlns="" id="{9352C078-6ECF-269A-F28B-458559A8999F}"/>
              </a:ext>
            </a:extLst>
          </p:cNvPr>
          <p:cNvPicPr>
            <a:picLocks noChangeAspect="1"/>
          </p:cNvPicPr>
          <p:nvPr/>
        </p:nvPicPr>
        <p:blipFill>
          <a:blip r:embed="rId14"/>
          <a:stretch>
            <a:fillRect/>
          </a:stretch>
        </p:blipFill>
        <p:spPr>
          <a:xfrm>
            <a:off x="596105" y="4005652"/>
            <a:ext cx="232718" cy="297760"/>
          </a:xfrm>
          <a:prstGeom prst="rect">
            <a:avLst/>
          </a:prstGeom>
        </p:spPr>
      </p:pic>
      <p:pic>
        <p:nvPicPr>
          <p:cNvPr id="90" name="Picture 89" descr="OpenCV SVG and transparent PNG icons | TechIcons">
            <a:extLst>
              <a:ext uri="{FF2B5EF4-FFF2-40B4-BE49-F238E27FC236}">
                <a16:creationId xmlns:a16="http://schemas.microsoft.com/office/drawing/2014/main" xmlns="" id="{776361B0-1A16-0939-5BEC-CC8CCC28575E}"/>
              </a:ext>
            </a:extLst>
          </p:cNvPr>
          <p:cNvPicPr>
            <a:picLocks noChangeAspect="1"/>
          </p:cNvPicPr>
          <p:nvPr/>
        </p:nvPicPr>
        <p:blipFill>
          <a:blip r:embed="rId15"/>
          <a:stretch>
            <a:fillRect/>
          </a:stretch>
        </p:blipFill>
        <p:spPr>
          <a:xfrm>
            <a:off x="393253" y="4351755"/>
            <a:ext cx="375968" cy="325469"/>
          </a:xfrm>
          <a:prstGeom prst="rect">
            <a:avLst/>
          </a:prstGeom>
        </p:spPr>
      </p:pic>
      <p:pic>
        <p:nvPicPr>
          <p:cNvPr id="92" name="Picture 91" descr="Technology">
            <a:extLst>
              <a:ext uri="{FF2B5EF4-FFF2-40B4-BE49-F238E27FC236}">
                <a16:creationId xmlns:a16="http://schemas.microsoft.com/office/drawing/2014/main" xmlns="" id="{25B14EA3-0717-FFB2-F4FC-69A29042234D}"/>
              </a:ext>
            </a:extLst>
          </p:cNvPr>
          <p:cNvPicPr>
            <a:picLocks noChangeAspect="1"/>
          </p:cNvPicPr>
          <p:nvPr/>
        </p:nvPicPr>
        <p:blipFill>
          <a:blip r:embed="rId16"/>
          <a:stretch>
            <a:fillRect/>
          </a:stretch>
        </p:blipFill>
        <p:spPr>
          <a:xfrm>
            <a:off x="329168" y="4708120"/>
            <a:ext cx="433298" cy="347557"/>
          </a:xfrm>
          <a:prstGeom prst="rect">
            <a:avLst/>
          </a:prstGeom>
        </p:spPr>
      </p:pic>
      <p:pic>
        <p:nvPicPr>
          <p:cNvPr id="94" name="Picture 93" descr="Firebase color icon in PNG, SVG">
            <a:extLst>
              <a:ext uri="{FF2B5EF4-FFF2-40B4-BE49-F238E27FC236}">
                <a16:creationId xmlns:a16="http://schemas.microsoft.com/office/drawing/2014/main" xmlns="" id="{006F0385-08BC-B753-3662-AAD4C724BBB5}"/>
              </a:ext>
            </a:extLst>
          </p:cNvPr>
          <p:cNvPicPr>
            <a:picLocks noChangeAspect="1"/>
          </p:cNvPicPr>
          <p:nvPr/>
        </p:nvPicPr>
        <p:blipFill>
          <a:blip r:embed="rId17"/>
          <a:stretch>
            <a:fillRect/>
          </a:stretch>
        </p:blipFill>
        <p:spPr>
          <a:xfrm>
            <a:off x="421907" y="5091021"/>
            <a:ext cx="288858" cy="314997"/>
          </a:xfrm>
          <a:prstGeom prst="rect">
            <a:avLst/>
          </a:prstGeom>
        </p:spPr>
      </p:pic>
      <p:pic>
        <p:nvPicPr>
          <p:cNvPr id="96" name="Picture 95" descr="Cloud storage - Free ui icons">
            <a:extLst>
              <a:ext uri="{FF2B5EF4-FFF2-40B4-BE49-F238E27FC236}">
                <a16:creationId xmlns:a16="http://schemas.microsoft.com/office/drawing/2014/main" xmlns="" id="{0B9E0EA7-2EDC-5D62-AC5D-CDE1AD14C660}"/>
              </a:ext>
            </a:extLst>
          </p:cNvPr>
          <p:cNvPicPr>
            <a:picLocks noChangeAspect="1"/>
          </p:cNvPicPr>
          <p:nvPr/>
        </p:nvPicPr>
        <p:blipFill>
          <a:blip r:embed="rId18"/>
          <a:stretch>
            <a:fillRect/>
          </a:stretch>
        </p:blipFill>
        <p:spPr>
          <a:xfrm>
            <a:off x="370731" y="5469596"/>
            <a:ext cx="376835" cy="361934"/>
          </a:xfrm>
          <a:prstGeom prst="rect">
            <a:avLst/>
          </a:prstGeom>
        </p:spPr>
      </p:pic>
      <p:pic>
        <p:nvPicPr>
          <p:cNvPr id="98" name="Picture 97" descr="How Kentik Helps Assess AWS Visibility | Kentik Blog">
            <a:extLst>
              <a:ext uri="{FF2B5EF4-FFF2-40B4-BE49-F238E27FC236}">
                <a16:creationId xmlns:a16="http://schemas.microsoft.com/office/drawing/2014/main" xmlns="" id="{92BC1ADA-7C9D-E307-D8F4-C451B4BAD784}"/>
              </a:ext>
            </a:extLst>
          </p:cNvPr>
          <p:cNvPicPr>
            <a:picLocks noChangeAspect="1"/>
          </p:cNvPicPr>
          <p:nvPr/>
        </p:nvPicPr>
        <p:blipFill>
          <a:blip r:embed="rId19"/>
          <a:stretch>
            <a:fillRect/>
          </a:stretch>
        </p:blipFill>
        <p:spPr>
          <a:xfrm>
            <a:off x="371254" y="5886016"/>
            <a:ext cx="377360" cy="291618"/>
          </a:xfrm>
          <a:prstGeom prst="rect">
            <a:avLst/>
          </a:prstGeom>
        </p:spPr>
      </p:pic>
      <p:sp>
        <p:nvSpPr>
          <p:cNvPr id="20" name="Freeform 4">
            <a:extLst>
              <a:ext uri="{FF2B5EF4-FFF2-40B4-BE49-F238E27FC236}">
                <a16:creationId xmlns:a16="http://schemas.microsoft.com/office/drawing/2014/main" xmlns="" id="{9CCC085C-AEA3-E00A-C850-E29E75715FB0}"/>
              </a:ext>
            </a:extLst>
          </p:cNvPr>
          <p:cNvSpPr/>
          <p:nvPr/>
        </p:nvSpPr>
        <p:spPr>
          <a:xfrm>
            <a:off x="66495" y="76380"/>
            <a:ext cx="1105962" cy="1195900"/>
          </a:xfrm>
          <a:custGeom>
            <a:avLst/>
            <a:gdLst/>
            <a:ahLst/>
            <a:cxnLst/>
            <a:rect l="l" t="t" r="r" b="b"/>
            <a:pathLst>
              <a:path w="1105962" h="1195900">
                <a:moveTo>
                  <a:pt x="0" y="0"/>
                </a:moveTo>
                <a:lnTo>
                  <a:pt x="1105962" y="0"/>
                </a:lnTo>
                <a:lnTo>
                  <a:pt x="1105962" y="1195900"/>
                </a:lnTo>
                <a:lnTo>
                  <a:pt x="0" y="1195900"/>
                </a:lnTo>
                <a:lnTo>
                  <a:pt x="0" y="0"/>
                </a:lnTo>
                <a:close/>
              </a:path>
            </a:pathLst>
          </a:custGeom>
          <a:blipFill>
            <a:blip r:embed="rId20"/>
            <a:stretch>
              <a:fillRect l="-4066" r="-4066"/>
            </a:stretch>
          </a:blipFill>
        </p:spPr>
      </p:sp>
      <p:grpSp>
        <p:nvGrpSpPr>
          <p:cNvPr id="50" name="Group 38">
            <a:extLst>
              <a:ext uri="{FF2B5EF4-FFF2-40B4-BE49-F238E27FC236}">
                <a16:creationId xmlns:a16="http://schemas.microsoft.com/office/drawing/2014/main" xmlns="" id="{2A80D837-1592-BBF7-08C4-37262254CE4C}"/>
              </a:ext>
            </a:extLst>
          </p:cNvPr>
          <p:cNvGrpSpPr/>
          <p:nvPr/>
        </p:nvGrpSpPr>
        <p:grpSpPr>
          <a:xfrm>
            <a:off x="9881455" y="64861"/>
            <a:ext cx="2247900" cy="1066800"/>
            <a:chOff x="0" y="0"/>
            <a:chExt cx="2997200" cy="1422400"/>
          </a:xfrm>
        </p:grpSpPr>
        <p:sp>
          <p:nvSpPr>
            <p:cNvPr id="45" name="Freeform 39">
              <a:extLst>
                <a:ext uri="{FF2B5EF4-FFF2-40B4-BE49-F238E27FC236}">
                  <a16:creationId xmlns:a16="http://schemas.microsoft.com/office/drawing/2014/main" xmlns="" id="{6DCA2358-89DE-92CF-520E-841A15140D14}"/>
                </a:ext>
              </a:extLst>
            </p:cNvPr>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21"/>
              <a:stretch>
                <a:fillRect/>
              </a:stretch>
            </a:blipFill>
          </p:spPr>
        </p:sp>
      </p:grpSp>
      <p:sp>
        <p:nvSpPr>
          <p:cNvPr id="54" name="TextBox 53">
            <a:extLst>
              <a:ext uri="{FF2B5EF4-FFF2-40B4-BE49-F238E27FC236}">
                <a16:creationId xmlns:a16="http://schemas.microsoft.com/office/drawing/2014/main" xmlns="" id="{B001FD5D-BECE-B5BE-83CA-7C449FB7DA8F}"/>
              </a:ext>
            </a:extLst>
          </p:cNvPr>
          <p:cNvSpPr txBox="1"/>
          <p:nvPr/>
        </p:nvSpPr>
        <p:spPr>
          <a:xfrm>
            <a:off x="7926140" y="3001895"/>
            <a:ext cx="13328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tx2">
                    <a:lumMod val="76000"/>
                  </a:schemeClr>
                </a:solidFill>
                <a:latin typeface="Calibri"/>
                <a:ea typeface="Arial"/>
                <a:cs typeface="Arial"/>
              </a:rPr>
              <a:t>VETNEXA</a:t>
            </a:r>
            <a:endParaRPr lang="en-US" sz="2000" b="1" i="0" u="none" strike="noStrike" baseline="0">
              <a:solidFill>
                <a:schemeClr val="tx2">
                  <a:lumMod val="76000"/>
                </a:schemeClr>
              </a:solidFill>
              <a:latin typeface="Calibri"/>
              <a:ea typeface="Arial"/>
              <a:cs typeface="Arial"/>
            </a:endParaRPr>
          </a:p>
        </p:txBody>
      </p:sp>
      <p:pic>
        <p:nvPicPr>
          <p:cNvPr id="57" name="Picture 56">
            <a:extLst>
              <a:ext uri="{FF2B5EF4-FFF2-40B4-BE49-F238E27FC236}">
                <a16:creationId xmlns:a16="http://schemas.microsoft.com/office/drawing/2014/main" xmlns="" id="{030838B6-A63B-A748-6CE9-ACC2712BBC92}"/>
              </a:ext>
            </a:extLst>
          </p:cNvPr>
          <p:cNvPicPr>
            <a:picLocks noChangeAspect="1"/>
          </p:cNvPicPr>
          <p:nvPr/>
        </p:nvPicPr>
        <p:blipFill>
          <a:blip r:embed="rId22"/>
          <a:stretch>
            <a:fillRect/>
          </a:stretch>
        </p:blipFill>
        <p:spPr>
          <a:xfrm>
            <a:off x="8344616" y="2140787"/>
            <a:ext cx="419820" cy="391066"/>
          </a:xfrm>
          <a:prstGeom prst="rect">
            <a:avLst/>
          </a:prstGeom>
        </p:spPr>
      </p:pic>
      <p:pic>
        <p:nvPicPr>
          <p:cNvPr id="77" name="Picture 76" descr="Internet">
            <a:extLst>
              <a:ext uri="{FF2B5EF4-FFF2-40B4-BE49-F238E27FC236}">
                <a16:creationId xmlns:a16="http://schemas.microsoft.com/office/drawing/2014/main" xmlns="" id="{5C30EC3A-2140-9B75-B834-C8DE04B19F3F}"/>
              </a:ext>
            </a:extLst>
          </p:cNvPr>
          <p:cNvPicPr>
            <a:picLocks noChangeAspect="1"/>
          </p:cNvPicPr>
          <p:nvPr/>
        </p:nvPicPr>
        <p:blipFill>
          <a:blip r:embed="rId23"/>
          <a:stretch>
            <a:fillRect/>
          </a:stretch>
        </p:blipFill>
        <p:spPr>
          <a:xfrm>
            <a:off x="10098655" y="2514598"/>
            <a:ext cx="477330" cy="477330"/>
          </a:xfrm>
          <a:prstGeom prst="rect">
            <a:avLst/>
          </a:prstGeom>
        </p:spPr>
      </p:pic>
      <p:pic>
        <p:nvPicPr>
          <p:cNvPr id="79" name="Picture 78" descr="Crop">
            <a:extLst>
              <a:ext uri="{FF2B5EF4-FFF2-40B4-BE49-F238E27FC236}">
                <a16:creationId xmlns:a16="http://schemas.microsoft.com/office/drawing/2014/main" xmlns="" id="{CCB86755-9149-3495-AF33-A7CF63FACC19}"/>
              </a:ext>
            </a:extLst>
          </p:cNvPr>
          <p:cNvPicPr>
            <a:picLocks noChangeAspect="1"/>
          </p:cNvPicPr>
          <p:nvPr/>
        </p:nvPicPr>
        <p:blipFill>
          <a:blip r:embed="rId24"/>
          <a:stretch>
            <a:fillRect/>
          </a:stretch>
        </p:blipFill>
        <p:spPr>
          <a:xfrm>
            <a:off x="11222966" y="3653286"/>
            <a:ext cx="557841" cy="586596"/>
          </a:xfrm>
          <a:prstGeom prst="rect">
            <a:avLst/>
          </a:prstGeom>
        </p:spPr>
      </p:pic>
      <p:pic>
        <p:nvPicPr>
          <p:cNvPr id="81" name="Picture 80" descr="File">
            <a:extLst>
              <a:ext uri="{FF2B5EF4-FFF2-40B4-BE49-F238E27FC236}">
                <a16:creationId xmlns:a16="http://schemas.microsoft.com/office/drawing/2014/main" xmlns="" id="{A9241BB7-914E-C097-AF9D-1F9D85934AA1}"/>
              </a:ext>
            </a:extLst>
          </p:cNvPr>
          <p:cNvPicPr>
            <a:picLocks noChangeAspect="1"/>
          </p:cNvPicPr>
          <p:nvPr/>
        </p:nvPicPr>
        <p:blipFill>
          <a:blip r:embed="rId25"/>
          <a:stretch>
            <a:fillRect/>
          </a:stretch>
        </p:blipFill>
        <p:spPr>
          <a:xfrm>
            <a:off x="10834776" y="4932873"/>
            <a:ext cx="629728" cy="543463"/>
          </a:xfrm>
          <a:prstGeom prst="rect">
            <a:avLst/>
          </a:prstGeom>
        </p:spPr>
      </p:pic>
      <p:pic>
        <p:nvPicPr>
          <p:cNvPr id="87" name="Picture 86" descr="Graphic">
            <a:extLst>
              <a:ext uri="{FF2B5EF4-FFF2-40B4-BE49-F238E27FC236}">
                <a16:creationId xmlns:a16="http://schemas.microsoft.com/office/drawing/2014/main" xmlns="" id="{B1BC3F8E-0DD4-D6CC-9091-E8C5D8EBA998}"/>
              </a:ext>
            </a:extLst>
          </p:cNvPr>
          <p:cNvPicPr>
            <a:picLocks noChangeAspect="1"/>
          </p:cNvPicPr>
          <p:nvPr/>
        </p:nvPicPr>
        <p:blipFill>
          <a:blip r:embed="rId26"/>
          <a:stretch>
            <a:fillRect/>
          </a:stretch>
        </p:blipFill>
        <p:spPr>
          <a:xfrm>
            <a:off x="8376250" y="6226834"/>
            <a:ext cx="442822" cy="457200"/>
          </a:xfrm>
          <a:prstGeom prst="rect">
            <a:avLst/>
          </a:prstGeom>
        </p:spPr>
      </p:pic>
      <p:pic>
        <p:nvPicPr>
          <p:cNvPr id="89" name="Picture 88" descr="Medical">
            <a:extLst>
              <a:ext uri="{FF2B5EF4-FFF2-40B4-BE49-F238E27FC236}">
                <a16:creationId xmlns:a16="http://schemas.microsoft.com/office/drawing/2014/main" xmlns="" id="{3890451F-BD49-62C6-4316-043648BFF9E1}"/>
              </a:ext>
            </a:extLst>
          </p:cNvPr>
          <p:cNvPicPr>
            <a:picLocks noChangeAspect="1"/>
          </p:cNvPicPr>
          <p:nvPr/>
        </p:nvPicPr>
        <p:blipFill>
          <a:blip r:embed="rId27"/>
          <a:stretch>
            <a:fillRect/>
          </a:stretch>
        </p:blipFill>
        <p:spPr>
          <a:xfrm>
            <a:off x="6967267" y="4918494"/>
            <a:ext cx="615351" cy="586597"/>
          </a:xfrm>
          <a:prstGeom prst="rect">
            <a:avLst/>
          </a:prstGeom>
        </p:spPr>
      </p:pic>
      <p:pic>
        <p:nvPicPr>
          <p:cNvPr id="91" name="Picture 90" descr="Hand">
            <a:extLst>
              <a:ext uri="{FF2B5EF4-FFF2-40B4-BE49-F238E27FC236}">
                <a16:creationId xmlns:a16="http://schemas.microsoft.com/office/drawing/2014/main" xmlns="" id="{A1686866-BBE1-6A1A-1190-FEFCB95C55F5}"/>
              </a:ext>
            </a:extLst>
          </p:cNvPr>
          <p:cNvPicPr>
            <a:picLocks noChangeAspect="1"/>
          </p:cNvPicPr>
          <p:nvPr/>
        </p:nvPicPr>
        <p:blipFill>
          <a:blip r:embed="rId28"/>
          <a:stretch>
            <a:fillRect/>
          </a:stretch>
        </p:blipFill>
        <p:spPr>
          <a:xfrm>
            <a:off x="6363418" y="3595777"/>
            <a:ext cx="687238" cy="658484"/>
          </a:xfrm>
          <a:prstGeom prst="rect">
            <a:avLst/>
          </a:prstGeom>
        </p:spPr>
      </p:pic>
      <p:pic>
        <p:nvPicPr>
          <p:cNvPr id="95" name="Picture 94" descr="Computer">
            <a:extLst>
              <a:ext uri="{FF2B5EF4-FFF2-40B4-BE49-F238E27FC236}">
                <a16:creationId xmlns:a16="http://schemas.microsoft.com/office/drawing/2014/main" xmlns="" id="{44AB302C-8E2F-F489-2474-F6BA19F11AB3}"/>
              </a:ext>
            </a:extLst>
          </p:cNvPr>
          <p:cNvPicPr>
            <a:picLocks noChangeAspect="1"/>
          </p:cNvPicPr>
          <p:nvPr/>
        </p:nvPicPr>
        <p:blipFill>
          <a:blip r:embed="rId29"/>
          <a:stretch>
            <a:fillRect/>
          </a:stretch>
        </p:blipFill>
        <p:spPr>
          <a:xfrm>
            <a:off x="5903344" y="2071779"/>
            <a:ext cx="428445" cy="572218"/>
          </a:xfrm>
          <a:prstGeom prst="rect">
            <a:avLst/>
          </a:prstGeom>
        </p:spPr>
      </p:pic>
      <p:pic>
        <p:nvPicPr>
          <p:cNvPr id="97" name="Picture 96">
            <a:extLst>
              <a:ext uri="{FF2B5EF4-FFF2-40B4-BE49-F238E27FC236}">
                <a16:creationId xmlns:a16="http://schemas.microsoft.com/office/drawing/2014/main" xmlns="" id="{AB043795-5901-C37B-FD95-6EB94BD16F08}"/>
              </a:ext>
            </a:extLst>
          </p:cNvPr>
          <p:cNvPicPr>
            <a:picLocks noChangeAspect="1"/>
          </p:cNvPicPr>
          <p:nvPr/>
        </p:nvPicPr>
        <p:blipFill>
          <a:blip r:embed="rId30" cstate="print">
            <a:extLst>
              <a:ext uri="{28A0092B-C50C-407E-A947-70E740481C1C}">
                <a14:useLocalDpi xmlns:a14="http://schemas.microsoft.com/office/drawing/2010/main"/>
              </a:ext>
            </a:extLst>
          </a:blip>
          <a:stretch>
            <a:fillRect/>
          </a:stretch>
        </p:blipFill>
        <p:spPr>
          <a:xfrm>
            <a:off x="7656800" y="3450565"/>
            <a:ext cx="1752327" cy="963284"/>
          </a:xfrm>
          <a:prstGeom prst="rect">
            <a:avLst/>
          </a:prstGeom>
        </p:spPr>
      </p:pic>
    </p:spTree>
    <p:extLst>
      <p:ext uri="{BB962C8B-B14F-4D97-AF65-F5344CB8AC3E}">
        <p14:creationId xmlns:p14="http://schemas.microsoft.com/office/powerpoint/2010/main" val="3875470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xmlns="" id="{04540109-5CEE-AA72-BBC9-E958E5D5924B}"/>
              </a:ext>
            </a:extLst>
          </p:cNvPr>
          <p:cNvSpPr/>
          <p:nvPr/>
        </p:nvSpPr>
        <p:spPr>
          <a:xfrm>
            <a:off x="3175236" y="1274251"/>
            <a:ext cx="5671824" cy="619799"/>
          </a:xfrm>
          <a:prstGeom prst="rect">
            <a:avLst/>
          </a:prstGeom>
          <a:solidFill>
            <a:srgbClr val="00501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xmlns="" id="{99DD7795-8744-E403-F6D7-E0E64EB3270A}"/>
              </a:ext>
            </a:extLst>
          </p:cNvPr>
          <p:cNvSpPr/>
          <p:nvPr/>
        </p:nvSpPr>
        <p:spPr>
          <a:xfrm>
            <a:off x="3320678" y="5246827"/>
            <a:ext cx="2486234" cy="1326215"/>
          </a:xfrm>
          <a:prstGeom prst="roundRect">
            <a:avLst/>
          </a:prstGeom>
          <a:solidFill>
            <a:schemeClr val="accent6">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xmlns="" id="{E615A2A8-0B91-D45A-A6CC-D09E1177544C}"/>
              </a:ext>
            </a:extLst>
          </p:cNvPr>
          <p:cNvSpPr/>
          <p:nvPr/>
        </p:nvSpPr>
        <p:spPr>
          <a:xfrm>
            <a:off x="6188569" y="5246827"/>
            <a:ext cx="2486234" cy="1326215"/>
          </a:xfrm>
          <a:prstGeom prst="roundRect">
            <a:avLst/>
          </a:prstGeom>
          <a:solidFill>
            <a:schemeClr val="accent5">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Rounded Corners 77">
            <a:extLst>
              <a:ext uri="{FF2B5EF4-FFF2-40B4-BE49-F238E27FC236}">
                <a16:creationId xmlns:a16="http://schemas.microsoft.com/office/drawing/2014/main" xmlns="" id="{85CEC1E1-6B87-FF24-CAF2-A2205EACBBB8}"/>
              </a:ext>
            </a:extLst>
          </p:cNvPr>
          <p:cNvSpPr/>
          <p:nvPr/>
        </p:nvSpPr>
        <p:spPr>
          <a:xfrm>
            <a:off x="6174715" y="3639699"/>
            <a:ext cx="2486234" cy="1326215"/>
          </a:xfrm>
          <a:prstGeom prst="roundRect">
            <a:avLst/>
          </a:prstGeom>
          <a:solidFill>
            <a:schemeClr val="accent3">
              <a:lumMod val="40000"/>
              <a:lumOff val="6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xmlns="" id="{80F78208-2A53-18D7-0EDB-76B083415FC2}"/>
              </a:ext>
            </a:extLst>
          </p:cNvPr>
          <p:cNvSpPr/>
          <p:nvPr/>
        </p:nvSpPr>
        <p:spPr>
          <a:xfrm>
            <a:off x="6188570" y="2046427"/>
            <a:ext cx="2486234" cy="1326215"/>
          </a:xfrm>
          <a:prstGeom prst="roundRect">
            <a:avLst/>
          </a:prstGeom>
          <a:solidFill>
            <a:schemeClr val="accent5">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xmlns="" id="{2FED1550-3AC5-F503-8691-C90F72265892}"/>
              </a:ext>
            </a:extLst>
          </p:cNvPr>
          <p:cNvSpPr/>
          <p:nvPr/>
        </p:nvSpPr>
        <p:spPr>
          <a:xfrm>
            <a:off x="3320680" y="3639700"/>
            <a:ext cx="2486234" cy="1326215"/>
          </a:xfrm>
          <a:prstGeom prst="roundRect">
            <a:avLst/>
          </a:prstGeom>
          <a:solidFill>
            <a:schemeClr val="accent5">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xmlns="" id="{1A09CECE-F03A-1229-C828-977535CE637F}"/>
              </a:ext>
            </a:extLst>
          </p:cNvPr>
          <p:cNvSpPr/>
          <p:nvPr/>
        </p:nvSpPr>
        <p:spPr>
          <a:xfrm>
            <a:off x="3320681" y="2046428"/>
            <a:ext cx="2486234" cy="1326215"/>
          </a:xfrm>
          <a:prstGeom prst="roundRect">
            <a:avLst/>
          </a:prstGeom>
          <a:solidFill>
            <a:schemeClr val="accent3">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5"/>
          <p:cNvGraphicFramePr>
            <a:graphicFrameLocks noGrp="1"/>
          </p:cNvGraphicFramePr>
          <p:nvPr>
            <p:extLst>
              <p:ext uri="{D42A27DB-BD31-4B8C-83A1-F6EECF244321}">
                <p14:modId xmlns:p14="http://schemas.microsoft.com/office/powerpoint/2010/main" val="2846358589"/>
              </p:ext>
            </p:extLst>
          </p:nvPr>
        </p:nvGraphicFramePr>
        <p:xfrm>
          <a:off x="95250" y="1279243"/>
          <a:ext cx="2952750" cy="4892957"/>
        </p:xfrm>
        <a:graphic>
          <a:graphicData uri="http://schemas.openxmlformats.org/drawingml/2006/table">
            <a:tbl>
              <a:tblPr/>
              <a:tblGrid>
                <a:gridCol w="2952750">
                  <a:extLst>
                    <a:ext uri="{9D8B030D-6E8A-4147-A177-3AD203B41FA5}">
                      <a16:colId xmlns:a16="http://schemas.microsoft.com/office/drawing/2014/main" xmlns="" val="20000"/>
                    </a:ext>
                  </a:extLst>
                </a:gridCol>
              </a:tblGrid>
              <a:tr h="458841">
                <a:tc>
                  <a:txBody>
                    <a:bodyPr/>
                    <a:lstStyle/>
                    <a:p>
                      <a:pPr algn="ctr">
                        <a:lnSpc>
                          <a:spcPts val="1253"/>
                        </a:lnSpc>
                        <a:defRPr/>
                      </a:pPr>
                      <a:endParaRPr lang="en-US" sz="1100"/>
                    </a:p>
                  </a:txBody>
                  <a:tcPr marL="133350" marR="133350" marT="133350" marB="1333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5001"/>
                    </a:solidFill>
                  </a:tcPr>
                </a:tc>
                <a:extLst>
                  <a:ext uri="{0D108BD9-81ED-4DB2-BD59-A6C34878D82A}">
                    <a16:rowId xmlns:a16="http://schemas.microsoft.com/office/drawing/2014/main" xmlns="" val="10000"/>
                  </a:ext>
                </a:extLst>
              </a:tr>
              <a:tr h="4434116">
                <a:tc>
                  <a:txBody>
                    <a:bodyPr/>
                    <a:lstStyle/>
                    <a:p>
                      <a:pPr algn="ctr">
                        <a:lnSpc>
                          <a:spcPts val="1253"/>
                        </a:lnSpc>
                        <a:defRPr/>
                      </a:pPr>
                      <a:endParaRPr lang="en-US" sz="1100"/>
                    </a:p>
                  </a:txBody>
                  <a:tcPr marL="133350" marR="133350" marT="133350" marB="1333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6" name="TextBox 6"/>
          <p:cNvSpPr txBox="1"/>
          <p:nvPr/>
        </p:nvSpPr>
        <p:spPr>
          <a:xfrm>
            <a:off x="2781499" y="1154"/>
            <a:ext cx="5927080" cy="658835"/>
          </a:xfrm>
          <a:prstGeom prst="rect">
            <a:avLst/>
          </a:prstGeom>
        </p:spPr>
        <p:txBody>
          <a:bodyPr lIns="0" tIns="0" rIns="0" bIns="0" rtlCol="0" anchor="t">
            <a:spAutoFit/>
          </a:bodyPr>
          <a:lstStyle/>
          <a:p>
            <a:pPr algn="l">
              <a:lnSpc>
                <a:spcPts val="5599"/>
              </a:lnSpc>
            </a:pPr>
            <a:r>
              <a:rPr lang="en-US" sz="3950" b="1" dirty="0">
                <a:solidFill>
                  <a:schemeClr val="tx2">
                    <a:lumMod val="76000"/>
                  </a:schemeClr>
                </a:solidFill>
                <a:latin typeface="Times New Roman Bold"/>
                <a:ea typeface="Times New Roman Bold"/>
                <a:cs typeface="Times New Roman Bold"/>
                <a:sym typeface="Times New Roman Bold"/>
              </a:rPr>
              <a:t>IMPACT AND </a:t>
            </a:r>
            <a:r>
              <a:rPr lang="en-US" sz="4000" b="1" dirty="0">
                <a:solidFill>
                  <a:schemeClr val="tx2">
                    <a:lumMod val="76000"/>
                  </a:schemeClr>
                </a:solidFill>
                <a:latin typeface="Times New Roman Bold"/>
                <a:ea typeface="Times New Roman Bold"/>
                <a:cs typeface="Times New Roman Bold"/>
                <a:sym typeface="Times New Roman Bold"/>
              </a:rPr>
              <a:t>BENEFITS</a:t>
            </a:r>
            <a:endParaRPr lang="en-US" sz="4000" b="1" dirty="0">
              <a:solidFill>
                <a:schemeClr val="tx2">
                  <a:lumMod val="76000"/>
                </a:schemeClr>
              </a:solidFill>
              <a:latin typeface="Times New Roman Bold"/>
              <a:ea typeface="Times New Roman Bold"/>
              <a:cs typeface="Times New Roman Bold"/>
            </a:endParaRPr>
          </a:p>
        </p:txBody>
      </p:sp>
      <p:sp>
        <p:nvSpPr>
          <p:cNvPr id="7" name="TextBox 7"/>
          <p:cNvSpPr txBox="1"/>
          <p:nvPr/>
        </p:nvSpPr>
        <p:spPr>
          <a:xfrm>
            <a:off x="1669848" y="610465"/>
            <a:ext cx="8164239" cy="359073"/>
          </a:xfrm>
          <a:prstGeom prst="rect">
            <a:avLst/>
          </a:prstGeom>
        </p:spPr>
        <p:txBody>
          <a:bodyPr wrap="square" lIns="0" tIns="0" rIns="0" bIns="0" rtlCol="0" anchor="t">
            <a:spAutoFit/>
          </a:bodyPr>
          <a:lstStyle/>
          <a:p>
            <a:pPr>
              <a:lnSpc>
                <a:spcPts val="2800"/>
              </a:lnSpc>
            </a:pPr>
            <a:r>
              <a:rPr lang="en-US" sz="2500" dirty="0">
                <a:solidFill>
                  <a:srgbClr val="005D2E"/>
                </a:solidFill>
                <a:latin typeface="Francois One"/>
                <a:ea typeface="Francois One"/>
                <a:cs typeface="Francois One"/>
                <a:sym typeface="Francois One"/>
              </a:rPr>
              <a:t>Healthier Animals. Prosperous Farmers. Stronger Nation.</a:t>
            </a:r>
            <a:endParaRPr lang="en-US" sz="2500" dirty="0">
              <a:solidFill>
                <a:srgbClr val="005D2E"/>
              </a:solidFill>
              <a:latin typeface="Francois One"/>
              <a:ea typeface="Francois One"/>
              <a:cs typeface="Francois One"/>
            </a:endParaRPr>
          </a:p>
        </p:txBody>
      </p:sp>
      <p:sp>
        <p:nvSpPr>
          <p:cNvPr id="8" name="TextBox 8"/>
          <p:cNvSpPr txBox="1"/>
          <p:nvPr/>
        </p:nvSpPr>
        <p:spPr>
          <a:xfrm>
            <a:off x="533400" y="1319999"/>
            <a:ext cx="2435573" cy="359073"/>
          </a:xfrm>
          <a:prstGeom prst="rect">
            <a:avLst/>
          </a:prstGeom>
        </p:spPr>
        <p:txBody>
          <a:bodyPr wrap="square" lIns="0" tIns="0" rIns="0" bIns="0" rtlCol="0" anchor="t">
            <a:spAutoFit/>
          </a:bodyPr>
          <a:lstStyle/>
          <a:p>
            <a:pPr algn="ctr">
              <a:lnSpc>
                <a:spcPts val="2800"/>
              </a:lnSpc>
            </a:pPr>
            <a:r>
              <a:rPr lang="en-US" sz="2000" b="1">
                <a:solidFill>
                  <a:srgbClr val="FFFFFF"/>
                </a:solidFill>
                <a:latin typeface="Canva Sans Bold"/>
                <a:ea typeface="Canva Sans Bold"/>
                <a:cs typeface="Canva Sans Bold"/>
                <a:sym typeface="Canva Sans Bold"/>
              </a:rPr>
              <a:t>TARGET AUDIENCE</a:t>
            </a:r>
          </a:p>
        </p:txBody>
      </p:sp>
      <p:sp>
        <p:nvSpPr>
          <p:cNvPr id="9" name="Freeform 9"/>
          <p:cNvSpPr/>
          <p:nvPr/>
        </p:nvSpPr>
        <p:spPr>
          <a:xfrm>
            <a:off x="95250" y="1917418"/>
            <a:ext cx="649635" cy="669727"/>
          </a:xfrm>
          <a:custGeom>
            <a:avLst/>
            <a:gdLst/>
            <a:ahLst/>
            <a:cxnLst/>
            <a:rect l="l" t="t" r="r" b="b"/>
            <a:pathLst>
              <a:path w="649635" h="669727">
                <a:moveTo>
                  <a:pt x="0" y="0"/>
                </a:moveTo>
                <a:lnTo>
                  <a:pt x="649635" y="0"/>
                </a:lnTo>
                <a:lnTo>
                  <a:pt x="649635" y="669727"/>
                </a:lnTo>
                <a:lnTo>
                  <a:pt x="0" y="669727"/>
                </a:lnTo>
                <a:lnTo>
                  <a:pt x="0" y="0"/>
                </a:lnTo>
                <a:close/>
              </a:path>
            </a:pathLst>
          </a:custGeom>
          <a:blipFill>
            <a:blip r:embed="rId3"/>
            <a:stretch>
              <a:fillRect/>
            </a:stretch>
          </a:blipFill>
        </p:spPr>
      </p:sp>
      <p:sp>
        <p:nvSpPr>
          <p:cNvPr id="10" name="Freeform 10"/>
          <p:cNvSpPr/>
          <p:nvPr/>
        </p:nvSpPr>
        <p:spPr>
          <a:xfrm>
            <a:off x="187524" y="1369618"/>
            <a:ext cx="388441" cy="267891"/>
          </a:xfrm>
          <a:custGeom>
            <a:avLst/>
            <a:gdLst/>
            <a:ahLst/>
            <a:cxnLst/>
            <a:rect l="l" t="t" r="r" b="b"/>
            <a:pathLst>
              <a:path w="388441" h="267891">
                <a:moveTo>
                  <a:pt x="0" y="0"/>
                </a:moveTo>
                <a:lnTo>
                  <a:pt x="388441" y="0"/>
                </a:lnTo>
                <a:lnTo>
                  <a:pt x="388441" y="267890"/>
                </a:lnTo>
                <a:lnTo>
                  <a:pt x="0" y="267890"/>
                </a:lnTo>
                <a:lnTo>
                  <a:pt x="0" y="0"/>
                </a:lnTo>
                <a:close/>
              </a:path>
            </a:pathLst>
          </a:custGeom>
          <a:blipFill>
            <a:blip r:embed="rId4"/>
            <a:stretch>
              <a:fillRect/>
            </a:stretch>
          </a:blipFill>
        </p:spPr>
      </p:sp>
      <p:sp>
        <p:nvSpPr>
          <p:cNvPr id="11" name="TextBox 11"/>
          <p:cNvSpPr txBox="1"/>
          <p:nvPr/>
        </p:nvSpPr>
        <p:spPr>
          <a:xfrm>
            <a:off x="645238" y="1889710"/>
            <a:ext cx="2393008" cy="269304"/>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Farmers &amp; Diary Owners</a:t>
            </a:r>
          </a:p>
        </p:txBody>
      </p:sp>
      <p:sp>
        <p:nvSpPr>
          <p:cNvPr id="12" name="TextBox 12"/>
          <p:cNvSpPr txBox="1"/>
          <p:nvPr/>
        </p:nvSpPr>
        <p:spPr>
          <a:xfrm>
            <a:off x="803591" y="2221914"/>
            <a:ext cx="1832587" cy="359073"/>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Get early alerts, guidance and better herd management</a:t>
            </a:r>
          </a:p>
        </p:txBody>
      </p:sp>
      <p:sp>
        <p:nvSpPr>
          <p:cNvPr id="13" name="Freeform 13"/>
          <p:cNvSpPr/>
          <p:nvPr/>
        </p:nvSpPr>
        <p:spPr>
          <a:xfrm>
            <a:off x="95250" y="2945581"/>
            <a:ext cx="649635" cy="796975"/>
          </a:xfrm>
          <a:custGeom>
            <a:avLst/>
            <a:gdLst/>
            <a:ahLst/>
            <a:cxnLst/>
            <a:rect l="l" t="t" r="r" b="b"/>
            <a:pathLst>
              <a:path w="649635" h="796975">
                <a:moveTo>
                  <a:pt x="0" y="0"/>
                </a:moveTo>
                <a:lnTo>
                  <a:pt x="649635" y="0"/>
                </a:lnTo>
                <a:lnTo>
                  <a:pt x="649635" y="796975"/>
                </a:lnTo>
                <a:lnTo>
                  <a:pt x="0" y="796975"/>
                </a:lnTo>
                <a:lnTo>
                  <a:pt x="0" y="0"/>
                </a:lnTo>
                <a:close/>
              </a:path>
            </a:pathLst>
          </a:custGeom>
          <a:blipFill>
            <a:blip r:embed="rId5"/>
            <a:stretch>
              <a:fillRect/>
            </a:stretch>
          </a:blipFill>
        </p:spPr>
      </p:sp>
      <p:sp>
        <p:nvSpPr>
          <p:cNvPr id="14" name="TextBox 14"/>
          <p:cNvSpPr txBox="1"/>
          <p:nvPr/>
        </p:nvSpPr>
        <p:spPr>
          <a:xfrm>
            <a:off x="675612" y="2967317"/>
            <a:ext cx="1312515" cy="269304"/>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Veterinarians</a:t>
            </a:r>
          </a:p>
        </p:txBody>
      </p:sp>
      <p:sp>
        <p:nvSpPr>
          <p:cNvPr id="15" name="TextBox 15"/>
          <p:cNvSpPr txBox="1"/>
          <p:nvPr/>
        </p:nvSpPr>
        <p:spPr>
          <a:xfrm>
            <a:off x="803591" y="3285666"/>
            <a:ext cx="1832587" cy="362048"/>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Quick diagnosis support, case tracking and consultation.</a:t>
            </a:r>
          </a:p>
        </p:txBody>
      </p:sp>
      <p:sp>
        <p:nvSpPr>
          <p:cNvPr id="16" name="Freeform 16"/>
          <p:cNvSpPr/>
          <p:nvPr/>
        </p:nvSpPr>
        <p:spPr>
          <a:xfrm>
            <a:off x="95250" y="4129572"/>
            <a:ext cx="649635" cy="669727"/>
          </a:xfrm>
          <a:custGeom>
            <a:avLst/>
            <a:gdLst/>
            <a:ahLst/>
            <a:cxnLst/>
            <a:rect l="l" t="t" r="r" b="b"/>
            <a:pathLst>
              <a:path w="649635" h="669727">
                <a:moveTo>
                  <a:pt x="0" y="0"/>
                </a:moveTo>
                <a:lnTo>
                  <a:pt x="649635" y="0"/>
                </a:lnTo>
                <a:lnTo>
                  <a:pt x="649635" y="669726"/>
                </a:lnTo>
                <a:lnTo>
                  <a:pt x="0" y="669726"/>
                </a:lnTo>
                <a:lnTo>
                  <a:pt x="0" y="0"/>
                </a:lnTo>
                <a:close/>
              </a:path>
            </a:pathLst>
          </a:custGeom>
          <a:blipFill>
            <a:blip r:embed="rId6"/>
            <a:stretch>
              <a:fillRect/>
            </a:stretch>
          </a:blipFill>
        </p:spPr>
      </p:sp>
      <p:sp>
        <p:nvSpPr>
          <p:cNvPr id="17" name="TextBox 17"/>
          <p:cNvSpPr txBox="1"/>
          <p:nvPr/>
        </p:nvSpPr>
        <p:spPr>
          <a:xfrm>
            <a:off x="731031" y="4084138"/>
            <a:ext cx="1945792" cy="269304"/>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Government &amp; NGOs</a:t>
            </a:r>
          </a:p>
        </p:txBody>
      </p:sp>
      <p:sp>
        <p:nvSpPr>
          <p:cNvPr id="18" name="TextBox 18"/>
          <p:cNvSpPr txBox="1"/>
          <p:nvPr/>
        </p:nvSpPr>
        <p:spPr>
          <a:xfrm>
            <a:off x="813697" y="4389967"/>
            <a:ext cx="1891294" cy="345672"/>
          </a:xfrm>
          <a:prstGeom prst="rect">
            <a:avLst/>
          </a:prstGeom>
        </p:spPr>
        <p:txBody>
          <a:bodyPr lIns="0" tIns="0" rIns="0" bIns="0" rtlCol="0" anchor="t">
            <a:spAutoFit/>
          </a:bodyPr>
          <a:lstStyle/>
          <a:p>
            <a:pPr algn="l">
              <a:lnSpc>
                <a:spcPts val="1399"/>
              </a:lnSpc>
            </a:pPr>
            <a:r>
              <a:rPr lang="en-US" sz="950" dirty="0">
                <a:solidFill>
                  <a:srgbClr val="000000"/>
                </a:solidFill>
                <a:latin typeface="Canva Sans"/>
                <a:ea typeface="Canva Sans"/>
                <a:cs typeface="Canva Sans"/>
                <a:sym typeface="Canva Sans"/>
              </a:rPr>
              <a:t>Monitor disease outbreaks and plan effective </a:t>
            </a:r>
            <a:r>
              <a:rPr lang="en-US" sz="950">
                <a:solidFill>
                  <a:srgbClr val="000000"/>
                </a:solidFill>
                <a:latin typeface="Canva Sans"/>
                <a:ea typeface="Canva Sans"/>
                <a:cs typeface="Canva Sans"/>
                <a:sym typeface="Canva Sans"/>
              </a:rPr>
              <a:t>interventions</a:t>
            </a:r>
            <a:r>
              <a:rPr lang="en-US" sz="950" dirty="0">
                <a:solidFill>
                  <a:srgbClr val="000000"/>
                </a:solidFill>
                <a:latin typeface="Canva Sans"/>
                <a:ea typeface="Canva Sans"/>
                <a:cs typeface="Canva Sans"/>
                <a:sym typeface="Canva Sans"/>
              </a:rPr>
              <a:t>.</a:t>
            </a:r>
          </a:p>
        </p:txBody>
      </p:sp>
      <p:sp>
        <p:nvSpPr>
          <p:cNvPr id="19" name="Freeform 19"/>
          <p:cNvSpPr/>
          <p:nvPr/>
        </p:nvSpPr>
        <p:spPr>
          <a:xfrm>
            <a:off x="95250" y="5319386"/>
            <a:ext cx="649635" cy="535781"/>
          </a:xfrm>
          <a:custGeom>
            <a:avLst/>
            <a:gdLst/>
            <a:ahLst/>
            <a:cxnLst/>
            <a:rect l="l" t="t" r="r" b="b"/>
            <a:pathLst>
              <a:path w="649635" h="535781">
                <a:moveTo>
                  <a:pt x="0" y="0"/>
                </a:moveTo>
                <a:lnTo>
                  <a:pt x="649635" y="0"/>
                </a:lnTo>
                <a:lnTo>
                  <a:pt x="649635" y="535781"/>
                </a:lnTo>
                <a:lnTo>
                  <a:pt x="0" y="535781"/>
                </a:lnTo>
                <a:lnTo>
                  <a:pt x="0" y="0"/>
                </a:lnTo>
                <a:close/>
              </a:path>
            </a:pathLst>
          </a:custGeom>
          <a:blipFill>
            <a:blip r:embed="rId7"/>
            <a:stretch>
              <a:fillRect/>
            </a:stretch>
          </a:blipFill>
        </p:spPr>
      </p:sp>
      <p:sp>
        <p:nvSpPr>
          <p:cNvPr id="20" name="TextBox 20"/>
          <p:cNvSpPr txBox="1"/>
          <p:nvPr/>
        </p:nvSpPr>
        <p:spPr>
          <a:xfrm>
            <a:off x="578631" y="5224615"/>
            <a:ext cx="2319675" cy="251607"/>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Livestock Businesses</a:t>
            </a:r>
          </a:p>
        </p:txBody>
      </p:sp>
      <p:sp>
        <p:nvSpPr>
          <p:cNvPr id="21" name="TextBox 21"/>
          <p:cNvSpPr txBox="1"/>
          <p:nvPr/>
        </p:nvSpPr>
        <p:spPr>
          <a:xfrm>
            <a:off x="772134" y="5526663"/>
            <a:ext cx="2323817" cy="336550"/>
          </a:xfrm>
          <a:prstGeom prst="rect">
            <a:avLst/>
          </a:prstGeom>
        </p:spPr>
        <p:txBody>
          <a:bodyPr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Reduce losses, improve productivity and ensure better animal welfare.</a:t>
            </a:r>
          </a:p>
        </p:txBody>
      </p:sp>
      <p:sp>
        <p:nvSpPr>
          <p:cNvPr id="23" name="TextBox 23"/>
          <p:cNvSpPr txBox="1"/>
          <p:nvPr/>
        </p:nvSpPr>
        <p:spPr>
          <a:xfrm>
            <a:off x="4058497" y="1263860"/>
            <a:ext cx="3866134" cy="617670"/>
          </a:xfrm>
          <a:prstGeom prst="rect">
            <a:avLst/>
          </a:prstGeom>
        </p:spPr>
        <p:txBody>
          <a:bodyPr wrap="square" lIns="0" tIns="0" rIns="0" bIns="0" rtlCol="0" anchor="t">
            <a:spAutoFit/>
          </a:bodyPr>
          <a:lstStyle/>
          <a:p>
            <a:pPr algn="ctr">
              <a:lnSpc>
                <a:spcPts val="2800"/>
              </a:lnSpc>
            </a:pPr>
            <a:r>
              <a:rPr lang="en-US" sz="2000" b="1" dirty="0">
                <a:solidFill>
                  <a:schemeClr val="bg1"/>
                </a:solidFill>
                <a:latin typeface="Canva Sans Bold"/>
                <a:ea typeface="Canva Sans Bold"/>
                <a:cs typeface="Canva Sans Bold"/>
                <a:sym typeface="Canva Sans Bold"/>
              </a:rPr>
              <a:t>POTENTIAL IMPACT ON THE </a:t>
            </a:r>
            <a:endParaRPr lang="en-US" sz="2000" b="1" dirty="0">
              <a:solidFill>
                <a:schemeClr val="bg1"/>
              </a:solidFill>
              <a:latin typeface="Canva Sans Bold"/>
              <a:ea typeface="Canva Sans Bold"/>
              <a:cs typeface="Canva Sans Bold"/>
            </a:endParaRPr>
          </a:p>
          <a:p>
            <a:pPr algn="ctr">
              <a:lnSpc>
                <a:spcPts val="2000"/>
              </a:lnSpc>
            </a:pPr>
            <a:r>
              <a:rPr lang="en-US" sz="2000" b="1" dirty="0">
                <a:solidFill>
                  <a:schemeClr val="bg1"/>
                </a:solidFill>
                <a:latin typeface="Canva Sans Bold"/>
                <a:ea typeface="Canva Sans Bold"/>
                <a:cs typeface="Canva Sans Bold"/>
                <a:sym typeface="Canva Sans Bold"/>
              </a:rPr>
              <a:t>TARGET AUDIENCE</a:t>
            </a:r>
            <a:endParaRPr lang="en-US" sz="2000" b="1" dirty="0">
              <a:solidFill>
                <a:schemeClr val="bg1"/>
              </a:solidFill>
              <a:latin typeface="Canva Sans Bold"/>
              <a:ea typeface="Canva Sans Bold"/>
              <a:cs typeface="Canva Sans Bold"/>
            </a:endParaRPr>
          </a:p>
        </p:txBody>
      </p:sp>
      <p:sp>
        <p:nvSpPr>
          <p:cNvPr id="25" name="Freeform 25"/>
          <p:cNvSpPr/>
          <p:nvPr/>
        </p:nvSpPr>
        <p:spPr>
          <a:xfrm>
            <a:off x="3490002" y="2603491"/>
            <a:ext cx="564865" cy="686236"/>
          </a:xfrm>
          <a:custGeom>
            <a:avLst/>
            <a:gdLst/>
            <a:ahLst/>
            <a:cxnLst/>
            <a:rect l="l" t="t" r="r" b="b"/>
            <a:pathLst>
              <a:path w="515689" h="529084">
                <a:moveTo>
                  <a:pt x="0" y="0"/>
                </a:moveTo>
                <a:lnTo>
                  <a:pt x="515689" y="0"/>
                </a:lnTo>
                <a:lnTo>
                  <a:pt x="515689" y="529084"/>
                </a:lnTo>
                <a:lnTo>
                  <a:pt x="0" y="529084"/>
                </a:lnTo>
                <a:lnTo>
                  <a:pt x="0" y="0"/>
                </a:lnTo>
                <a:close/>
              </a:path>
            </a:pathLst>
          </a:custGeom>
          <a:blipFill>
            <a:blip r:embed="rId8">
              <a:duotone>
                <a:schemeClr val="accent1">
                  <a:shade val="45000"/>
                  <a:satMod val="135000"/>
                </a:schemeClr>
                <a:prstClr val="white"/>
              </a:duotone>
              <a:extLst>
                <a:ext uri="{BEBA8EAE-BF5A-486C-A8C5-ECC9F3942E4B}">
                  <a14:imgProps xmlns:a14="http://schemas.microsoft.com/office/drawing/2010/main">
                    <a14:imgLayer r:embed="rId9">
                      <a14:imgEffect>
                        <a14:saturation sat="0"/>
                      </a14:imgEffect>
                    </a14:imgLayer>
                  </a14:imgProps>
                </a:ext>
              </a:extLst>
            </a:blip>
            <a:srcRect/>
            <a:stretch>
              <a:fillRect l="-23618" t="-4528" r="-2032" b="-8870"/>
            </a:stretch>
          </a:blipFill>
          <a:ln>
            <a:noFill/>
          </a:ln>
        </p:spPr>
      </p:sp>
      <p:sp>
        <p:nvSpPr>
          <p:cNvPr id="27" name="Freeform 27"/>
          <p:cNvSpPr/>
          <p:nvPr/>
        </p:nvSpPr>
        <p:spPr>
          <a:xfrm>
            <a:off x="3452936" y="4077895"/>
            <a:ext cx="702296" cy="740027"/>
          </a:xfrm>
          <a:custGeom>
            <a:avLst/>
            <a:gdLst/>
            <a:ahLst/>
            <a:cxnLst/>
            <a:rect l="l" t="t" r="r" b="b"/>
            <a:pathLst>
              <a:path w="388441" h="401836">
                <a:moveTo>
                  <a:pt x="0" y="0"/>
                </a:moveTo>
                <a:lnTo>
                  <a:pt x="388441" y="0"/>
                </a:lnTo>
                <a:lnTo>
                  <a:pt x="388441" y="401836"/>
                </a:lnTo>
                <a:lnTo>
                  <a:pt x="0" y="401836"/>
                </a:lnTo>
                <a:lnTo>
                  <a:pt x="0" y="0"/>
                </a:lnTo>
                <a:close/>
              </a:path>
            </a:pathLst>
          </a:custGeom>
          <a:blipFill>
            <a:blip r:embed="rId10">
              <a:extLst>
                <a:ext uri="{BEBA8EAE-BF5A-486C-A8C5-ECC9F3942E4B}">
                  <a14:imgProps xmlns:a14="http://schemas.microsoft.com/office/drawing/2010/main">
                    <a14:imgLayer r:embed="rId11">
                      <a14:imgEffect>
                        <a14:colorTemperature colorTemp="4700"/>
                      </a14:imgEffect>
                    </a14:imgLayer>
                  </a14:imgProps>
                </a:ext>
              </a:extLst>
            </a:blip>
            <a:stretch>
              <a:fillRect/>
            </a:stretch>
          </a:blipFill>
        </p:spPr>
      </p:sp>
      <p:sp>
        <p:nvSpPr>
          <p:cNvPr id="29" name="Freeform 29"/>
          <p:cNvSpPr/>
          <p:nvPr/>
        </p:nvSpPr>
        <p:spPr>
          <a:xfrm>
            <a:off x="3452936" y="5702221"/>
            <a:ext cx="615731" cy="877553"/>
          </a:xfrm>
          <a:custGeom>
            <a:avLst/>
            <a:gdLst/>
            <a:ahLst/>
            <a:cxnLst/>
            <a:rect l="l" t="t" r="r" b="b"/>
            <a:pathLst>
              <a:path w="636226" h="877553">
                <a:moveTo>
                  <a:pt x="0" y="0"/>
                </a:moveTo>
                <a:lnTo>
                  <a:pt x="636226" y="0"/>
                </a:lnTo>
                <a:lnTo>
                  <a:pt x="636226" y="877553"/>
                </a:lnTo>
                <a:lnTo>
                  <a:pt x="0" y="877553"/>
                </a:lnTo>
                <a:lnTo>
                  <a:pt x="0" y="0"/>
                </a:lnTo>
                <a:close/>
              </a:path>
            </a:pathLst>
          </a:custGeom>
          <a:blipFill>
            <a:blip r:embed="rId12"/>
            <a:stretch>
              <a:fillRect/>
            </a:stretch>
          </a:blipFill>
        </p:spPr>
      </p:sp>
      <p:sp>
        <p:nvSpPr>
          <p:cNvPr id="31" name="Freeform 31"/>
          <p:cNvSpPr/>
          <p:nvPr/>
        </p:nvSpPr>
        <p:spPr>
          <a:xfrm>
            <a:off x="6233901" y="2557134"/>
            <a:ext cx="572915" cy="749529"/>
          </a:xfrm>
          <a:custGeom>
            <a:avLst/>
            <a:gdLst/>
            <a:ahLst/>
            <a:cxnLst/>
            <a:rect l="l" t="t" r="r" b="b"/>
            <a:pathLst>
              <a:path w="550287" h="749529">
                <a:moveTo>
                  <a:pt x="0" y="0"/>
                </a:moveTo>
                <a:lnTo>
                  <a:pt x="550287" y="0"/>
                </a:lnTo>
                <a:lnTo>
                  <a:pt x="550287" y="749529"/>
                </a:lnTo>
                <a:lnTo>
                  <a:pt x="0" y="749529"/>
                </a:lnTo>
                <a:lnTo>
                  <a:pt x="0" y="0"/>
                </a:lnTo>
                <a:close/>
              </a:path>
            </a:pathLst>
          </a:custGeom>
          <a:blipFill>
            <a:blip r:embed="rId13"/>
            <a:stretch>
              <a:fillRect/>
            </a:stretch>
          </a:blipFill>
        </p:spPr>
      </p:sp>
      <p:sp>
        <p:nvSpPr>
          <p:cNvPr id="33" name="Freeform 33"/>
          <p:cNvSpPr/>
          <p:nvPr/>
        </p:nvSpPr>
        <p:spPr>
          <a:xfrm>
            <a:off x="6161055" y="4060273"/>
            <a:ext cx="911188" cy="728729"/>
          </a:xfrm>
          <a:custGeom>
            <a:avLst/>
            <a:gdLst/>
            <a:ahLst/>
            <a:cxnLst/>
            <a:rect l="l" t="t" r="r" b="b"/>
            <a:pathLst>
              <a:path w="875200" h="673231">
                <a:moveTo>
                  <a:pt x="0" y="0"/>
                </a:moveTo>
                <a:lnTo>
                  <a:pt x="875200" y="0"/>
                </a:lnTo>
                <a:lnTo>
                  <a:pt x="875200" y="673231"/>
                </a:lnTo>
                <a:lnTo>
                  <a:pt x="0" y="673231"/>
                </a:lnTo>
                <a:lnTo>
                  <a:pt x="0" y="0"/>
                </a:lnTo>
                <a:close/>
              </a:path>
            </a:pathLst>
          </a:custGeom>
          <a:blipFill>
            <a:blip r:embed="rId14"/>
            <a:stretch>
              <a:fillRect/>
            </a:stretch>
          </a:blipFill>
        </p:spPr>
      </p:sp>
      <p:sp>
        <p:nvSpPr>
          <p:cNvPr id="35" name="Freeform 35"/>
          <p:cNvSpPr/>
          <p:nvPr/>
        </p:nvSpPr>
        <p:spPr>
          <a:xfrm>
            <a:off x="6363352" y="5745663"/>
            <a:ext cx="583587" cy="825678"/>
          </a:xfrm>
          <a:custGeom>
            <a:avLst/>
            <a:gdLst/>
            <a:ahLst/>
            <a:cxnLst/>
            <a:rect l="l" t="t" r="r" b="b"/>
            <a:pathLst>
              <a:path w="662755" h="914144">
                <a:moveTo>
                  <a:pt x="0" y="0"/>
                </a:moveTo>
                <a:lnTo>
                  <a:pt x="662755" y="0"/>
                </a:lnTo>
                <a:lnTo>
                  <a:pt x="662755" y="914145"/>
                </a:lnTo>
                <a:lnTo>
                  <a:pt x="0" y="914145"/>
                </a:lnTo>
                <a:lnTo>
                  <a:pt x="0" y="0"/>
                </a:lnTo>
                <a:close/>
              </a:path>
            </a:pathLst>
          </a:custGeom>
          <a:blipFill>
            <a:blip r:embed="rId15"/>
            <a:stretch>
              <a:fillRect/>
            </a:stretch>
          </a:blipFill>
        </p:spPr>
      </p:sp>
      <p:sp>
        <p:nvSpPr>
          <p:cNvPr id="36" name="TextBox 36"/>
          <p:cNvSpPr txBox="1"/>
          <p:nvPr/>
        </p:nvSpPr>
        <p:spPr>
          <a:xfrm>
            <a:off x="3506116" y="2167147"/>
            <a:ext cx="1777541" cy="386260"/>
          </a:xfrm>
          <a:prstGeom prst="rect">
            <a:avLst/>
          </a:prstGeom>
        </p:spPr>
        <p:txBody>
          <a:bodyPr wrap="square" lIns="0" tIns="0" rIns="0" bIns="0" rtlCol="0" anchor="t">
            <a:spAutoFit/>
          </a:bodyPr>
          <a:lstStyle/>
          <a:p>
            <a:pPr>
              <a:lnSpc>
                <a:spcPts val="1500"/>
              </a:lnSpc>
            </a:pPr>
            <a:r>
              <a:rPr lang="en-US" sz="1500" b="1" dirty="0">
                <a:solidFill>
                  <a:srgbClr val="005D2E"/>
                </a:solidFill>
                <a:latin typeface="Canva Sans Bold"/>
                <a:ea typeface="Canva Sans Bold"/>
                <a:cs typeface="Canva Sans Bold"/>
                <a:sym typeface="Canva Sans Bold"/>
              </a:rPr>
              <a:t>EARLY DISEASE</a:t>
            </a:r>
            <a:endParaRPr lang="en-US"/>
          </a:p>
          <a:p>
            <a:pPr>
              <a:lnSpc>
                <a:spcPts val="1500"/>
              </a:lnSpc>
            </a:pPr>
            <a:r>
              <a:rPr lang="en-US" sz="1500" b="1">
                <a:solidFill>
                  <a:srgbClr val="005D2E"/>
                </a:solidFill>
                <a:latin typeface="Canva Sans Bold"/>
                <a:ea typeface="Canva Sans Bold"/>
                <a:cs typeface="Canva Sans Bold"/>
                <a:sym typeface="Canva Sans Bold"/>
              </a:rPr>
              <a:t>DETECTION</a:t>
            </a:r>
            <a:endParaRPr lang="en-US" sz="1500" b="1">
              <a:solidFill>
                <a:srgbClr val="005D2E"/>
              </a:solidFill>
              <a:latin typeface="Canva Sans Bold"/>
              <a:ea typeface="Canva Sans Bold"/>
              <a:cs typeface="Canva Sans Bold"/>
            </a:endParaRPr>
          </a:p>
        </p:txBody>
      </p:sp>
      <p:sp>
        <p:nvSpPr>
          <p:cNvPr id="37" name="TextBox 37"/>
          <p:cNvSpPr txBox="1"/>
          <p:nvPr/>
        </p:nvSpPr>
        <p:spPr>
          <a:xfrm>
            <a:off x="4236620" y="2583480"/>
            <a:ext cx="1613315" cy="718145"/>
          </a:xfrm>
          <a:prstGeom prst="rect">
            <a:avLst/>
          </a:prstGeom>
        </p:spPr>
        <p:txBody>
          <a:bodyPr wrap="square" lIns="0" tIns="0" rIns="0" bIns="0" rtlCol="0" anchor="t">
            <a:spAutoFit/>
          </a:bodyPr>
          <a:lstStyle/>
          <a:p>
            <a:pPr algn="l">
              <a:lnSpc>
                <a:spcPts val="1399"/>
              </a:lnSpc>
            </a:pPr>
            <a:r>
              <a:rPr lang="en-US" sz="1000" dirty="0">
                <a:solidFill>
                  <a:srgbClr val="000000"/>
                </a:solidFill>
                <a:latin typeface="Canva Sans"/>
                <a:ea typeface="Canva Sans"/>
                <a:cs typeface="Canva Sans"/>
                <a:sym typeface="Canva Sans"/>
              </a:rPr>
              <a:t>Detect diseases early </a:t>
            </a:r>
            <a:endParaRPr lang="en-US" sz="1000" dirty="0">
              <a:solidFill>
                <a:srgbClr val="000000"/>
              </a:solidFill>
              <a:latin typeface="Canva Sans"/>
              <a:ea typeface="Canva Sans"/>
              <a:cs typeface="Canva Sans"/>
            </a:endParaRPr>
          </a:p>
          <a:p>
            <a:pPr algn="l">
              <a:lnSpc>
                <a:spcPts val="1399"/>
              </a:lnSpc>
            </a:pPr>
            <a:r>
              <a:rPr lang="en-US" sz="1000" dirty="0">
                <a:solidFill>
                  <a:srgbClr val="000000"/>
                </a:solidFill>
                <a:latin typeface="Canva Sans"/>
                <a:ea typeface="Canva Sans"/>
                <a:cs typeface="Canva Sans"/>
                <a:sym typeface="Canva Sans"/>
              </a:rPr>
              <a:t>and take timely action, reducing spread</a:t>
            </a:r>
            <a:endParaRPr lang="en-US" sz="1000" dirty="0">
              <a:solidFill>
                <a:srgbClr val="000000"/>
              </a:solidFill>
              <a:latin typeface="Canva Sans"/>
              <a:ea typeface="Canva Sans"/>
              <a:cs typeface="Canva Sans"/>
            </a:endParaRPr>
          </a:p>
          <a:p>
            <a:pPr algn="l">
              <a:lnSpc>
                <a:spcPts val="1399"/>
              </a:lnSpc>
            </a:pPr>
            <a:r>
              <a:rPr lang="en-US" sz="1000" dirty="0">
                <a:solidFill>
                  <a:srgbClr val="000000"/>
                </a:solidFill>
                <a:latin typeface="Canva Sans"/>
                <a:ea typeface="Canva Sans"/>
                <a:cs typeface="Canva Sans"/>
                <a:sym typeface="Canva Sans"/>
              </a:rPr>
              <a:t>and mortality.</a:t>
            </a:r>
            <a:endParaRPr lang="en-US" sz="1000" dirty="0">
              <a:solidFill>
                <a:srgbClr val="000000"/>
              </a:solidFill>
              <a:latin typeface="Canva Sans"/>
              <a:ea typeface="Canva Sans"/>
              <a:cs typeface="Canva Sans"/>
            </a:endParaRPr>
          </a:p>
        </p:txBody>
      </p:sp>
      <p:sp>
        <p:nvSpPr>
          <p:cNvPr id="38" name="TextBox 38"/>
          <p:cNvSpPr txBox="1"/>
          <p:nvPr/>
        </p:nvSpPr>
        <p:spPr>
          <a:xfrm>
            <a:off x="3512003" y="3718222"/>
            <a:ext cx="2391028" cy="390525"/>
          </a:xfrm>
          <a:prstGeom prst="rect">
            <a:avLst/>
          </a:prstGeom>
        </p:spPr>
        <p:txBody>
          <a:bodyPr wrap="square" lIns="0" tIns="0" rIns="0" bIns="0" rtlCol="0" anchor="t">
            <a:spAutoFit/>
          </a:bodyPr>
          <a:lstStyle/>
          <a:p>
            <a:pPr algn="l">
              <a:lnSpc>
                <a:spcPts val="1500"/>
              </a:lnSpc>
            </a:pPr>
            <a:r>
              <a:rPr lang="en-US" sz="1500" b="1">
                <a:solidFill>
                  <a:srgbClr val="001C54"/>
                </a:solidFill>
                <a:latin typeface="Canva Sans Bold"/>
                <a:ea typeface="Canva Sans Bold"/>
                <a:cs typeface="Canva Sans Bold"/>
                <a:sym typeface="Canva Sans Bold"/>
              </a:rPr>
              <a:t>BETTER ANIMAL</a:t>
            </a:r>
          </a:p>
          <a:p>
            <a:pPr algn="l">
              <a:lnSpc>
                <a:spcPts val="1500"/>
              </a:lnSpc>
            </a:pPr>
            <a:r>
              <a:rPr lang="en-US" sz="1500" b="1">
                <a:solidFill>
                  <a:srgbClr val="001C54"/>
                </a:solidFill>
                <a:latin typeface="Canva Sans Bold"/>
                <a:ea typeface="Canva Sans Bold"/>
                <a:cs typeface="Canva Sans Bold"/>
                <a:sym typeface="Canva Sans Bold"/>
              </a:rPr>
              <a:t>HEALTH &amp; WELFARE</a:t>
            </a:r>
          </a:p>
        </p:txBody>
      </p:sp>
      <p:sp>
        <p:nvSpPr>
          <p:cNvPr id="39" name="TextBox 39"/>
          <p:cNvSpPr txBox="1"/>
          <p:nvPr/>
        </p:nvSpPr>
        <p:spPr>
          <a:xfrm>
            <a:off x="4242324" y="4194975"/>
            <a:ext cx="1450215" cy="718145"/>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Improves  overall health, productivity and quality of life for animals.</a:t>
            </a:r>
          </a:p>
        </p:txBody>
      </p:sp>
      <p:sp>
        <p:nvSpPr>
          <p:cNvPr id="40" name="TextBox 40"/>
          <p:cNvSpPr txBox="1"/>
          <p:nvPr/>
        </p:nvSpPr>
        <p:spPr>
          <a:xfrm>
            <a:off x="3547521" y="5365989"/>
            <a:ext cx="2328661" cy="384721"/>
          </a:xfrm>
          <a:prstGeom prst="rect">
            <a:avLst/>
          </a:prstGeom>
        </p:spPr>
        <p:txBody>
          <a:bodyPr wrap="square" lIns="0" tIns="0" rIns="0" bIns="0" rtlCol="0" anchor="t">
            <a:spAutoFit/>
          </a:bodyPr>
          <a:lstStyle/>
          <a:p>
            <a:pPr algn="l">
              <a:lnSpc>
                <a:spcPts val="1500"/>
              </a:lnSpc>
            </a:pPr>
            <a:r>
              <a:rPr lang="en-US" sz="1500" b="1" dirty="0">
                <a:solidFill>
                  <a:srgbClr val="FFC000"/>
                </a:solidFill>
                <a:latin typeface="Canva Sans Bold"/>
                <a:ea typeface="Canva Sans Bold"/>
                <a:cs typeface="Canva Sans Bold"/>
                <a:sym typeface="Canva Sans Bold"/>
              </a:rPr>
              <a:t>INFORMED</a:t>
            </a:r>
            <a:endParaRPr lang="en-US" sz="1500" b="1" dirty="0">
              <a:solidFill>
                <a:srgbClr val="FFC000"/>
              </a:solidFill>
              <a:latin typeface="Canva Sans Bold"/>
              <a:ea typeface="Canva Sans Bold"/>
              <a:cs typeface="Canva Sans Bold"/>
            </a:endParaRPr>
          </a:p>
          <a:p>
            <a:pPr algn="l">
              <a:lnSpc>
                <a:spcPts val="1500"/>
              </a:lnSpc>
            </a:pPr>
            <a:r>
              <a:rPr lang="en-US" sz="1500" b="1" dirty="0">
                <a:solidFill>
                  <a:srgbClr val="FFC000"/>
                </a:solidFill>
                <a:latin typeface="Canva Sans Bold"/>
                <a:ea typeface="Canva Sans Bold"/>
                <a:cs typeface="Canva Sans Bold"/>
                <a:sym typeface="Canva Sans Bold"/>
              </a:rPr>
              <a:t>DECISION MAKING</a:t>
            </a:r>
            <a:endParaRPr lang="en-US" sz="1500" b="1" dirty="0">
              <a:solidFill>
                <a:srgbClr val="FFC000"/>
              </a:solidFill>
              <a:latin typeface="Canva Sans Bold"/>
              <a:ea typeface="Canva Sans Bold"/>
              <a:cs typeface="Canva Sans Bold"/>
            </a:endParaRPr>
          </a:p>
        </p:txBody>
      </p:sp>
      <p:sp>
        <p:nvSpPr>
          <p:cNvPr id="41" name="TextBox 41"/>
          <p:cNvSpPr txBox="1"/>
          <p:nvPr/>
        </p:nvSpPr>
        <p:spPr>
          <a:xfrm>
            <a:off x="4288564" y="5847356"/>
            <a:ext cx="1390120" cy="718145"/>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Data - driven insights help in better planning and resource management.</a:t>
            </a:r>
          </a:p>
        </p:txBody>
      </p:sp>
      <p:sp>
        <p:nvSpPr>
          <p:cNvPr id="42" name="TextBox 42"/>
          <p:cNvSpPr txBox="1"/>
          <p:nvPr/>
        </p:nvSpPr>
        <p:spPr>
          <a:xfrm>
            <a:off x="6411832" y="2171243"/>
            <a:ext cx="1644585" cy="384722"/>
          </a:xfrm>
          <a:prstGeom prst="rect">
            <a:avLst/>
          </a:prstGeom>
        </p:spPr>
        <p:txBody>
          <a:bodyPr wrap="square" lIns="0" tIns="0" rIns="0" bIns="0" rtlCol="0" anchor="t">
            <a:spAutoFit/>
          </a:bodyPr>
          <a:lstStyle/>
          <a:p>
            <a:pPr algn="l">
              <a:lnSpc>
                <a:spcPts val="1500"/>
              </a:lnSpc>
            </a:pPr>
            <a:r>
              <a:rPr lang="en-US" sz="1500" b="1">
                <a:solidFill>
                  <a:srgbClr val="001C54"/>
                </a:solidFill>
                <a:latin typeface="Canva Sans Bold"/>
                <a:ea typeface="Canva Sans Bold"/>
                <a:cs typeface="Canva Sans Bold"/>
                <a:sym typeface="Canva Sans Bold"/>
              </a:rPr>
              <a:t>INCREASED</a:t>
            </a:r>
          </a:p>
          <a:p>
            <a:pPr algn="l">
              <a:lnSpc>
                <a:spcPts val="1500"/>
              </a:lnSpc>
            </a:pPr>
            <a:r>
              <a:rPr lang="en-US" sz="1500" b="1">
                <a:solidFill>
                  <a:srgbClr val="001C54"/>
                </a:solidFill>
                <a:latin typeface="Canva Sans Bold"/>
                <a:ea typeface="Canva Sans Bold"/>
                <a:cs typeface="Canva Sans Bold"/>
                <a:sym typeface="Canva Sans Bold"/>
              </a:rPr>
              <a:t>PRODUCTIVITY</a:t>
            </a:r>
          </a:p>
        </p:txBody>
      </p:sp>
      <p:sp>
        <p:nvSpPr>
          <p:cNvPr id="43" name="TextBox 43"/>
          <p:cNvSpPr txBox="1"/>
          <p:nvPr/>
        </p:nvSpPr>
        <p:spPr>
          <a:xfrm>
            <a:off x="6968659" y="2613533"/>
            <a:ext cx="1634581" cy="718145"/>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Healthy animals </a:t>
            </a:r>
          </a:p>
          <a:p>
            <a:pPr algn="l">
              <a:lnSpc>
                <a:spcPts val="1399"/>
              </a:lnSpc>
            </a:pPr>
            <a:r>
              <a:rPr lang="en-US" sz="999">
                <a:solidFill>
                  <a:srgbClr val="000000"/>
                </a:solidFill>
                <a:latin typeface="Canva Sans"/>
                <a:ea typeface="Canva Sans"/>
                <a:cs typeface="Canva Sans"/>
                <a:sym typeface="Canva Sans"/>
              </a:rPr>
              <a:t>lead to higher milk production, growth and performance.</a:t>
            </a:r>
          </a:p>
        </p:txBody>
      </p:sp>
      <p:sp>
        <p:nvSpPr>
          <p:cNvPr id="44" name="TextBox 44"/>
          <p:cNvSpPr txBox="1"/>
          <p:nvPr/>
        </p:nvSpPr>
        <p:spPr>
          <a:xfrm>
            <a:off x="6371887" y="3716073"/>
            <a:ext cx="2168342" cy="390525"/>
          </a:xfrm>
          <a:prstGeom prst="rect">
            <a:avLst/>
          </a:prstGeom>
        </p:spPr>
        <p:txBody>
          <a:bodyPr wrap="square" lIns="0" tIns="0" rIns="0" bIns="0" rtlCol="0" anchor="t">
            <a:spAutoFit/>
          </a:bodyPr>
          <a:lstStyle/>
          <a:p>
            <a:pPr algn="l">
              <a:lnSpc>
                <a:spcPts val="1500"/>
              </a:lnSpc>
            </a:pPr>
            <a:r>
              <a:rPr lang="en-US" sz="1500" b="1">
                <a:solidFill>
                  <a:srgbClr val="005D2E"/>
                </a:solidFill>
                <a:latin typeface="Canva Sans Bold"/>
                <a:ea typeface="Canva Sans Bold"/>
                <a:cs typeface="Canva Sans Bold"/>
                <a:sym typeface="Canva Sans Bold"/>
              </a:rPr>
              <a:t>REDUCED ECONOMIC </a:t>
            </a:r>
          </a:p>
          <a:p>
            <a:pPr algn="l">
              <a:lnSpc>
                <a:spcPts val="1500"/>
              </a:lnSpc>
            </a:pPr>
            <a:r>
              <a:rPr lang="en-US" sz="1500" b="1">
                <a:solidFill>
                  <a:srgbClr val="005D2E"/>
                </a:solidFill>
                <a:latin typeface="Canva Sans Bold"/>
                <a:ea typeface="Canva Sans Bold"/>
                <a:cs typeface="Canva Sans Bold"/>
                <a:sym typeface="Canva Sans Bold"/>
              </a:rPr>
              <a:t>LOSSES</a:t>
            </a:r>
          </a:p>
        </p:txBody>
      </p:sp>
      <p:sp>
        <p:nvSpPr>
          <p:cNvPr id="45" name="TextBox 45"/>
          <p:cNvSpPr txBox="1"/>
          <p:nvPr/>
        </p:nvSpPr>
        <p:spPr>
          <a:xfrm>
            <a:off x="7169225" y="4133906"/>
            <a:ext cx="1463733" cy="718145"/>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Prevents outbreaks. reduces treatment costs and minimizes financial losses.</a:t>
            </a:r>
          </a:p>
        </p:txBody>
      </p:sp>
      <p:sp>
        <p:nvSpPr>
          <p:cNvPr id="46" name="TextBox 46"/>
          <p:cNvSpPr txBox="1"/>
          <p:nvPr/>
        </p:nvSpPr>
        <p:spPr>
          <a:xfrm>
            <a:off x="6406882" y="5356487"/>
            <a:ext cx="2267204" cy="384721"/>
          </a:xfrm>
          <a:prstGeom prst="rect">
            <a:avLst/>
          </a:prstGeom>
        </p:spPr>
        <p:txBody>
          <a:bodyPr wrap="square" lIns="0" tIns="0" rIns="0" bIns="0" rtlCol="0" anchor="t">
            <a:spAutoFit/>
          </a:bodyPr>
          <a:lstStyle/>
          <a:p>
            <a:pPr algn="l">
              <a:lnSpc>
                <a:spcPts val="1499"/>
              </a:lnSpc>
            </a:pPr>
            <a:r>
              <a:rPr lang="en-US" sz="1499" b="1">
                <a:solidFill>
                  <a:srgbClr val="9440DD"/>
                </a:solidFill>
                <a:latin typeface="Canva Sans Bold"/>
                <a:ea typeface="Canva Sans Bold"/>
                <a:cs typeface="Canva Sans Bold"/>
                <a:sym typeface="Canva Sans Bold"/>
              </a:rPr>
              <a:t>REAL TIME ALERTS &amp; </a:t>
            </a:r>
          </a:p>
          <a:p>
            <a:pPr algn="l">
              <a:lnSpc>
                <a:spcPts val="1499"/>
              </a:lnSpc>
            </a:pPr>
            <a:r>
              <a:rPr lang="en-US" sz="1499" b="1">
                <a:solidFill>
                  <a:srgbClr val="9440DD"/>
                </a:solidFill>
                <a:latin typeface="Canva Sans Bold"/>
                <a:ea typeface="Canva Sans Bold"/>
                <a:cs typeface="Canva Sans Bold"/>
                <a:sym typeface="Canva Sans Bold"/>
              </a:rPr>
              <a:t>RISK MITIGATION</a:t>
            </a:r>
          </a:p>
        </p:txBody>
      </p:sp>
      <p:sp>
        <p:nvSpPr>
          <p:cNvPr id="47" name="TextBox 47"/>
          <p:cNvSpPr txBox="1"/>
          <p:nvPr/>
        </p:nvSpPr>
        <p:spPr>
          <a:xfrm>
            <a:off x="7098205" y="5762796"/>
            <a:ext cx="1550320" cy="706347"/>
          </a:xfrm>
          <a:prstGeom prst="rect">
            <a:avLst/>
          </a:prstGeom>
        </p:spPr>
        <p:txBody>
          <a:bodyPr wrap="square" lIns="0" tIns="0" rIns="0" bIns="0" rtlCol="0" anchor="t">
            <a:spAutoFit/>
          </a:bodyPr>
          <a:lstStyle/>
          <a:p>
            <a:pPr algn="l">
              <a:lnSpc>
                <a:spcPts val="1399"/>
              </a:lnSpc>
            </a:pPr>
            <a:r>
              <a:rPr lang="en-US" sz="999">
                <a:solidFill>
                  <a:srgbClr val="000000"/>
                </a:solidFill>
                <a:latin typeface="Canva Sans"/>
                <a:ea typeface="Canva Sans"/>
                <a:cs typeface="Canva Sans"/>
                <a:sym typeface="Canva Sans"/>
              </a:rPr>
              <a:t>Instant alerts and risk mapping help in taking preventive measures and control outbreaks.</a:t>
            </a:r>
          </a:p>
        </p:txBody>
      </p:sp>
      <p:graphicFrame>
        <p:nvGraphicFramePr>
          <p:cNvPr id="48" name="Table 48"/>
          <p:cNvGraphicFramePr>
            <a:graphicFrameLocks noGrp="1"/>
          </p:cNvGraphicFramePr>
          <p:nvPr>
            <p:extLst>
              <p:ext uri="{D42A27DB-BD31-4B8C-83A1-F6EECF244321}">
                <p14:modId xmlns:p14="http://schemas.microsoft.com/office/powerpoint/2010/main" val="1089606900"/>
              </p:ext>
            </p:extLst>
          </p:nvPr>
        </p:nvGraphicFramePr>
        <p:xfrm>
          <a:off x="8954850" y="1269057"/>
          <a:ext cx="3099581" cy="5455222"/>
        </p:xfrm>
        <a:graphic>
          <a:graphicData uri="http://schemas.openxmlformats.org/drawingml/2006/table">
            <a:tbl>
              <a:tblPr/>
              <a:tblGrid>
                <a:gridCol w="3099581">
                  <a:extLst>
                    <a:ext uri="{9D8B030D-6E8A-4147-A177-3AD203B41FA5}">
                      <a16:colId xmlns:a16="http://schemas.microsoft.com/office/drawing/2014/main" xmlns="" val="20000"/>
                    </a:ext>
                  </a:extLst>
                </a:gridCol>
              </a:tblGrid>
              <a:tr h="648450">
                <a:tc>
                  <a:txBody>
                    <a:bodyPr/>
                    <a:lstStyle/>
                    <a:p>
                      <a:pPr algn="ctr">
                        <a:lnSpc>
                          <a:spcPts val="1253"/>
                        </a:lnSpc>
                        <a:defRPr/>
                      </a:pPr>
                      <a:endParaRPr lang="en-US" sz="1100"/>
                    </a:p>
                  </a:txBody>
                  <a:tcPr marL="133350" marR="133350" marT="133350" marB="1333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5001"/>
                    </a:solidFill>
                  </a:tcPr>
                </a:tc>
                <a:extLst>
                  <a:ext uri="{0D108BD9-81ED-4DB2-BD59-A6C34878D82A}">
                    <a16:rowId xmlns:a16="http://schemas.microsoft.com/office/drawing/2014/main" xmlns="" val="10000"/>
                  </a:ext>
                </a:extLst>
              </a:tr>
              <a:tr h="4806772">
                <a:tc>
                  <a:txBody>
                    <a:bodyPr/>
                    <a:lstStyle/>
                    <a:p>
                      <a:pPr algn="ctr">
                        <a:lnSpc>
                          <a:spcPts val="1253"/>
                        </a:lnSpc>
                        <a:defRPr/>
                      </a:pPr>
                      <a:endParaRPr lang="en-US" sz="1100"/>
                    </a:p>
                  </a:txBody>
                  <a:tcPr marL="133350" marR="133350" marT="133350" marB="1333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49" name="TextBox 49"/>
          <p:cNvSpPr txBox="1"/>
          <p:nvPr/>
        </p:nvSpPr>
        <p:spPr>
          <a:xfrm>
            <a:off x="9196112" y="1326007"/>
            <a:ext cx="2629450" cy="515077"/>
          </a:xfrm>
          <a:prstGeom prst="rect">
            <a:avLst/>
          </a:prstGeom>
        </p:spPr>
        <p:txBody>
          <a:bodyPr wrap="square" lIns="0" tIns="0" rIns="0" bIns="0" rtlCol="0" anchor="t">
            <a:spAutoFit/>
          </a:bodyPr>
          <a:lstStyle/>
          <a:p>
            <a:pPr algn="ctr">
              <a:lnSpc>
                <a:spcPts val="2000"/>
              </a:lnSpc>
            </a:pPr>
            <a:r>
              <a:rPr lang="en-US" sz="2000" b="1">
                <a:solidFill>
                  <a:srgbClr val="FFFFFF"/>
                </a:solidFill>
                <a:latin typeface="Canva Sans Bold"/>
                <a:ea typeface="Canva Sans Bold"/>
                <a:cs typeface="Canva Sans Bold"/>
                <a:sym typeface="Canva Sans Bold"/>
              </a:rPr>
              <a:t>BENEFITS OF THE </a:t>
            </a:r>
          </a:p>
          <a:p>
            <a:pPr algn="ctr">
              <a:lnSpc>
                <a:spcPts val="2000"/>
              </a:lnSpc>
            </a:pPr>
            <a:r>
              <a:rPr lang="en-US" sz="2000" b="1">
                <a:solidFill>
                  <a:srgbClr val="FFFFFF"/>
                </a:solidFill>
                <a:latin typeface="Canva Sans Bold"/>
                <a:ea typeface="Canva Sans Bold"/>
                <a:cs typeface="Canva Sans Bold"/>
                <a:sym typeface="Canva Sans Bold"/>
              </a:rPr>
              <a:t>SOLUTION</a:t>
            </a:r>
          </a:p>
        </p:txBody>
      </p:sp>
      <p:sp>
        <p:nvSpPr>
          <p:cNvPr id="50" name="Freeform 50"/>
          <p:cNvSpPr/>
          <p:nvPr/>
        </p:nvSpPr>
        <p:spPr>
          <a:xfrm>
            <a:off x="9057321" y="2226423"/>
            <a:ext cx="642938" cy="535781"/>
          </a:xfrm>
          <a:custGeom>
            <a:avLst/>
            <a:gdLst/>
            <a:ahLst/>
            <a:cxnLst/>
            <a:rect l="l" t="t" r="r" b="b"/>
            <a:pathLst>
              <a:path w="642938" h="535781">
                <a:moveTo>
                  <a:pt x="0" y="0"/>
                </a:moveTo>
                <a:lnTo>
                  <a:pt x="642938" y="0"/>
                </a:lnTo>
                <a:lnTo>
                  <a:pt x="642938" y="535781"/>
                </a:lnTo>
                <a:lnTo>
                  <a:pt x="0" y="535781"/>
                </a:lnTo>
                <a:lnTo>
                  <a:pt x="0" y="0"/>
                </a:lnTo>
                <a:close/>
              </a:path>
            </a:pathLst>
          </a:custGeom>
          <a:blipFill>
            <a:blip r:embed="rId16"/>
            <a:stretch>
              <a:fillRect/>
            </a:stretch>
          </a:blipFill>
        </p:spPr>
      </p:sp>
      <p:sp>
        <p:nvSpPr>
          <p:cNvPr id="51" name="Freeform 51"/>
          <p:cNvSpPr/>
          <p:nvPr/>
        </p:nvSpPr>
        <p:spPr>
          <a:xfrm>
            <a:off x="9062595" y="3247427"/>
            <a:ext cx="642938" cy="669727"/>
          </a:xfrm>
          <a:custGeom>
            <a:avLst/>
            <a:gdLst/>
            <a:ahLst/>
            <a:cxnLst/>
            <a:rect l="l" t="t" r="r" b="b"/>
            <a:pathLst>
              <a:path w="642938" h="669727">
                <a:moveTo>
                  <a:pt x="0" y="0"/>
                </a:moveTo>
                <a:lnTo>
                  <a:pt x="642938" y="0"/>
                </a:lnTo>
                <a:lnTo>
                  <a:pt x="642938" y="669727"/>
                </a:lnTo>
                <a:lnTo>
                  <a:pt x="0" y="669727"/>
                </a:lnTo>
                <a:lnTo>
                  <a:pt x="0" y="0"/>
                </a:lnTo>
                <a:close/>
              </a:path>
            </a:pathLst>
          </a:custGeom>
          <a:blipFill>
            <a:blip r:embed="rId17"/>
            <a:stretch>
              <a:fillRect/>
            </a:stretch>
          </a:blipFill>
        </p:spPr>
      </p:sp>
      <p:sp>
        <p:nvSpPr>
          <p:cNvPr id="52" name="Freeform 52"/>
          <p:cNvSpPr/>
          <p:nvPr/>
        </p:nvSpPr>
        <p:spPr>
          <a:xfrm>
            <a:off x="9013939" y="4651916"/>
            <a:ext cx="642938" cy="535781"/>
          </a:xfrm>
          <a:custGeom>
            <a:avLst/>
            <a:gdLst/>
            <a:ahLst/>
            <a:cxnLst/>
            <a:rect l="l" t="t" r="r" b="b"/>
            <a:pathLst>
              <a:path w="642938" h="535781">
                <a:moveTo>
                  <a:pt x="0" y="0"/>
                </a:moveTo>
                <a:lnTo>
                  <a:pt x="642937" y="0"/>
                </a:lnTo>
                <a:lnTo>
                  <a:pt x="642937" y="535781"/>
                </a:lnTo>
                <a:lnTo>
                  <a:pt x="0" y="535781"/>
                </a:lnTo>
                <a:lnTo>
                  <a:pt x="0" y="0"/>
                </a:lnTo>
                <a:close/>
              </a:path>
            </a:pathLst>
          </a:custGeom>
          <a:blipFill>
            <a:blip r:embed="rId18"/>
            <a:stretch>
              <a:fillRect/>
            </a:stretch>
          </a:blipFill>
        </p:spPr>
      </p:sp>
      <p:sp>
        <p:nvSpPr>
          <p:cNvPr id="53" name="TextBox 53"/>
          <p:cNvSpPr txBox="1"/>
          <p:nvPr/>
        </p:nvSpPr>
        <p:spPr>
          <a:xfrm>
            <a:off x="9579796" y="2027886"/>
            <a:ext cx="1909519" cy="251607"/>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SOCIAL BENEFIT</a:t>
            </a:r>
          </a:p>
        </p:txBody>
      </p:sp>
      <p:sp>
        <p:nvSpPr>
          <p:cNvPr id="54" name="TextBox 54"/>
          <p:cNvSpPr txBox="1"/>
          <p:nvPr/>
        </p:nvSpPr>
        <p:spPr>
          <a:xfrm>
            <a:off x="9759905" y="2398304"/>
            <a:ext cx="1891294" cy="627801"/>
          </a:xfrm>
          <a:prstGeom prst="rect">
            <a:avLst/>
          </a:prstGeom>
        </p:spPr>
        <p:txBody>
          <a:bodyPr lIns="0" tIns="0" rIns="0" bIns="0" rtlCol="0" anchor="t">
            <a:spAutoFit/>
          </a:bodyPr>
          <a:lstStyle/>
          <a:p>
            <a:r>
              <a:rPr lang="en-US" sz="1000">
                <a:solidFill>
                  <a:srgbClr val="000000"/>
                </a:solidFill>
                <a:latin typeface="Canva Sans"/>
                <a:ea typeface="Canva Sans"/>
                <a:cs typeface="Canva Sans"/>
              </a:rPr>
              <a:t>Better animal health ensures food security and improves rural livelihood.</a:t>
            </a:r>
          </a:p>
          <a:p>
            <a:pPr algn="l">
              <a:lnSpc>
                <a:spcPts val="1399"/>
              </a:lnSpc>
            </a:pPr>
            <a:endParaRPr lang="en-US" sz="950" dirty="0">
              <a:solidFill>
                <a:srgbClr val="000000"/>
              </a:solidFill>
              <a:latin typeface="Canva Sans"/>
              <a:ea typeface="Canva Sans"/>
              <a:cs typeface="Canva Sans"/>
            </a:endParaRPr>
          </a:p>
        </p:txBody>
      </p:sp>
      <p:sp>
        <p:nvSpPr>
          <p:cNvPr id="55" name="TextBox 55"/>
          <p:cNvSpPr txBox="1"/>
          <p:nvPr/>
        </p:nvSpPr>
        <p:spPr>
          <a:xfrm>
            <a:off x="9701827" y="3238035"/>
            <a:ext cx="2093802" cy="251607"/>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ECONOMIC BENEFIT</a:t>
            </a:r>
          </a:p>
        </p:txBody>
      </p:sp>
      <p:sp>
        <p:nvSpPr>
          <p:cNvPr id="56" name="TextBox 56"/>
          <p:cNvSpPr txBox="1"/>
          <p:nvPr/>
        </p:nvSpPr>
        <p:spPr>
          <a:xfrm>
            <a:off x="9792977" y="3606482"/>
            <a:ext cx="2178841" cy="526811"/>
          </a:xfrm>
          <a:prstGeom prst="rect">
            <a:avLst/>
          </a:prstGeom>
        </p:spPr>
        <p:txBody>
          <a:bodyPr wrap="square" lIns="0" tIns="0" rIns="0" bIns="0" rtlCol="0" anchor="t">
            <a:spAutoFit/>
          </a:bodyPr>
          <a:lstStyle/>
          <a:p>
            <a:pPr>
              <a:lnSpc>
                <a:spcPts val="1399"/>
              </a:lnSpc>
            </a:pPr>
            <a:r>
              <a:rPr lang="en-US" sz="1000">
                <a:solidFill>
                  <a:srgbClr val="000000"/>
                </a:solidFill>
                <a:latin typeface="Canva Sans"/>
                <a:ea typeface="Canva Sans"/>
                <a:cs typeface="Canva Sans"/>
                <a:sym typeface="Canva Sans"/>
              </a:rPr>
              <a:t>Increased productivity and reduced losses lead to higher income for farmers and businesses</a:t>
            </a:r>
            <a:r>
              <a:rPr lang="en-US" sz="950">
                <a:solidFill>
                  <a:srgbClr val="000000"/>
                </a:solidFill>
                <a:latin typeface="Canva Sans"/>
                <a:ea typeface="Canva Sans"/>
                <a:cs typeface="Canva Sans"/>
                <a:sym typeface="Canva Sans"/>
              </a:rPr>
              <a:t>.</a:t>
            </a:r>
            <a:endParaRPr lang="en-US"/>
          </a:p>
        </p:txBody>
      </p:sp>
      <p:sp>
        <p:nvSpPr>
          <p:cNvPr id="57" name="TextBox 57"/>
          <p:cNvSpPr txBox="1"/>
          <p:nvPr/>
        </p:nvSpPr>
        <p:spPr>
          <a:xfrm>
            <a:off x="9800606" y="5014417"/>
            <a:ext cx="2193218" cy="527388"/>
          </a:xfrm>
          <a:prstGeom prst="rect">
            <a:avLst/>
          </a:prstGeom>
        </p:spPr>
        <p:txBody>
          <a:bodyPr wrap="square" lIns="0" tIns="0" rIns="0" bIns="0" rtlCol="0" anchor="t">
            <a:spAutoFit/>
          </a:bodyPr>
          <a:lstStyle/>
          <a:p>
            <a:pPr>
              <a:lnSpc>
                <a:spcPts val="1399"/>
              </a:lnSpc>
            </a:pPr>
            <a:r>
              <a:rPr lang="en-US" sz="1000">
                <a:solidFill>
                  <a:srgbClr val="000000"/>
                </a:solidFill>
                <a:latin typeface="Canva Sans"/>
              </a:rPr>
              <a:t>Promotes sustainable livestock management and reduces</a:t>
            </a:r>
            <a:r>
              <a:rPr lang="en-US" sz="1000" dirty="0">
                <a:solidFill>
                  <a:srgbClr val="000000"/>
                </a:solidFill>
                <a:latin typeface="Canva Sans"/>
              </a:rPr>
              <a:t> </a:t>
            </a:r>
            <a:r>
              <a:rPr lang="en-US" sz="1000">
                <a:solidFill>
                  <a:srgbClr val="000000"/>
                </a:solidFill>
                <a:latin typeface="Canva Sans"/>
              </a:rPr>
              <a:t>unnecessary use of medicines</a:t>
            </a:r>
            <a:endParaRPr lang="en-US"/>
          </a:p>
        </p:txBody>
      </p:sp>
      <p:sp>
        <p:nvSpPr>
          <p:cNvPr id="58" name="TextBox 58"/>
          <p:cNvSpPr txBox="1"/>
          <p:nvPr/>
        </p:nvSpPr>
        <p:spPr>
          <a:xfrm>
            <a:off x="9791931" y="4401419"/>
            <a:ext cx="1711821" cy="485775"/>
          </a:xfrm>
          <a:prstGeom prst="rect">
            <a:avLst/>
          </a:prstGeom>
        </p:spPr>
        <p:txBody>
          <a:bodyPr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ENVIRONMENTAL </a:t>
            </a:r>
          </a:p>
          <a:p>
            <a:pPr algn="l">
              <a:lnSpc>
                <a:spcPts val="1500"/>
              </a:lnSpc>
            </a:pPr>
            <a:r>
              <a:rPr lang="en-US" sz="1500" b="1">
                <a:solidFill>
                  <a:srgbClr val="005D2E"/>
                </a:solidFill>
                <a:latin typeface="Canva Sans Bold"/>
                <a:ea typeface="Canva Sans Bold"/>
                <a:cs typeface="Canva Sans Bold"/>
                <a:sym typeface="Canva Sans Bold"/>
              </a:rPr>
              <a:t>BENEFIT</a:t>
            </a:r>
          </a:p>
        </p:txBody>
      </p:sp>
      <p:sp>
        <p:nvSpPr>
          <p:cNvPr id="59" name="TextBox 59"/>
          <p:cNvSpPr txBox="1"/>
          <p:nvPr/>
        </p:nvSpPr>
        <p:spPr>
          <a:xfrm>
            <a:off x="9797241" y="5770317"/>
            <a:ext cx="1936223" cy="269304"/>
          </a:xfrm>
          <a:prstGeom prst="rect">
            <a:avLst/>
          </a:prstGeom>
        </p:spPr>
        <p:txBody>
          <a:bodyPr wrap="square" lIns="0" tIns="0" rIns="0" bIns="0" rtlCol="0" anchor="t">
            <a:spAutoFit/>
          </a:bodyPr>
          <a:lstStyle/>
          <a:p>
            <a:pPr algn="ctr">
              <a:lnSpc>
                <a:spcPts val="2100"/>
              </a:lnSpc>
            </a:pPr>
            <a:r>
              <a:rPr lang="en-US" sz="1500" b="1">
                <a:solidFill>
                  <a:srgbClr val="005D2E"/>
                </a:solidFill>
                <a:latin typeface="Canva Sans Bold"/>
                <a:ea typeface="Canva Sans Bold"/>
                <a:cs typeface="Canva Sans Bold"/>
                <a:sym typeface="Canva Sans Bold"/>
              </a:rPr>
              <a:t>NATIONAL BENEFIT</a:t>
            </a:r>
          </a:p>
        </p:txBody>
      </p:sp>
      <p:sp>
        <p:nvSpPr>
          <p:cNvPr id="60" name="TextBox 60"/>
          <p:cNvSpPr txBox="1"/>
          <p:nvPr/>
        </p:nvSpPr>
        <p:spPr>
          <a:xfrm>
            <a:off x="9858200" y="6149313"/>
            <a:ext cx="2150086" cy="627801"/>
          </a:xfrm>
          <a:prstGeom prst="rect">
            <a:avLst/>
          </a:prstGeom>
        </p:spPr>
        <p:txBody>
          <a:bodyPr wrap="square" lIns="0" tIns="0" rIns="0" bIns="0" rtlCol="0" anchor="t">
            <a:spAutoFit/>
          </a:bodyPr>
          <a:lstStyle/>
          <a:p>
            <a:r>
              <a:rPr lang="en-US" sz="1000">
                <a:solidFill>
                  <a:srgbClr val="000000"/>
                </a:solidFill>
                <a:latin typeface="Canva Sans"/>
                <a:ea typeface="Canva Sans"/>
                <a:cs typeface="Canva Sans"/>
              </a:rPr>
              <a:t>Strength livestock sector, contributes to rural development and supports Aatmnirbhar Bharat.</a:t>
            </a:r>
          </a:p>
          <a:p>
            <a:pPr algn="l">
              <a:lnSpc>
                <a:spcPts val="1399"/>
              </a:lnSpc>
            </a:pPr>
            <a:endParaRPr lang="en-US" sz="950" b="1" dirty="0">
              <a:solidFill>
                <a:srgbClr val="000000"/>
              </a:solidFill>
              <a:latin typeface="Canva Sans"/>
              <a:ea typeface="Canva Sans"/>
              <a:cs typeface="Canva Sans"/>
            </a:endParaRPr>
          </a:p>
        </p:txBody>
      </p:sp>
      <p:sp>
        <p:nvSpPr>
          <p:cNvPr id="61" name="Freeform 61"/>
          <p:cNvSpPr/>
          <p:nvPr/>
        </p:nvSpPr>
        <p:spPr>
          <a:xfrm>
            <a:off x="9061549" y="5840388"/>
            <a:ext cx="649635" cy="669727"/>
          </a:xfrm>
          <a:custGeom>
            <a:avLst/>
            <a:gdLst/>
            <a:ahLst/>
            <a:cxnLst/>
            <a:rect l="l" t="t" r="r" b="b"/>
            <a:pathLst>
              <a:path w="649635" h="669727">
                <a:moveTo>
                  <a:pt x="0" y="0"/>
                </a:moveTo>
                <a:lnTo>
                  <a:pt x="649635" y="0"/>
                </a:lnTo>
                <a:lnTo>
                  <a:pt x="649635" y="669727"/>
                </a:lnTo>
                <a:lnTo>
                  <a:pt x="0" y="669727"/>
                </a:lnTo>
                <a:lnTo>
                  <a:pt x="0" y="0"/>
                </a:lnTo>
                <a:close/>
              </a:path>
            </a:pathLst>
          </a:custGeom>
          <a:blipFill>
            <a:blip r:embed="rId19"/>
            <a:stretch>
              <a:fillRect/>
            </a:stretch>
          </a:blipFill>
        </p:spPr>
      </p:sp>
      <p:cxnSp>
        <p:nvCxnSpPr>
          <p:cNvPr id="65" name="Straight Connector 64"/>
          <p:cNvCxnSpPr/>
          <p:nvPr/>
        </p:nvCxnSpPr>
        <p:spPr>
          <a:xfrm>
            <a:off x="95250" y="2823177"/>
            <a:ext cx="2952750" cy="0"/>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95250" y="3900460"/>
            <a:ext cx="2952750" cy="0"/>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95250" y="5007588"/>
            <a:ext cx="2952750" cy="0"/>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8947398" y="2989566"/>
            <a:ext cx="3118269" cy="20454"/>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8961514" y="5600121"/>
            <a:ext cx="3082677" cy="18237"/>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8961515" y="4202417"/>
            <a:ext cx="3082677" cy="18237"/>
          </a:xfrm>
          <a:prstGeom prst="line">
            <a:avLst/>
          </a:prstGeom>
          <a:ln w="28575">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grpSp>
        <p:nvGrpSpPr>
          <p:cNvPr id="67" name="Group 38">
            <a:extLst>
              <a:ext uri="{FF2B5EF4-FFF2-40B4-BE49-F238E27FC236}">
                <a16:creationId xmlns:a16="http://schemas.microsoft.com/office/drawing/2014/main" xmlns="" id="{420ECD65-5E62-0C1C-C5C9-3FF49B0D3842}"/>
              </a:ext>
            </a:extLst>
          </p:cNvPr>
          <p:cNvGrpSpPr/>
          <p:nvPr/>
        </p:nvGrpSpPr>
        <p:grpSpPr>
          <a:xfrm>
            <a:off x="9881455" y="64861"/>
            <a:ext cx="2247900" cy="1066800"/>
            <a:chOff x="0" y="0"/>
            <a:chExt cx="2997200" cy="1422400"/>
          </a:xfrm>
        </p:grpSpPr>
        <p:sp>
          <p:nvSpPr>
            <p:cNvPr id="64" name="Freeform 39">
              <a:extLst>
                <a:ext uri="{FF2B5EF4-FFF2-40B4-BE49-F238E27FC236}">
                  <a16:creationId xmlns:a16="http://schemas.microsoft.com/office/drawing/2014/main" xmlns="" id="{215A8B30-558D-F655-2BD0-6B0294721A7A}"/>
                </a:ext>
              </a:extLst>
            </p:cNvPr>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20"/>
              <a:stretch>
                <a:fillRect/>
              </a:stretch>
            </a:blipFill>
          </p:spPr>
        </p:sp>
      </p:grpSp>
      <p:sp>
        <p:nvSpPr>
          <p:cNvPr id="69" name="Freeform 4">
            <a:extLst>
              <a:ext uri="{FF2B5EF4-FFF2-40B4-BE49-F238E27FC236}">
                <a16:creationId xmlns:a16="http://schemas.microsoft.com/office/drawing/2014/main" xmlns="" id="{918A8A14-13AC-F129-A0F5-12D52AF30D44}"/>
              </a:ext>
            </a:extLst>
          </p:cNvPr>
          <p:cNvSpPr/>
          <p:nvPr/>
        </p:nvSpPr>
        <p:spPr>
          <a:xfrm>
            <a:off x="66495" y="76380"/>
            <a:ext cx="1105962" cy="1195900"/>
          </a:xfrm>
          <a:custGeom>
            <a:avLst/>
            <a:gdLst/>
            <a:ahLst/>
            <a:cxnLst/>
            <a:rect l="l" t="t" r="r" b="b"/>
            <a:pathLst>
              <a:path w="1105962" h="1195900">
                <a:moveTo>
                  <a:pt x="0" y="0"/>
                </a:moveTo>
                <a:lnTo>
                  <a:pt x="1105962" y="0"/>
                </a:lnTo>
                <a:lnTo>
                  <a:pt x="1105962" y="1195900"/>
                </a:lnTo>
                <a:lnTo>
                  <a:pt x="0" y="1195900"/>
                </a:lnTo>
                <a:lnTo>
                  <a:pt x="0" y="0"/>
                </a:lnTo>
                <a:close/>
              </a:path>
            </a:pathLst>
          </a:custGeom>
          <a:blipFill>
            <a:blip r:embed="rId21"/>
            <a:stretch>
              <a:fillRect l="-4066" r="-4066"/>
            </a:stretch>
          </a:blipFill>
        </p:spPr>
      </p:sp>
      <p:cxnSp>
        <p:nvCxnSpPr>
          <p:cNvPr id="73" name="Straight Arrow Connector 72">
            <a:extLst>
              <a:ext uri="{FF2B5EF4-FFF2-40B4-BE49-F238E27FC236}">
                <a16:creationId xmlns:a16="http://schemas.microsoft.com/office/drawing/2014/main" xmlns="" id="{4FFB7424-AE0E-FE31-0590-904087CA70FA}"/>
              </a:ext>
            </a:extLst>
          </p:cNvPr>
          <p:cNvCxnSpPr/>
          <p:nvPr/>
        </p:nvCxnSpPr>
        <p:spPr>
          <a:xfrm flipH="1">
            <a:off x="1558125" y="997200"/>
            <a:ext cx="8206190" cy="13084"/>
          </a:xfrm>
          <a:prstGeom prst="straightConnector1">
            <a:avLst/>
          </a:prstGeom>
          <a:ln w="28575">
            <a:solidFill>
              <a:srgbClr val="00501E"/>
            </a:solidFill>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xmlns="" id="{A6F27AF0-B22E-2421-5999-C3CB63F110C5}"/>
              </a:ext>
            </a:extLst>
          </p:cNvPr>
          <p:cNvCxnSpPr/>
          <p:nvPr/>
        </p:nvCxnSpPr>
        <p:spPr>
          <a:xfrm>
            <a:off x="3168326" y="1821347"/>
            <a:ext cx="20775" cy="490311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xmlns="" id="{5835E356-BFF4-488A-F8C3-F391A8934142}"/>
              </a:ext>
            </a:extLst>
          </p:cNvPr>
          <p:cNvCxnSpPr>
            <a:cxnSpLocks/>
          </p:cNvCxnSpPr>
          <p:nvPr/>
        </p:nvCxnSpPr>
        <p:spPr>
          <a:xfrm>
            <a:off x="8834835" y="1835201"/>
            <a:ext cx="20775" cy="490311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xmlns="" id="{C0258414-2E8C-0A5D-85E6-113B09D42B8A}"/>
              </a:ext>
            </a:extLst>
          </p:cNvPr>
          <p:cNvCxnSpPr/>
          <p:nvPr/>
        </p:nvCxnSpPr>
        <p:spPr>
          <a:xfrm>
            <a:off x="3199490" y="6717542"/>
            <a:ext cx="5651048" cy="1039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916672" y="9143"/>
            <a:ext cx="7592616" cy="658835"/>
          </a:xfrm>
          <a:prstGeom prst="rect">
            <a:avLst/>
          </a:prstGeom>
        </p:spPr>
        <p:txBody>
          <a:bodyPr lIns="0" tIns="0" rIns="0" bIns="0" rtlCol="0" anchor="t">
            <a:spAutoFit/>
          </a:bodyPr>
          <a:lstStyle/>
          <a:p>
            <a:pPr algn="l">
              <a:lnSpc>
                <a:spcPts val="5599"/>
              </a:lnSpc>
            </a:pPr>
            <a:r>
              <a:rPr lang="en-US" sz="4000" b="1">
                <a:solidFill>
                  <a:schemeClr val="tx2">
                    <a:lumMod val="76000"/>
                  </a:schemeClr>
                </a:solidFill>
                <a:latin typeface="Times New Roman Bold"/>
                <a:ea typeface="Times New Roman Bold"/>
                <a:cs typeface="Times New Roman Bold"/>
                <a:sym typeface="Times New Roman Bold"/>
              </a:rPr>
              <a:t>RESEARCH AND REFERENCES</a:t>
            </a:r>
            <a:endParaRPr lang="en-US" sz="4000" b="1">
              <a:solidFill>
                <a:schemeClr val="tx2">
                  <a:lumMod val="76000"/>
                </a:schemeClr>
              </a:solidFill>
              <a:latin typeface="Times New Roman Bold"/>
              <a:ea typeface="Times New Roman Bold"/>
              <a:cs typeface="Times New Roman Bold"/>
            </a:endParaRPr>
          </a:p>
        </p:txBody>
      </p:sp>
      <p:sp>
        <p:nvSpPr>
          <p:cNvPr id="5" name="TextBox 5"/>
          <p:cNvSpPr txBox="1"/>
          <p:nvPr/>
        </p:nvSpPr>
        <p:spPr>
          <a:xfrm>
            <a:off x="11420732" y="6435728"/>
            <a:ext cx="78810" cy="213360"/>
          </a:xfrm>
          <a:prstGeom prst="rect">
            <a:avLst/>
          </a:prstGeom>
        </p:spPr>
        <p:txBody>
          <a:bodyPr lIns="0" tIns="0" rIns="0" bIns="0" rtlCol="0" anchor="t">
            <a:spAutoFit/>
          </a:bodyPr>
          <a:lstStyle/>
          <a:p>
            <a:pPr algn="l">
              <a:lnSpc>
                <a:spcPts val="1679"/>
              </a:lnSpc>
            </a:pPr>
            <a:r>
              <a:rPr lang="en-US" sz="1200" b="1">
                <a:solidFill>
                  <a:srgbClr val="FFFFFF"/>
                </a:solidFill>
                <a:latin typeface="Calibri (MS) Bold"/>
                <a:ea typeface="Calibri (MS) Bold"/>
                <a:cs typeface="Calibri (MS) Bold"/>
                <a:sym typeface="Calibri (MS) Bold"/>
              </a:rPr>
              <a:t>6</a:t>
            </a:r>
          </a:p>
        </p:txBody>
      </p:sp>
      <p:sp>
        <p:nvSpPr>
          <p:cNvPr id="6" name="TextBox 6"/>
          <p:cNvSpPr txBox="1"/>
          <p:nvPr/>
        </p:nvSpPr>
        <p:spPr>
          <a:xfrm>
            <a:off x="2746409" y="678888"/>
            <a:ext cx="5928686" cy="291683"/>
          </a:xfrm>
          <a:prstGeom prst="rect">
            <a:avLst/>
          </a:prstGeom>
        </p:spPr>
        <p:txBody>
          <a:bodyPr wrap="square" lIns="0" tIns="0" rIns="0" bIns="0" rtlCol="0" anchor="t">
            <a:spAutoFit/>
          </a:bodyPr>
          <a:lstStyle/>
          <a:p>
            <a:pPr algn="ctr">
              <a:lnSpc>
                <a:spcPts val="2000"/>
              </a:lnSpc>
              <a:spcBef>
                <a:spcPct val="0"/>
              </a:spcBef>
            </a:pPr>
            <a:r>
              <a:rPr lang="en-US" sz="3000" b="1" i="1">
                <a:solidFill>
                  <a:srgbClr val="00501E"/>
                </a:solidFill>
                <a:latin typeface="Canva Sans Bold Italics"/>
                <a:ea typeface="Canva Sans Bold Italics"/>
                <a:cs typeface="Canva Sans Bold Italics"/>
                <a:sym typeface="Canva Sans Bold Italics"/>
              </a:rPr>
              <a:t>Knowledge. Innovation. Impact</a:t>
            </a:r>
            <a:endParaRPr lang="en-US" sz="3000" b="1" i="1">
              <a:solidFill>
                <a:srgbClr val="00501E"/>
              </a:solidFill>
              <a:latin typeface="Canva Sans Bold Italics"/>
              <a:ea typeface="Canva Sans Bold Italics"/>
              <a:cs typeface="Canva Sans Bold Italics"/>
            </a:endParaRPr>
          </a:p>
        </p:txBody>
      </p:sp>
      <p:sp>
        <p:nvSpPr>
          <p:cNvPr id="7" name="Freeform 7"/>
          <p:cNvSpPr/>
          <p:nvPr/>
        </p:nvSpPr>
        <p:spPr>
          <a:xfrm>
            <a:off x="357436" y="1351753"/>
            <a:ext cx="6569228" cy="640900"/>
          </a:xfrm>
          <a:custGeom>
            <a:avLst/>
            <a:gdLst/>
            <a:ahLst/>
            <a:cxnLst/>
            <a:rect l="l" t="t" r="r" b="b"/>
            <a:pathLst>
              <a:path w="6569228" h="640900">
                <a:moveTo>
                  <a:pt x="0" y="0"/>
                </a:moveTo>
                <a:lnTo>
                  <a:pt x="6569228" y="0"/>
                </a:lnTo>
                <a:lnTo>
                  <a:pt x="6569228" y="640900"/>
                </a:lnTo>
                <a:lnTo>
                  <a:pt x="0" y="640900"/>
                </a:lnTo>
                <a:lnTo>
                  <a:pt x="0" y="0"/>
                </a:lnTo>
                <a:close/>
              </a:path>
            </a:pathLst>
          </a:custGeom>
          <a:blipFill>
            <a:blip r:embed="rId2"/>
            <a:stretch>
              <a:fillRect/>
            </a:stretch>
          </a:blipFill>
        </p:spPr>
      </p:sp>
      <p:sp>
        <p:nvSpPr>
          <p:cNvPr id="8" name="TextBox 8"/>
          <p:cNvSpPr txBox="1"/>
          <p:nvPr/>
        </p:nvSpPr>
        <p:spPr>
          <a:xfrm>
            <a:off x="1541125" y="1575986"/>
            <a:ext cx="3524054" cy="349250"/>
          </a:xfrm>
          <a:prstGeom prst="rect">
            <a:avLst/>
          </a:prstGeom>
        </p:spPr>
        <p:txBody>
          <a:bodyPr lIns="0" tIns="0" rIns="0" bIns="0" rtlCol="0" anchor="t">
            <a:spAutoFit/>
          </a:bodyPr>
          <a:lstStyle/>
          <a:p>
            <a:pPr algn="l">
              <a:lnSpc>
                <a:spcPts val="2800"/>
              </a:lnSpc>
            </a:pPr>
            <a:r>
              <a:rPr lang="en-US" sz="2000" b="1">
                <a:solidFill>
                  <a:srgbClr val="FFFFFF"/>
                </a:solidFill>
                <a:latin typeface="Ruda Heavy"/>
                <a:ea typeface="Ruda Heavy"/>
                <a:cs typeface="Ruda Heavy"/>
                <a:sym typeface="Ruda Heavy"/>
              </a:rPr>
              <a:t>RESEARCH BACKGROUND</a:t>
            </a:r>
          </a:p>
        </p:txBody>
      </p:sp>
      <p:sp>
        <p:nvSpPr>
          <p:cNvPr id="9" name="Freeform 9"/>
          <p:cNvSpPr/>
          <p:nvPr/>
        </p:nvSpPr>
        <p:spPr>
          <a:xfrm>
            <a:off x="378436" y="1317396"/>
            <a:ext cx="1188591" cy="980281"/>
          </a:xfrm>
          <a:custGeom>
            <a:avLst/>
            <a:gdLst/>
            <a:ahLst/>
            <a:cxnLst/>
            <a:rect l="l" t="t" r="r" b="b"/>
            <a:pathLst>
              <a:path w="1188591" h="980281">
                <a:moveTo>
                  <a:pt x="0" y="0"/>
                </a:moveTo>
                <a:lnTo>
                  <a:pt x="1188590" y="0"/>
                </a:lnTo>
                <a:lnTo>
                  <a:pt x="1188590" y="980281"/>
                </a:lnTo>
                <a:lnTo>
                  <a:pt x="0" y="980281"/>
                </a:lnTo>
                <a:lnTo>
                  <a:pt x="0" y="0"/>
                </a:lnTo>
                <a:close/>
              </a:path>
            </a:pathLst>
          </a:custGeom>
          <a:blipFill>
            <a:blip r:embed="rId3"/>
            <a:stretch>
              <a:fillRect/>
            </a:stretch>
          </a:blipFill>
        </p:spPr>
      </p:sp>
      <p:sp>
        <p:nvSpPr>
          <p:cNvPr id="10" name="TextBox 10"/>
          <p:cNvSpPr txBox="1"/>
          <p:nvPr/>
        </p:nvSpPr>
        <p:spPr>
          <a:xfrm>
            <a:off x="1541125" y="2088734"/>
            <a:ext cx="9204427" cy="835909"/>
          </a:xfrm>
          <a:prstGeom prst="rect">
            <a:avLst/>
          </a:prstGeom>
        </p:spPr>
        <p:txBody>
          <a:bodyPr lIns="0" tIns="0" rIns="0" bIns="0" rtlCol="0" anchor="t">
            <a:spAutoFit/>
          </a:bodyPr>
          <a:lstStyle/>
          <a:p>
            <a:pPr algn="l">
              <a:lnSpc>
                <a:spcPts val="2252"/>
              </a:lnSpc>
            </a:pPr>
            <a:r>
              <a:rPr lang="en-US" sz="1501">
                <a:solidFill>
                  <a:srgbClr val="000000"/>
                </a:solidFill>
                <a:latin typeface="Ruda"/>
                <a:ea typeface="Ruda"/>
                <a:cs typeface="Ruda"/>
                <a:sym typeface="Ruda"/>
              </a:rPr>
              <a:t>Livestock diseases cause major economic losses and threaten food security. Early detection, continuous monitoring and timely interventions can significantly reduce losses and improve animal productivity. Our solution leverages AI, IoT and data analytics to provide intelligent health management for livestock.</a:t>
            </a:r>
          </a:p>
        </p:txBody>
      </p:sp>
      <p:sp>
        <p:nvSpPr>
          <p:cNvPr id="11" name="Freeform 11"/>
          <p:cNvSpPr/>
          <p:nvPr/>
        </p:nvSpPr>
        <p:spPr>
          <a:xfrm>
            <a:off x="261938" y="3396606"/>
            <a:ext cx="6310942" cy="328421"/>
          </a:xfrm>
          <a:custGeom>
            <a:avLst/>
            <a:gdLst/>
            <a:ahLst/>
            <a:cxnLst/>
            <a:rect l="l" t="t" r="r" b="b"/>
            <a:pathLst>
              <a:path w="6664727" h="437278">
                <a:moveTo>
                  <a:pt x="0" y="0"/>
                </a:moveTo>
                <a:lnTo>
                  <a:pt x="6664726" y="0"/>
                </a:lnTo>
                <a:lnTo>
                  <a:pt x="6664726" y="437278"/>
                </a:lnTo>
                <a:lnTo>
                  <a:pt x="0" y="437278"/>
                </a:lnTo>
                <a:lnTo>
                  <a:pt x="0" y="0"/>
                </a:lnTo>
                <a:close/>
              </a:path>
            </a:pathLst>
          </a:custGeom>
          <a:blipFill>
            <a:blip r:embed="rId4"/>
            <a:stretch>
              <a:fillRect r="-876"/>
            </a:stretch>
          </a:blipFill>
        </p:spPr>
      </p:sp>
      <p:sp>
        <p:nvSpPr>
          <p:cNvPr id="12" name="TextBox 12"/>
          <p:cNvSpPr txBox="1"/>
          <p:nvPr/>
        </p:nvSpPr>
        <p:spPr>
          <a:xfrm>
            <a:off x="688115" y="3403146"/>
            <a:ext cx="4726105" cy="349250"/>
          </a:xfrm>
          <a:prstGeom prst="rect">
            <a:avLst/>
          </a:prstGeom>
        </p:spPr>
        <p:txBody>
          <a:bodyPr lIns="0" tIns="0" rIns="0" bIns="0" rtlCol="0" anchor="t">
            <a:spAutoFit/>
          </a:bodyPr>
          <a:lstStyle/>
          <a:p>
            <a:pPr algn="l">
              <a:lnSpc>
                <a:spcPts val="2800"/>
              </a:lnSpc>
            </a:pPr>
            <a:r>
              <a:rPr lang="en-US" sz="2000" b="1">
                <a:solidFill>
                  <a:srgbClr val="FFFFFF"/>
                </a:solidFill>
                <a:latin typeface="Ruda Heavy"/>
                <a:ea typeface="Ruda Heavy"/>
                <a:cs typeface="Ruda Heavy"/>
                <a:sym typeface="Ruda Heavy"/>
              </a:rPr>
              <a:t>REFERENCES AND RESEARCH WORK</a:t>
            </a:r>
          </a:p>
        </p:txBody>
      </p:sp>
      <p:sp>
        <p:nvSpPr>
          <p:cNvPr id="13" name="TextBox 13"/>
          <p:cNvSpPr txBox="1"/>
          <p:nvPr/>
        </p:nvSpPr>
        <p:spPr>
          <a:xfrm>
            <a:off x="685799" y="4138988"/>
            <a:ext cx="7448294" cy="198581"/>
          </a:xfrm>
          <a:prstGeom prst="rect">
            <a:avLst/>
          </a:prstGeom>
        </p:spPr>
        <p:txBody>
          <a:bodyPr wrap="square" lIns="0" tIns="0" rIns="0" bIns="0" rtlCol="0" anchor="t">
            <a:spAutoFit/>
          </a:bodyPr>
          <a:lstStyle/>
          <a:p>
            <a:pPr algn="l">
              <a:lnSpc>
                <a:spcPts val="1679"/>
              </a:lnSpc>
            </a:pPr>
            <a:r>
              <a:rPr lang="en-US" sz="1200" u="sng">
                <a:solidFill>
                  <a:srgbClr val="000000"/>
                </a:solidFill>
                <a:latin typeface="Arimo"/>
                <a:ea typeface="Arimo"/>
                <a:cs typeface="Arimo"/>
                <a:sym typeface="Arimo"/>
                <a:hlinkClick r:id="rId5" tooltip="https://openknowledge.fao.org/server/api/core/bitstreams/9acc7045-780e-4819-8a1e-f999ca4f7107/content"/>
              </a:rPr>
              <a:t>https://openknowledge.fao.org/server/api/core/bitstreams/9acc7045-780e-4819-8a1e-f999ca4f7107/content</a:t>
            </a:r>
          </a:p>
        </p:txBody>
      </p:sp>
      <p:sp>
        <p:nvSpPr>
          <p:cNvPr id="14" name="TextBox 14"/>
          <p:cNvSpPr txBox="1"/>
          <p:nvPr/>
        </p:nvSpPr>
        <p:spPr>
          <a:xfrm>
            <a:off x="679133" y="3867902"/>
            <a:ext cx="5447510" cy="266700"/>
          </a:xfrm>
          <a:prstGeom prst="rect">
            <a:avLst/>
          </a:prstGeom>
        </p:spPr>
        <p:txBody>
          <a:bodyPr lIns="0" tIns="0" rIns="0" bIns="0" rtlCol="0" anchor="t">
            <a:spAutoFit/>
          </a:bodyPr>
          <a:lstStyle/>
          <a:p>
            <a:pPr algn="l">
              <a:lnSpc>
                <a:spcPts val="2100"/>
              </a:lnSpc>
            </a:pPr>
            <a:r>
              <a:rPr lang="en-US" sz="1500" b="1">
                <a:solidFill>
                  <a:srgbClr val="002659"/>
                </a:solidFill>
                <a:latin typeface="Ruda Bold"/>
                <a:ea typeface="Ruda Bold"/>
                <a:cs typeface="Ruda Bold"/>
                <a:sym typeface="Ruda Bold"/>
              </a:rPr>
              <a:t>Food and Agriculture Organization (FAO) - Animal Health</a:t>
            </a:r>
          </a:p>
        </p:txBody>
      </p:sp>
      <p:sp>
        <p:nvSpPr>
          <p:cNvPr id="15" name="TextBox 15"/>
          <p:cNvSpPr txBox="1"/>
          <p:nvPr/>
        </p:nvSpPr>
        <p:spPr>
          <a:xfrm>
            <a:off x="685800" y="4477261"/>
            <a:ext cx="4147791" cy="257956"/>
          </a:xfrm>
          <a:prstGeom prst="rect">
            <a:avLst/>
          </a:prstGeom>
        </p:spPr>
        <p:txBody>
          <a:bodyPr wrap="square" lIns="0" tIns="0" rIns="0" bIns="0" rtlCol="0" anchor="t">
            <a:spAutoFit/>
          </a:bodyPr>
          <a:lstStyle/>
          <a:p>
            <a:pPr algn="l">
              <a:lnSpc>
                <a:spcPts val="2100"/>
              </a:lnSpc>
            </a:pPr>
            <a:r>
              <a:rPr lang="en-US" sz="1500" b="1">
                <a:solidFill>
                  <a:srgbClr val="002659"/>
                </a:solidFill>
                <a:latin typeface="Ruda Bold"/>
                <a:ea typeface="Ruda Bold"/>
                <a:cs typeface="Ruda Bold"/>
                <a:sym typeface="Ruda Bold"/>
              </a:rPr>
              <a:t>OIE - World Organisation for Animals Health</a:t>
            </a:r>
          </a:p>
        </p:txBody>
      </p:sp>
      <p:sp>
        <p:nvSpPr>
          <p:cNvPr id="16" name="TextBox 16"/>
          <p:cNvSpPr txBox="1"/>
          <p:nvPr/>
        </p:nvSpPr>
        <p:spPr>
          <a:xfrm>
            <a:off x="679133" y="4746683"/>
            <a:ext cx="6661611" cy="198581"/>
          </a:xfrm>
          <a:prstGeom prst="rect">
            <a:avLst/>
          </a:prstGeom>
        </p:spPr>
        <p:txBody>
          <a:bodyPr wrap="square" lIns="0" tIns="0" rIns="0" bIns="0" rtlCol="0" anchor="t">
            <a:spAutoFit/>
          </a:bodyPr>
          <a:lstStyle/>
          <a:p>
            <a:pPr algn="l">
              <a:lnSpc>
                <a:spcPts val="1679"/>
              </a:lnSpc>
            </a:pPr>
            <a:r>
              <a:rPr lang="en-US" sz="1200" u="sng">
                <a:solidFill>
                  <a:srgbClr val="000000"/>
                </a:solidFill>
                <a:latin typeface="Arimo"/>
                <a:ea typeface="Arimo"/>
                <a:cs typeface="Arimo"/>
                <a:sym typeface="Arimo"/>
                <a:hlinkClick r:id="rId6" tooltip="https://www.woah.org/app/uploads/2026/05/sowah26-english-digital-v4-single-pages-opt-vf.pdf"/>
              </a:rPr>
              <a:t>https://www.woah.org/app/uploads/2026/05/sowah26-english-digital-v4-single-pages-opt-vf.pdf</a:t>
            </a:r>
          </a:p>
        </p:txBody>
      </p:sp>
      <p:sp>
        <p:nvSpPr>
          <p:cNvPr id="17" name="TextBox 17"/>
          <p:cNvSpPr txBox="1"/>
          <p:nvPr/>
        </p:nvSpPr>
        <p:spPr>
          <a:xfrm>
            <a:off x="685800" y="5076792"/>
            <a:ext cx="9628291" cy="266700"/>
          </a:xfrm>
          <a:prstGeom prst="rect">
            <a:avLst/>
          </a:prstGeom>
        </p:spPr>
        <p:txBody>
          <a:bodyPr lIns="0" tIns="0" rIns="0" bIns="0" rtlCol="0" anchor="t">
            <a:spAutoFit/>
          </a:bodyPr>
          <a:lstStyle/>
          <a:p>
            <a:pPr algn="l">
              <a:lnSpc>
                <a:spcPts val="2100"/>
              </a:lnSpc>
            </a:pPr>
            <a:r>
              <a:rPr lang="en-US" sz="1500" b="1">
                <a:solidFill>
                  <a:srgbClr val="002659"/>
                </a:solidFill>
                <a:latin typeface="Ruda Bold"/>
                <a:ea typeface="Ruda Bold"/>
                <a:cs typeface="Ruda Bold"/>
                <a:sym typeface="Ruda Bold"/>
              </a:rPr>
              <a:t>IoT based Smart Livestock Health Monitoring System International Journal of IoT and Applications</a:t>
            </a:r>
          </a:p>
        </p:txBody>
      </p:sp>
      <p:sp>
        <p:nvSpPr>
          <p:cNvPr id="18" name="TextBox 18"/>
          <p:cNvSpPr txBox="1"/>
          <p:nvPr/>
        </p:nvSpPr>
        <p:spPr>
          <a:xfrm>
            <a:off x="685800" y="5346213"/>
            <a:ext cx="11500757" cy="416589"/>
          </a:xfrm>
          <a:prstGeom prst="rect">
            <a:avLst/>
          </a:prstGeom>
        </p:spPr>
        <p:txBody>
          <a:bodyPr wrap="square" lIns="0" tIns="0" rIns="0" bIns="0" rtlCol="0" anchor="t">
            <a:spAutoFit/>
          </a:bodyPr>
          <a:lstStyle/>
          <a:p>
            <a:pPr algn="l">
              <a:lnSpc>
                <a:spcPts val="1679"/>
              </a:lnSpc>
            </a:pPr>
            <a:r>
              <a:rPr lang="en-US" sz="1200" u="sng">
                <a:solidFill>
                  <a:srgbClr val="000000"/>
                </a:solidFill>
                <a:latin typeface="Arimo"/>
                <a:ea typeface="Arimo"/>
                <a:cs typeface="Arimo"/>
                <a:sym typeface="Arimo"/>
                <a:hlinkClick r:id="rId7" tooltip="https://ijircce.com/admin/main/storage/app/pdf/70_Smart%20Livestock%20Health%20Monitoring%20and%20Tracking%20System%20Using%20IoT%20and%20Real-Time%20Analytics.pdf"/>
              </a:rPr>
              <a:t>https://ijircce.com/admin/main/storage/app/pdf/70_Smart%20Livestock%20Health%20Monitoring%20and%20Tracking%20System%20Using%20IoT%20and%20Real-Time%20Analytics.pdf</a:t>
            </a:r>
          </a:p>
        </p:txBody>
      </p:sp>
      <p:sp>
        <p:nvSpPr>
          <p:cNvPr id="20" name="TextBox 20"/>
          <p:cNvSpPr txBox="1"/>
          <p:nvPr/>
        </p:nvSpPr>
        <p:spPr>
          <a:xfrm>
            <a:off x="685800" y="5902202"/>
            <a:ext cx="6755385" cy="266700"/>
          </a:xfrm>
          <a:prstGeom prst="rect">
            <a:avLst/>
          </a:prstGeom>
        </p:spPr>
        <p:txBody>
          <a:bodyPr lIns="0" tIns="0" rIns="0" bIns="0" rtlCol="0" anchor="t">
            <a:spAutoFit/>
          </a:bodyPr>
          <a:lstStyle/>
          <a:p>
            <a:pPr algn="l">
              <a:lnSpc>
                <a:spcPts val="2100"/>
              </a:lnSpc>
            </a:pPr>
            <a:r>
              <a:rPr lang="en-US" sz="1500" b="1">
                <a:solidFill>
                  <a:srgbClr val="002659"/>
                </a:solidFill>
                <a:latin typeface="Ruda Bold"/>
                <a:ea typeface="Ruda Bold"/>
                <a:cs typeface="Ruda Bold"/>
                <a:sym typeface="Ruda Bold"/>
              </a:rPr>
              <a:t>Deep Learning for Image-based Animal Disease Detection IEEE Access</a:t>
            </a:r>
          </a:p>
        </p:txBody>
      </p:sp>
      <p:sp>
        <p:nvSpPr>
          <p:cNvPr id="21" name="TextBox 21"/>
          <p:cNvSpPr txBox="1"/>
          <p:nvPr/>
        </p:nvSpPr>
        <p:spPr>
          <a:xfrm>
            <a:off x="685800" y="6171622"/>
            <a:ext cx="4976614" cy="198581"/>
          </a:xfrm>
          <a:prstGeom prst="rect">
            <a:avLst/>
          </a:prstGeom>
        </p:spPr>
        <p:txBody>
          <a:bodyPr wrap="square" lIns="0" tIns="0" rIns="0" bIns="0" rtlCol="0" anchor="t">
            <a:spAutoFit/>
          </a:bodyPr>
          <a:lstStyle/>
          <a:p>
            <a:pPr algn="l">
              <a:lnSpc>
                <a:spcPts val="1679"/>
              </a:lnSpc>
            </a:pPr>
            <a:r>
              <a:rPr lang="en-US" sz="1200" u="sng">
                <a:solidFill>
                  <a:srgbClr val="000000"/>
                </a:solidFill>
                <a:latin typeface="Arimo"/>
                <a:ea typeface="Arimo"/>
                <a:cs typeface="Arimo"/>
                <a:sym typeface="Arimo"/>
                <a:hlinkClick r:id="rId8" tooltip="https://link.springer.com/content/pdf/10.1186/s40537-024-01057-7.pdf"/>
              </a:rPr>
              <a:t>https://link.springer.com/content/pdf/10.1186/s40537-024-01057-7.pdf</a:t>
            </a:r>
          </a:p>
        </p:txBody>
      </p:sp>
      <p:sp>
        <p:nvSpPr>
          <p:cNvPr id="24" name="Freeform 4">
            <a:extLst>
              <a:ext uri="{FF2B5EF4-FFF2-40B4-BE49-F238E27FC236}">
                <a16:creationId xmlns:a16="http://schemas.microsoft.com/office/drawing/2014/main" xmlns="" id="{FDBBA591-0C21-874B-0D21-351B300A7139}"/>
              </a:ext>
            </a:extLst>
          </p:cNvPr>
          <p:cNvSpPr/>
          <p:nvPr/>
        </p:nvSpPr>
        <p:spPr>
          <a:xfrm>
            <a:off x="66495" y="76380"/>
            <a:ext cx="1105962" cy="1195900"/>
          </a:xfrm>
          <a:custGeom>
            <a:avLst/>
            <a:gdLst/>
            <a:ahLst/>
            <a:cxnLst/>
            <a:rect l="l" t="t" r="r" b="b"/>
            <a:pathLst>
              <a:path w="1105962" h="1195900">
                <a:moveTo>
                  <a:pt x="0" y="0"/>
                </a:moveTo>
                <a:lnTo>
                  <a:pt x="1105962" y="0"/>
                </a:lnTo>
                <a:lnTo>
                  <a:pt x="1105962" y="1195900"/>
                </a:lnTo>
                <a:lnTo>
                  <a:pt x="0" y="1195900"/>
                </a:lnTo>
                <a:lnTo>
                  <a:pt x="0" y="0"/>
                </a:lnTo>
                <a:close/>
              </a:path>
            </a:pathLst>
          </a:custGeom>
          <a:blipFill>
            <a:blip r:embed="rId9"/>
            <a:stretch>
              <a:fillRect l="-4066" r="-4066"/>
            </a:stretch>
          </a:blipFill>
        </p:spPr>
      </p:sp>
      <p:grpSp>
        <p:nvGrpSpPr>
          <p:cNvPr id="27" name="Group 38">
            <a:extLst>
              <a:ext uri="{FF2B5EF4-FFF2-40B4-BE49-F238E27FC236}">
                <a16:creationId xmlns:a16="http://schemas.microsoft.com/office/drawing/2014/main" xmlns="" id="{E70B88D0-ACA7-10B5-7E01-F7F512F7F116}"/>
              </a:ext>
            </a:extLst>
          </p:cNvPr>
          <p:cNvGrpSpPr/>
          <p:nvPr/>
        </p:nvGrpSpPr>
        <p:grpSpPr>
          <a:xfrm>
            <a:off x="9881455" y="64861"/>
            <a:ext cx="2247900" cy="1066800"/>
            <a:chOff x="0" y="0"/>
            <a:chExt cx="2997200" cy="1422400"/>
          </a:xfrm>
        </p:grpSpPr>
        <p:sp>
          <p:nvSpPr>
            <p:cNvPr id="26" name="Freeform 39">
              <a:extLst>
                <a:ext uri="{FF2B5EF4-FFF2-40B4-BE49-F238E27FC236}">
                  <a16:creationId xmlns:a16="http://schemas.microsoft.com/office/drawing/2014/main" xmlns="" id="{F2AAE5A7-B2D3-A65C-F55B-1BC4BED1F7A5}"/>
                </a:ext>
              </a:extLst>
            </p:cNvPr>
            <p:cNvSpPr/>
            <p:nvPr/>
          </p:nvSpPr>
          <p:spPr>
            <a:xfrm>
              <a:off x="0" y="0"/>
              <a:ext cx="2997200" cy="1422400"/>
            </a:xfrm>
            <a:custGeom>
              <a:avLst/>
              <a:gdLst/>
              <a:ahLst/>
              <a:cxnLst/>
              <a:rect l="l" t="t" r="r" b="b"/>
              <a:pathLst>
                <a:path w="2997200" h="1422400">
                  <a:moveTo>
                    <a:pt x="0" y="0"/>
                  </a:moveTo>
                  <a:lnTo>
                    <a:pt x="2997200" y="0"/>
                  </a:lnTo>
                  <a:lnTo>
                    <a:pt x="2997200" y="1422400"/>
                  </a:lnTo>
                  <a:lnTo>
                    <a:pt x="0" y="1422400"/>
                  </a:lnTo>
                  <a:lnTo>
                    <a:pt x="0" y="0"/>
                  </a:lnTo>
                  <a:close/>
                </a:path>
              </a:pathLst>
            </a:custGeom>
            <a:blipFill>
              <a:blip r:embed="rId10"/>
              <a:stretch>
                <a:fillRect/>
              </a:stretch>
            </a:blipFill>
          </p:spPr>
        </p:sp>
      </p:grpSp>
      <p:cxnSp>
        <p:nvCxnSpPr>
          <p:cNvPr id="3" name="Straight Arrow Connector 2">
            <a:extLst>
              <a:ext uri="{FF2B5EF4-FFF2-40B4-BE49-F238E27FC236}">
                <a16:creationId xmlns:a16="http://schemas.microsoft.com/office/drawing/2014/main" xmlns="" id="{6E87B43E-6B59-FBA5-417B-1DF93C6C1534}"/>
              </a:ext>
            </a:extLst>
          </p:cNvPr>
          <p:cNvCxnSpPr/>
          <p:nvPr/>
        </p:nvCxnSpPr>
        <p:spPr>
          <a:xfrm flipH="1">
            <a:off x="1558125" y="1083464"/>
            <a:ext cx="8206190" cy="13084"/>
          </a:xfrm>
          <a:prstGeom prst="straightConnector1">
            <a:avLst/>
          </a:prstGeom>
          <a:ln w="28575">
            <a:solidFill>
              <a:srgbClr val="00501E"/>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xmlns="" id="{2BA4894C-4E60-3B37-32D4-CEF656C16800}"/>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9888371" y="5532459"/>
            <a:ext cx="2323827" cy="13306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928</Words>
  <Application>Microsoft Office PowerPoint</Application>
  <PresentationFormat>Widescreen</PresentationFormat>
  <Paragraphs>229</Paragraphs>
  <Slides>6</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6</vt:i4>
      </vt:variant>
    </vt:vector>
  </HeadingPairs>
  <TitlesOfParts>
    <vt:vector size="24" baseType="lpstr">
      <vt:lpstr>Ubuntu Bold</vt:lpstr>
      <vt:lpstr>Canva Sans</vt:lpstr>
      <vt:lpstr>Canva Sans Bold Italics</vt:lpstr>
      <vt:lpstr>Ruda Heavy</vt:lpstr>
      <vt:lpstr>Calibri</vt:lpstr>
      <vt:lpstr>Ruda Bold</vt:lpstr>
      <vt:lpstr>Garamond Bold</vt:lpstr>
      <vt:lpstr>Ruda</vt:lpstr>
      <vt:lpstr>Times New Roman</vt:lpstr>
      <vt:lpstr>Arial</vt:lpstr>
      <vt:lpstr>Francois One</vt:lpstr>
      <vt:lpstr>Canva Sans Bold</vt:lpstr>
      <vt:lpstr>Arial Bold</vt:lpstr>
      <vt:lpstr>Times New Roman Bold</vt:lpstr>
      <vt:lpstr>Segoe UI</vt:lpstr>
      <vt:lpstr>Calibri (MS)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VETNEXA_SIH_Hackathon_2026</dc:title>
  <dc:creator>Dell</dc:creator>
  <cp:lastModifiedBy>Dell</cp:lastModifiedBy>
  <cp:revision>974</cp:revision>
  <dcterms:created xsi:type="dcterms:W3CDTF">2006-08-16T00:00:00Z</dcterms:created>
  <dcterms:modified xsi:type="dcterms:W3CDTF">2026-10-08T16:49:05Z</dcterms:modified>
  <dc:identifier>DAHT83FLnGk</dc:identifier>
</cp:coreProperties>
</file>